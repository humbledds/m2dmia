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12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ML / Deep Learning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&amp;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par Ordinateur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utiliser les réseaux de neurones et le 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 •  M2 DEV G1  •  EFREI Paris  • 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de la séance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compliquées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se concentre sur comprendre et utiliser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630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 qu'est le Deep Learning et où on le retrouve (ChatGPT, reconnaissance faciale...)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2402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construire un réseau de neurones avec Keras en quelques lignes de code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067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017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pourquoi les CNN sont utilisés pour les images (et comment les utiliser)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794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Transfer Learning pour avoir des résultats pro avec très peu de données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1 : C'est quoi le Deep Learning 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exemples concrets que vous utilisez déjà tous les jours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Deep Learning est partout autour de vous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utilisons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deep learning au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Voici quelques exemples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98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572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du texte grâce à des réseaux de neurones profonds (Transformers) entraînés sur des milliards de textes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993392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8483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011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286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des images à partir d'une description textuelle, en utilisant des réseaux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convolutifs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génératifs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(CNN)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706624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9806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7249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Instagram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2999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faciale, filtres en temps réel : des CNN qui détectent et analysent les visages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3419856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1129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381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97280" y="37124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CNN traitent les images des caméras pour détecter routes, piétons, panneaux et prendre des décisions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4133088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2452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1513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YouTube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97280" y="442569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image, recommandations vidéo, sous-titres automatiques : tout est du Deep Learning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IA, Machine Learning, Deep Learning : quelles différences 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8404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système qui simule un comportement intelligent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4937760" cy="274320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à partir de données (sans être programmé explicitement)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3291840" cy="1645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à plusieurs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couches, très puissants sur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texte, audio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fonctionne un réseau de neurones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l'idée générale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1371600"/>
            <a:ext cx="1600200" cy="1280160"/>
          </a:xfrm>
          <a:prstGeom prst="rect">
            <a:avLst/>
          </a:prstGeom>
          <a:solidFill>
            <a:srgbClr val="E2E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d'entrée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texte...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1371600"/>
            <a:ext cx="1600200" cy="1280160"/>
          </a:xfrm>
          <a:prstGeom prst="rect">
            <a:avLst/>
          </a:prstGeom>
          <a:solidFill>
            <a:srgbClr val="93C5F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(basique)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simples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94760" y="1371600"/>
            <a:ext cx="1600200" cy="12801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(interm.)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simples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23560" y="1371600"/>
            <a:ext cx="1600200" cy="128016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(complexe)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abstraits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52360" y="1371600"/>
            <a:ext cx="1600200" cy="128016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(sortie)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c'est un chat 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positif 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175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choses à retenir 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réseau apprend tout seul à partir d'exemples. On lui donne des milliers d'images étiquetées (« chat », « chien ») et il apprend à les distinguer.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Plus il y a de couches, plus il peut apprendre des choses complexes. C'est pour ça qu'on dit « deep » (profond).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 n'a pas besoin de coder l'algorithme : des librairies comme Keras/TensorFlow font tout le travail. On définit juste l'architecture et les données.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 un réseau en 5 lignes avec Keras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est une librairie Python qui rend le Deep Learning accessible. Voici tout ce qu'il faut pour reconnaître des chiffres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le modèle (comme empiler des LEGO)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    # couche cachée (128 neurones)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activation='softmax')    # sortie (10 classes : chiffres 0-9)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 au modèle comment apprendre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loss='categorical_crossentropy')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Lancer l'entraînement 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y_train, epochs=15)   # → 97% de précision 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 !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Keras s'occupe de la descente de gradient, de la rétropropagation, de l'optimisation... Vous, vous choisissez juste les couches et les données.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choix importants quand on crée un modèle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pas besoin de tout calculer — mais il faut comprendre ce que chaque choix implique.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2453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par défaut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Conseil pratique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couches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de niveaux de traitement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couches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Commencez simple, ajoutez si ça ne suffit pas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neurones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Capacité de chaque couche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= plus puissant mais plus 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de fois le modèle voit les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= le modèle « triche » (overfitting)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d'exemples traités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ou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est un bon défaut pour commencer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L'algorithme qui ajuste les poids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Utilisez Adam, il marche bien partout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= le modèle a « mémorisé » les données d'entraînement au lieu d'apprendre des règles générales. C'est comme un étudiant qui apprend les réponses par cœur sans comprendre le cours — il échoue à l'examen si les questions changent un peu.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2 : Les CNN pour les images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et comment utiliser les réseaux convolutifs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les CNN pour les images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25603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classique sur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que tu découpes une photo en pixels et que tu les mélanges dans un sac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 perds toute la structure spatiale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réseau ne sait pas que des pixels voisins sont liés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Trop de paramètres (19M+ pour une seule couche 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Résultats médiocres sur les images réelles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256032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(Réseau Convolutif)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 regarde l'image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nous : par régions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petit filtre glisse sur l'image et détecte des motifs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 garde la structure spatiale (qui est à côté de quoi)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Beaucoup moins de paramètres (partage des filtres)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Utilisé par Google, Apple, Tesla, Meta...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Analogie « Où est Charlie ? » : 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classique regarderait chaque pixel indépendamment. Un CNN fait comme vous : il a un « gabarit » de Charlie qu'il fait glisser sur toute l'image pour trouver où il se cache. C'est beaucoup plus efficace 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fonctionne un CNN, en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 traite l'image en 3 étapes principales, comme une chaîne de montage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190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filtre (3×3 pixels) glisse sur l'image. À chaque position, il calcule un score de « ressemblance » avec un motif (bord, texture...). Le résultat : une « carte de features » qui montre où se trouvent ces motifs.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réduit la taille de la carte : pour chaque petit carré (2×2), on garde juste la valeur la plus forte. Ça rend le modèle plus rapide et plus robuste aux petites variations (légers décalages, rotations).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13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plusieurs tours de convolution + pooling, on aplatit le résultat et on le passe dans des couches denses classiques pour obtenir la prédiction finale (« c'est un chat »).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7409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 : les premières couches détectent des choses simples (bords, couleurs). Les couches profondes détectent des choses complexes (yeux, roues, visages).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CNN en code </a:t>
            </a:r>
            <a:r>
              <a:rPr lang="en-US" sz="2600" b="1" dirty="0" err="1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</a:t>
            </a: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c'est simple 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CNN complet pour classifier des images 32×32 en 10 catégories (ex: CIFAR-10)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 1 : détecter des motifs simples (bords, textures)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 (3,3), activation='relu', input_shape=(32,32,3)),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MaxPooling2D(2,2),           # réduire la taille par 2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 2 : détecter des motifs plus complexes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 (3,3), activation='relu'),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MaxPooling2D(2,2),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Classification finale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                    # aplatir en vecteur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 # couche dense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activation='softmax') # 10 classes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439565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 ~75-80% de précision. On peut faire beaucoup mieux avec le Transfer Learning (slide suivante) 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3 : Transfer Learning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 n°1 des professionnels : réutiliser au lieu de recréer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: la technique qui change tout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suffisent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10 000+)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d'entraînement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1h+)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~70%)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91344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chercheurs ont déjà entraîné des modèles énormes sur des millions d'images (ImageNet). Ces modèles ont appris à « voir » : détecter des bords, des textures, des formes, des objets...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Transfer Learning, on prend ce modèle déjà entraîné et on le « recycle » pour notre propre tâche. C'est comme embaucher un photographe expérimenté et lui demander de se spécialiser dans un nouveau domaine — il a déjà les bases !</a:t>
            </a: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on garde les couches convolutives (qui savent déjà « voir ») et on remplace juste la dernière couche pour l'adapter à nos classes (ex: chat vs chien au lieu de 1000 classes).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en code : c'est 5 lignes 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tensorflow.keras.applications import MobileNetV2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Charger le modèle pré-entraîné (sans la dernière couche)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MobileNetV2(weights='imagenet', include_top=False)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   # Geler : ne pas toucher aux poids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Ajouter notre propre classifieur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base_model,                      # le « cerveau » pré-entraîné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GlobalAveragePooling2D(),         # réduire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Dense(3, activation='softmax')    # 3 classes perso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Entraîner (seulement la dernière couche !)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model.fit(mes_images, mes_labels, epochs=10)  # 90%+ !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pré-entraînés populaires : MobileNet (rapide, léger), VGG16 (simple), ResNet50 (performant), EfficientNet (meilleur ratio). Tous disponibles dans keras.applications.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niveaux de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quantité de données que vous avez, choisissez l'approche adaptée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32004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(simple)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gèle tout le modèle pré-entraîné et on entraîne seulement la couche de sortie.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Rapide (2-5 min)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~200 images suffisent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 besoin de GPU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: petit dataset, prototypage rapide, ressources limitées.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32004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(avancé)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dégèle les dernières couches et on ré-entraîne doucement tout le modèle.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Meilleurs résultats (+3-5% d'accuracy)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 modèle s'adapte à votre problème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Nécessite plus de données (1000+)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: dataset moyen, besoin de haute précision, GPU disponible.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modèles Deep Learning populaires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scientists utilisent ces modèles au quotidien. Tous sont disponibles dans Keras (keras.applications) 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3048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Créé par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 typique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Avantage clé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d'images, diagnostic médical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profond (50 couches) sans dégradation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mobiles, IoT, temps réel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léger, rapide sur téléphone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ratio précision/vitesse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(B0 à B7), état de l'art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(v8+)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d'objets en temps réel (vidéo, caméras)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Détecte ET localise en une passe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Freiburg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(imagerie médicale, satellite)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 pixel par pixel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Oxford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Pédagogique, Transfer Learning simple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simple à comprendre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Génération d'images à partir de texte (DALL-E, Midjourney)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Créatif, open-source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 modèle choisir ? Guide pratique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en fonction de votre tâche, pas de la popularité du modèle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247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Classifier des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(chat/chien, produit, maladie)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ou ResNet-50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Transfer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0" y="11430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élevée, beaucoup de modèles pré-entraînés disponibles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mobile / embarqué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(temps réel sur téléphone)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ou V3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(TensorFlow Lite)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8288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les appareils avec peu de mémoire et de puissance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146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Détecter des objets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(où est le chat dans la photo ?)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 install ultralytics)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5146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et localise en temps réel, idéal pour la vidéo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004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Segmentation médicale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(contours d'une tumeur)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2004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(avec augmentation de données)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2004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au pixel, standard dans l'imagerie médicale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679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862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Générer des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(créer à partir de texte)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38862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 Face diffusers)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8862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personnalisable, qualité professionnelle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28892"/>
            <a:ext cx="841248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60243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Conseil : commencez TOUJOURS par le Transfer Learning avec un modèle pré-entraîné avant de construire de zéro 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9669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4 : Mise en pratique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+ atelier guidé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va montrer en live comment 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9601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1 : Réseau simple sur MNIST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des chiffres manuscrits avec un réseau dense basique. On verra comment les données entrent, comment le modèle apprend epoch par epoch, et on observera les courbes de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2 : CNN sur Fashion MNIST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des vêtements (T-shirt, chaussures, sacs...) avec un Convolutional Neural Network. On comparera les résultats avec un réseau dense pour voir la différence.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269748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9601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3 : Transfer Learning avec MobileNet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des images custom (ex: chats/chiens/oiseaux) avec seulement ~300 images. On verra le résultat spectaculaire du Transfer Learning.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379476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9035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sur votre machine ! Les notebooks sont fournis dans le dossier de la séance.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— Exercice 1 : CNN sur Fashion MNIST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images de vêtements • 10 classes • Objectif : ≥ 90% de précision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dataset avec Keras et afficher quelques exemples pour comprendre les données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3794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37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 les images (diviser par 255 pour avoir des valeurs entre 0 et 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CNN : 2 blocs Conv2D + MaxPooling, puis Dense + Softmax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98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avec optimizer='adam' et entraîner pendant 15-20 epochs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558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courbes de loss/accuracy et analyser : y a-t-il de l'overfitting 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59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des exemples d'erreurs du modèle et essayer de comprendre pourquoi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07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le notebook contient des cellules de code pré-remplies. Commencez par les exécuter, puis modifiez pour expérimenter.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— Exercice 2 : Transfer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dataset custom (3 classes, ~300 images). Montrez la puissance du Transfer Learning 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22860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Feature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Charger MobileNetV2 pré-entraîné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Geler toutes les couches (trainable = False)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Ajouter votre classifieur (Dense + Softmax)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Entraîner 10 epochs → objectif ≥ 80%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d'entraînement estimé : ~3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22860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Fine-tuning (bonus)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Dégeler les 20 dernières couches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Baisser le learning rate à 1e-5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Entraîner 10 epochs de plus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Comparer les résultats avec la phase 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typique : +3-5% d'accuracy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commenté avec code, courbes, comparaison des deux approches, et un paragraphe expliquant dans quel cas utiliser chaque méthode.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04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Deep Learning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3533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réseaux de neurones à plusieurs couches qui apprennent seuls à partir de données. Derrière ChatGPT, DALL-E, Face ID...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848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rend ça simple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22677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lignes de Python suffisent. On choisit les couches, on compile, on entraîne. Keras gère le reste.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9923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CNN pour les images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détectent des motifs par régions (bords, textures, objets). Bien plus efficaces que les réseaux classiques sur les images.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= game changer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40965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un modèle pré-entraîné donne des résultats pro avec peu de données et peu de temps. C'est la pratique standard.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 •  gueyebaba159@gmail.com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3356</TotalTime>
  <Words>2822</Words>
  <Application>Microsoft Office PowerPoint</Application>
  <PresentationFormat>Affichage à l'écran (16:9)</PresentationFormat>
  <Paragraphs>391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&amp; Vision par Ordinateur</dc:title>
  <dc:subject>PptxGenJS Presentation</dc:subject>
  <dc:creator>Babacar GUEYE</dc:creator>
  <cp:lastModifiedBy>Babacar Gueye</cp:lastModifiedBy>
  <cp:revision>19</cp:revision>
  <dcterms:created xsi:type="dcterms:W3CDTF">2026-03-25T05:14:45Z</dcterms:created>
  <dcterms:modified xsi:type="dcterms:W3CDTF">2026-07-01T05:46:24Z</dcterms:modified>
</cp:coreProperties>
</file>