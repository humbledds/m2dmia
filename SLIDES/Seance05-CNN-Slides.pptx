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54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Réseaux de Neurones Convolutifs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(CNN)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Babacar GUEYE | M2 DEV G1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Fondamentaux des CNN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 de convolution, pooling, architecture de 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10058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331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&amp; Architectures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6974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pré-entraînés et approches pratiques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8412480" cy="10058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520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Démonstration &amp; Atelier Pratique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8862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sur CIFAR-10 et Fashion MNIST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pédagogiques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182880" cy="1828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l'opération de convolution et ses paramètres (kernel, stride, padding)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039112"/>
            <a:ext cx="182880" cy="1828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les couches constitutives d'un CNN (convolution, activation, pooling, flatten, dense)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816352"/>
            <a:ext cx="182880" cy="1828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la hiérarchie des features extraites par un CNN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593592"/>
            <a:ext cx="182880" cy="1828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20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 transfer learning avec des modèles pré-entraînés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370832"/>
            <a:ext cx="182880" cy="1828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et entraîner des CNN sur des datasets réels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 des DNN sur les Images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les Réseaux Totalement Connectés ne sont pas adaptés aux images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14800" cy="22860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Trop de Paramètres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224×224×3 → 150,528 paramètres pour la 1ère couche cachée de 100 neurones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150 528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paramètres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4114800" cy="22860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Perte d'Information Spatiale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L'ordre des pixels est ignoré. Les relations spatiales et locales sont perdues.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834640"/>
            <a:ext cx="356616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880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Solution: CNN ✓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L'Opération de Convolution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filtre (kernel) glisse sur l'image pour extraire des 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1480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Filtre (Kernel)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matrice (3×3, 5×5)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des poids apprenables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 sur l'image avec pas (stride)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411480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Sorties clés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Map: Résultat de la convolution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Stride: Pas du déplacement (1, 2...)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Padding: Bordures d'entrée ajoutées (same/valid)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3474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Paramètres d'une couche Conv2D: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Nombre de filtres (depth): Combien de feature maps on extrait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Taille du filtre: 3×3, 5×5, 7×7...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Stride: Pas de déplacement (généralement 1 ou 2)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074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Padding: Ajout de zéros aux bordures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Stride et Padding en Détail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21031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Stride (Pas)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Stride=1 : Filtre avance d'1 pixel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Stride=2 : Filtre avance de 2 pixels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plus grand → Feature map plus petite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21031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'valid': Aucun padding → Taille réduite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'same': Padding pour garder taille identique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avec zéros préserve l'info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3832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Formule - Taille Feature Map: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794760"/>
            <a:ext cx="859536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Size = ⌊(Input - Kernel + 2×Padding) / Stride⌋ + 1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Exemple Numérique: Convolution 5×5 avec 3×3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5×5 * Filtre 3×3 (stride=1, padding=0) → Feature Map 3×3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560320" cy="21031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5×5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[1  0  2  1  0]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[3  1  0  2  1]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34086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[0  2  1  3  0]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[1  0  2  1  0]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[2  1  0  3  1]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560320" cy="21031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Filtre 3×3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[0.1  0.2  0.1]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[0.2  0.4  0.2]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[0.1  0.2  0.1]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560320" cy="21031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Map 3×3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[1.5  1.2  0.9]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[1.1  1.8  1.3]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[0.7  1.4  1.1]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36576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Calcul: Output[0,0] = (1×0.1 + 0×0.2 + 2×0.1 + 3×0.2 + 1×0.4 + 0×0.2 + 0×0.1 + 2×0.2 + 1×0.1) = 1.5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2519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filtre apprend à extraire différentes features (bords, textures, patterns)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Hiérarchie des Features dans un CNN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CNN extraient des features de plus en plus complexes au fur et à mesure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011680" cy="1828800"/>
          </a:xfrm>
          <a:prstGeom prst="rect">
            <a:avLst/>
          </a:prstGeom>
          <a:solidFill>
            <a:srgbClr val="E8B4B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1: Bords &amp; Gradients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23160" y="1463040"/>
            <a:ext cx="2011680" cy="1828800"/>
          </a:xfrm>
          <a:prstGeom prst="rect">
            <a:avLst/>
          </a:prstGeom>
          <a:solidFill>
            <a:srgbClr val="F0D8B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645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2: Textures &amp; Patterns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Blocs couleur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2011680" cy="1828800"/>
          </a:xfrm>
          <a:prstGeom prst="rect">
            <a:avLst/>
          </a:prstGeom>
          <a:solidFill>
            <a:srgbClr val="D4EBB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45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3: Parties d'Objets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Yeux, Nez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1463040"/>
            <a:ext cx="2011680" cy="1828800"/>
          </a:xfrm>
          <a:prstGeom prst="rect">
            <a:avLst/>
          </a:prstGeom>
          <a:solidFill>
            <a:srgbClr val="B8D8F0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645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4: Objets Complets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Chien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Pooling: Réduction et Invariance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Diminue la dimensionalité et ajoute une invariance spatiale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14800" cy="21031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Pooling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 la valeur maximale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chaque fenêtre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les features dominantes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→ 1 valeur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4114800" cy="21031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Pooling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 la moyenne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valeurs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sélectif que Max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→ 1 valeur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Rôles du Pooling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Réduction de dimension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26187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Nombre de paramètres et temps de calcul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30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Invariance spatiale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213055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devient plus robuste aux petites translations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859536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992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99923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features importantes sont préservées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79476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67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Prévention du surapprentissage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386791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la capacité du modèle (rôle régularisateur)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69543" y="1179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Type d'un CNN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données à travers les couches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9144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17320" y="1737360"/>
            <a:ext cx="137160" cy="18288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1463040"/>
            <a:ext cx="9144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508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737360"/>
            <a:ext cx="137160" cy="18288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1463040"/>
            <a:ext cx="9144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508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11880" y="1737360"/>
            <a:ext cx="137160" cy="18288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3749040" y="1463040"/>
            <a:ext cx="9144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508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737360"/>
            <a:ext cx="137160" cy="18288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463040"/>
            <a:ext cx="9144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508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2560320"/>
            <a:ext cx="9144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2834640"/>
            <a:ext cx="137160" cy="18288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0" y="2560320"/>
            <a:ext cx="9144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2834640"/>
            <a:ext cx="137160" cy="18288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2560320"/>
            <a:ext cx="9144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06440" y="2834640"/>
            <a:ext cx="137160" cy="18288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6035040" y="2560320"/>
            <a:ext cx="9144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95160" y="2834640"/>
            <a:ext cx="137160" cy="18288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7223760" y="2560320"/>
            <a:ext cx="9144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7180" y="756655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Extraction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 des Paramètres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Exemple: Conv2D(32 filtres, 3×3) sur image 28×28×1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Paramètres = (Kernel Width × Kernel Height × Input Channels × Num Filters) + Num Filters (bias)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Poids: 3 × 3 × 1 × 32 = 288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Bias: 32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Total: 288 + 32 = 320 paramètres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520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Beaucoup moins qu'un DNN dense!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9319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shape: 28 × 28 × 32 (avec padding='same' et stride=1)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Learning: Concept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Réutiliser un modèle pré-entraîné sur un nouveau dataset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14800" cy="22860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Transfer Learning?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Réduction du temps d'entraînement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13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Besoin de moins de données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60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Modèles déjà optimisés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0083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Features génériques apprises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22860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 l'utiliser?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Petit dataset personnel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313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Tasks similaires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660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Ressources limitées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30083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Démarrage rapide requis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Learning: Feature Extraction vs Fine-tuning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1" y="1157103"/>
            <a:ext cx="4114800" cy="24688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1" y="1294263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1" y="1660023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Geler les couches pré-entraînées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seulement les couches finales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 et peu coûteux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1" y="2880360"/>
            <a:ext cx="356616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0856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fixés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trainyable=False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1" y="1157103"/>
            <a:ext cx="4114800" cy="24688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1" y="1294263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1" y="1660023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Dégeler progressivement les couches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avec faible learning 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meilleurs mais plus lent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1" y="2880360"/>
            <a:ext cx="356616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1" y="2940183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les poids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trainyable=True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 faible)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Architectures CNN Célèbres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22860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VGG16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182880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240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couches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138M params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2011680" cy="22860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1460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2103120"/>
            <a:ext cx="182880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2240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Connexions skip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50/101/152 couches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188720"/>
            <a:ext cx="2011680" cy="22860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MobileNet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103120"/>
            <a:ext cx="182880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240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Dépth-wise sep conv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1188720"/>
            <a:ext cx="2011680" cy="22860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EfficientNet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2103120"/>
            <a:ext cx="182880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2240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657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Disponibles dans Keras.applications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 Utiliser Quelle Approche?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Petit Dataset (&lt;1000 images)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Extraction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0" y="11430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/ MobileNet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Geler poids, entraîner dernières couches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Moyen (1000-10000)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148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/ EfficientNet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Dégeler progressivement, lr faible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859536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Grand Dataset (&gt;10000)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Entraîner from scratch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1546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custom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suffisantes pour tout apprendre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Augmentation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pour augmenter la variabilité du dataset sans collecter de nouvelles données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13716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±15-20°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743200" cy="13716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Flip Horizontal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2057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Symétrie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2743200" cy="13716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2057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±10-20%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2743200" cy="13716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 Aléatoire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703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Sous-régions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3108960"/>
            <a:ext cx="2743200" cy="13716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Shift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3703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Décalage px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108960"/>
            <a:ext cx="2743200" cy="13716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Distorsion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3703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Déformation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51206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ImageDataGenerator ou albumentations en TensorFlow/PyTorch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Démonstration Pratique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 1: CNN Simple sur CIFAR-10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60 000 images 32×32, 10 classes (avion, voiture, cheval, ...)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simple: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model = Sequential([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03911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Conv2D(32, 3, padding='same', activation='relu', input_shape=(32,32,3)),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295144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MaxPool2D(2),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55117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Conv2D(64, 3, padding='same', activation='relu'),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8072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MaxPool2D(2),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Flatten(),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31927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Dense(128, activation='relu'),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575304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Dropout(0.5),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83133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Dense(10, activation='softmax')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0873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])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39319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Résultats: ~75% accuracy après 20 epochs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 2: VGG16 Transfer Learning sur CIFAR-10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Réutiliser poids ImageNet, entraîner uniquement les couches finales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base_model = VGG16(weights='imagenet', include_top=False)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03911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base_model.trainable = False  # Geler les poids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295144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55117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model = Sequential([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8072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base_model,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GlobalAveragePooling2D(),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31927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Dense(128, activation='relu'),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575304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Dropout(0.5),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83133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Dense(10, activation='softmax')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08736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])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4297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Résultats: ~90% accuracy après 10 epochs (beaucoup mieux!)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389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des filtres: Couches basses → bords, couches hautes → textures et objets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Atelier Pratique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Atelier: Fashion MNIST CNN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Objectif: Construire et entraîner un CNN sur Fashion MNIST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Tâches: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Charger et explorer Fashion MNIST (60k train, 10k test, 10 classes)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Normaliser les données (0-1)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Construire un CNN: Conv → ReLU → Pool → Dense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Ajouter Dropout (0.5) et Batch Normalization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Entraîner avec Adam (lr=0.001), 15 epochs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Évaluer sur test set, afficher confusion matrix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Visualiser quelques prédictions correctes et incorrectes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Atelier: MobileNet Transfer Learning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Objectif: Utiliser MobileNet pré-entraîné sur Fashion MNIST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Tâches: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Charger MobileNetV2 (poids ImageNet, include_top=False)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Redimensionner images 28×28 → 224×224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Geler les poids du modèle de 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Ajouter Global Average Pooling + Dense layers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Entraîner avec lr=0.001, 10 epochs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Comparer accuracy avec CNN simple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Optionnel: Fine-tuning (dégeler dernières couches, lr=0.0001)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3676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Critères de Rendu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29496"/>
            <a:ext cx="8595360" cy="73152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52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075216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Python propres, commentés, reproducibles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852456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981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Expérimentation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898176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différentes architectures, paramètres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675416"/>
            <a:ext cx="8595360" cy="73152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211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721136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(accuracy, loss, temps), visualisations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498376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440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Comparaison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544096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custom vs Transfer Learning (tableau/graphiques)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321336"/>
            <a:ext cx="8595360" cy="73152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670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4367056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Analyse, insights, limitations, améliorations possibles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Récapitulatif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 CNN utilisent la convolution pour extraire des features spatiales efficacement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Pooling réduit la dimensionalité et ajoute de la robustesse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 Features augmentent en complexité à travers les couches (hiérarchie)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Transfer Learning accélère l'entraînement et réduit les besoins en données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MobileNet et EfficientNet offrent un bon compromis complexité/performance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 Augmentation améliore la généralisation du modèle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Questions?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2743200" y="3474720"/>
            <a:ext cx="36576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5: Réseaux de Neurones Convolutifs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EFREI Paris | M2 DEV G1 | Babacar GUEYE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1553</Words>
  <Application>Microsoft Office PowerPoint</Application>
  <PresentationFormat>Affichage à l'écran (16:9)</PresentationFormat>
  <Paragraphs>302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Courier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Babacar Gueye</cp:lastModifiedBy>
  <cp:revision>6</cp:revision>
  <dcterms:created xsi:type="dcterms:W3CDTF">2026-03-04T07:30:20Z</dcterms:created>
  <dcterms:modified xsi:type="dcterms:W3CDTF">2026-03-13T15:56:58Z</dcterms:modified>
</cp:coreProperties>
</file>