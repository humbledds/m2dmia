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4" r:id="rId29"/>
    <p:sldId id="283"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954"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8855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13147-8CF4-D2AF-1EE2-58E51BC606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2DEBD7-B15D-D30B-1083-505972D48D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5FB18-FFAF-6923-7578-BA2F12A1DA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32B7A2-1959-5D93-36E1-118CA35722EF}"/>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0415119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A1A2E"/>
          </a:solidFill>
          <a:ln/>
        </p:spPr>
        <p:txBody>
          <a:bodyPr/>
          <a:lstStyle/>
          <a:p>
            <a:endParaRPr lang="fr-FR"/>
          </a:p>
        </p:txBody>
      </p:sp>
      <p:sp>
        <p:nvSpPr>
          <p:cNvPr id="3" name="Shape 1"/>
          <p:cNvSpPr/>
          <p:nvPr/>
        </p:nvSpPr>
        <p:spPr>
          <a:xfrm rot="900000">
            <a:off x="-1491449" y="-1051560"/>
            <a:ext cx="4572000" cy="4572000"/>
          </a:xfrm>
          <a:prstGeom prst="rect">
            <a:avLst/>
          </a:prstGeom>
          <a:solidFill>
            <a:srgbClr val="16213E"/>
          </a:solidFill>
          <a:ln/>
        </p:spPr>
      </p:sp>
      <p:sp>
        <p:nvSpPr>
          <p:cNvPr id="4" name="Shape 2"/>
          <p:cNvSpPr/>
          <p:nvPr/>
        </p:nvSpPr>
        <p:spPr>
          <a:xfrm rot="-600000">
            <a:off x="8229600" y="3657600"/>
            <a:ext cx="5486400" cy="4572000"/>
          </a:xfrm>
          <a:prstGeom prst="rect">
            <a:avLst/>
          </a:prstGeom>
          <a:solidFill>
            <a:srgbClr val="0F3460"/>
          </a:solidFill>
          <a:ln/>
        </p:spPr>
      </p:sp>
      <p:pic>
        <p:nvPicPr>
          <p:cNvPr id="5" name="Image 0" descr="/sessions/happy-hopeful-thompson/pptx-work/icons/brain.png"/>
          <p:cNvPicPr>
            <a:picLocks noChangeAspect="1"/>
          </p:cNvPicPr>
          <p:nvPr/>
        </p:nvPicPr>
        <p:blipFill>
          <a:blip r:embed="rId3"/>
          <a:stretch>
            <a:fillRect/>
          </a:stretch>
        </p:blipFill>
        <p:spPr>
          <a:xfrm>
            <a:off x="5394960" y="548640"/>
            <a:ext cx="1371600" cy="1371600"/>
          </a:xfrm>
          <a:prstGeom prst="rect">
            <a:avLst/>
          </a:prstGeom>
        </p:spPr>
      </p:pic>
      <p:sp>
        <p:nvSpPr>
          <p:cNvPr id="6" name="Text 3"/>
          <p:cNvSpPr/>
          <p:nvPr/>
        </p:nvSpPr>
        <p:spPr>
          <a:xfrm>
            <a:off x="914400" y="2011680"/>
            <a:ext cx="10360152" cy="914400"/>
          </a:xfrm>
          <a:prstGeom prst="rect">
            <a:avLst/>
          </a:prstGeom>
          <a:noFill/>
          <a:ln/>
        </p:spPr>
        <p:txBody>
          <a:bodyPr wrap="square" rtlCol="0" anchor="ctr"/>
          <a:lstStyle/>
          <a:p>
            <a:pPr marL="0" indent="0" algn="ctr">
              <a:buNone/>
            </a:pPr>
            <a:r>
              <a:rPr lang="en-US" sz="4400" b="1" dirty="0">
                <a:solidFill>
                  <a:srgbClr val="FFFFFF"/>
                </a:solidFill>
                <a:latin typeface="Trebuchet MS" pitchFamily="34" charset="0"/>
                <a:ea typeface="Trebuchet MS" pitchFamily="34" charset="-122"/>
                <a:cs typeface="Trebuchet MS" pitchFamily="34" charset="-120"/>
              </a:rPr>
              <a:t>Deep Learning &amp; NLP</a:t>
            </a:r>
            <a:endParaRPr lang="en-US" sz="4400" dirty="0"/>
          </a:p>
        </p:txBody>
      </p:sp>
      <p:sp>
        <p:nvSpPr>
          <p:cNvPr id="7" name="Text 4"/>
          <p:cNvSpPr/>
          <p:nvPr/>
        </p:nvSpPr>
        <p:spPr>
          <a:xfrm>
            <a:off x="914400" y="2926080"/>
            <a:ext cx="10360152" cy="640080"/>
          </a:xfrm>
          <a:prstGeom prst="rect">
            <a:avLst/>
          </a:prstGeom>
          <a:noFill/>
          <a:ln/>
        </p:spPr>
        <p:txBody>
          <a:bodyPr wrap="square" rtlCol="0" anchor="ctr"/>
          <a:lstStyle/>
          <a:p>
            <a:pPr marL="0" indent="0" algn="ctr">
              <a:buNone/>
            </a:pPr>
            <a:r>
              <a:rPr lang="en-US" sz="2800" b="1" dirty="0">
                <a:solidFill>
                  <a:srgbClr val="E94560"/>
                </a:solidFill>
                <a:latin typeface="Trebuchet MS" pitchFamily="34" charset="0"/>
                <a:ea typeface="Trebuchet MS" pitchFamily="34" charset="-122"/>
                <a:cs typeface="Trebuchet MS" pitchFamily="34" charset="-120"/>
              </a:rPr>
              <a:t>L'Essentiel pour le Développeur</a:t>
            </a:r>
            <a:endParaRPr lang="en-US" sz="2800" dirty="0"/>
          </a:p>
        </p:txBody>
      </p:sp>
      <p:sp>
        <p:nvSpPr>
          <p:cNvPr id="8" name="Shape 5"/>
          <p:cNvSpPr/>
          <p:nvPr/>
        </p:nvSpPr>
        <p:spPr>
          <a:xfrm>
            <a:off x="4114800" y="3657600"/>
            <a:ext cx="3959352" cy="36576"/>
          </a:xfrm>
          <a:prstGeom prst="rect">
            <a:avLst/>
          </a:prstGeom>
          <a:solidFill>
            <a:srgbClr val="E94560"/>
          </a:solidFill>
          <a:ln/>
        </p:spPr>
      </p:sp>
      <p:sp>
        <p:nvSpPr>
          <p:cNvPr id="9" name="Text 6"/>
          <p:cNvSpPr/>
          <p:nvPr/>
        </p:nvSpPr>
        <p:spPr>
          <a:xfrm>
            <a:off x="914400" y="3931920"/>
            <a:ext cx="10360152" cy="457200"/>
          </a:xfrm>
          <a:prstGeom prst="rect">
            <a:avLst/>
          </a:prstGeom>
          <a:noFill/>
          <a:ln/>
        </p:spPr>
        <p:txBody>
          <a:bodyPr wrap="square" rtlCol="0" anchor="ctr"/>
          <a:lstStyle/>
          <a:p>
            <a:pPr marL="0" indent="0" algn="ctr">
              <a:buNone/>
            </a:pPr>
            <a:r>
              <a:rPr lang="en-US" sz="1800" dirty="0">
                <a:solidFill>
                  <a:srgbClr val="F0F0F0"/>
                </a:solidFill>
                <a:latin typeface="Calibri" pitchFamily="34" charset="0"/>
                <a:ea typeface="Calibri" pitchFamily="34" charset="-122"/>
                <a:cs typeface="Calibri" pitchFamily="34" charset="-120"/>
              </a:rPr>
              <a:t>EFREI Paris — M2 DEV — Séance 04</a:t>
            </a:r>
            <a:endParaRPr lang="en-US" sz="1800" dirty="0"/>
          </a:p>
        </p:txBody>
      </p:sp>
      <p:sp>
        <p:nvSpPr>
          <p:cNvPr id="10" name="Text 7"/>
          <p:cNvSpPr/>
          <p:nvPr/>
        </p:nvSpPr>
        <p:spPr>
          <a:xfrm>
            <a:off x="914400" y="4480560"/>
            <a:ext cx="10360152" cy="457200"/>
          </a:xfrm>
          <a:prstGeom prst="rect">
            <a:avLst/>
          </a:prstGeom>
          <a:noFill/>
          <a:ln/>
        </p:spPr>
        <p:txBody>
          <a:bodyPr wrap="square" rtlCol="0" anchor="ctr"/>
          <a:lstStyle/>
          <a:p>
            <a:pPr marL="0" indent="0" algn="ctr">
              <a:buNone/>
            </a:pP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A1A2E"/>
          </a:solidFill>
          <a:ln/>
        </p:spPr>
      </p:sp>
      <p:sp>
        <p:nvSpPr>
          <p:cNvPr id="3" name="Shape 1"/>
          <p:cNvSpPr/>
          <p:nvPr/>
        </p:nvSpPr>
        <p:spPr>
          <a:xfrm>
            <a:off x="0" y="960120"/>
            <a:ext cx="12188952" cy="54864"/>
          </a:xfrm>
          <a:prstGeom prst="rect">
            <a:avLst/>
          </a:prstGeom>
          <a:solidFill>
            <a:srgbClr val="E94560"/>
          </a:solidFill>
          <a:ln/>
        </p:spPr>
      </p:sp>
      <p:pic>
        <p:nvPicPr>
          <p:cNvPr id="4" name="Image 0" descr="/sessions/happy-hopeful-thompson/pptx-work/icons/graduation-cap-white.png"/>
          <p:cNvPicPr>
            <a:picLocks noChangeAspect="1"/>
          </p:cNvPicPr>
          <p:nvPr/>
        </p:nvPicPr>
        <p:blipFill>
          <a:blip r:embed="rId3"/>
          <a:stretch>
            <a:fillRect/>
          </a:stretch>
        </p:blipFill>
        <p:spPr>
          <a:xfrm>
            <a:off x="365760" y="164592"/>
            <a:ext cx="594360" cy="594360"/>
          </a:xfrm>
          <a:prstGeom prst="rect">
            <a:avLst/>
          </a:prstGeom>
        </p:spPr>
      </p:pic>
      <p:sp>
        <p:nvSpPr>
          <p:cNvPr id="5" name="Text 2"/>
          <p:cNvSpPr/>
          <p:nvPr/>
        </p:nvSpPr>
        <p:spPr>
          <a:xfrm>
            <a:off x="1097280" y="91440"/>
            <a:ext cx="10515600" cy="8229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Objectifs de cette Séance</a:t>
            </a:r>
            <a:endParaRPr lang="en-US" sz="2800" dirty="0"/>
          </a:p>
        </p:txBody>
      </p:sp>
      <p:sp>
        <p:nvSpPr>
          <p:cNvPr id="6" name="Shape 3"/>
          <p:cNvSpPr/>
          <p:nvPr/>
        </p:nvSpPr>
        <p:spPr>
          <a:xfrm>
            <a:off x="457200" y="1280160"/>
            <a:ext cx="11274552" cy="5029200"/>
          </a:xfrm>
          <a:prstGeom prst="rect">
            <a:avLst/>
          </a:prstGeom>
          <a:solidFill>
            <a:srgbClr val="FFFFFF"/>
          </a:solidFill>
          <a:ln/>
          <a:effectLst>
            <a:outerShdw blurRad="50800" dist="25400" dir="2700000" algn="bl" rotWithShape="0">
              <a:srgbClr val="000000">
                <a:alpha val="15000"/>
              </a:srgbClr>
            </a:outerShdw>
          </a:effectLst>
        </p:spPr>
      </p:sp>
      <p:sp>
        <p:nvSpPr>
          <p:cNvPr id="7" name="Text 4"/>
          <p:cNvSpPr/>
          <p:nvPr/>
        </p:nvSpPr>
        <p:spPr>
          <a:xfrm>
            <a:off x="731520" y="1463040"/>
            <a:ext cx="10698480" cy="457200"/>
          </a:xfrm>
          <a:prstGeom prst="rect">
            <a:avLst/>
          </a:prstGeom>
          <a:noFill/>
          <a:ln/>
        </p:spPr>
        <p:txBody>
          <a:bodyPr wrap="square" rtlCol="0" anchor="ctr"/>
          <a:lstStyle/>
          <a:p>
            <a:pPr marL="0" indent="0">
              <a:buNone/>
            </a:pPr>
            <a:r>
              <a:rPr lang="en-US" sz="2000" b="1" dirty="0">
                <a:solidFill>
                  <a:srgbClr val="1A1A2E"/>
                </a:solidFill>
                <a:latin typeface="Trebuchet MS" pitchFamily="34" charset="0"/>
                <a:ea typeface="Trebuchet MS" pitchFamily="34" charset="-122"/>
                <a:cs typeface="Trebuchet MS" pitchFamily="34" charset="-120"/>
              </a:rPr>
              <a:t>Après cette séance, vous serez capables de :</a:t>
            </a:r>
            <a:endParaRPr lang="en-US" sz="2000" dirty="0"/>
          </a:p>
        </p:txBody>
      </p:sp>
      <p:sp>
        <p:nvSpPr>
          <p:cNvPr id="8" name="Text 5"/>
          <p:cNvSpPr/>
          <p:nvPr/>
        </p:nvSpPr>
        <p:spPr>
          <a:xfrm>
            <a:off x="914400" y="2011680"/>
            <a:ext cx="10058400" cy="4023360"/>
          </a:xfrm>
          <a:prstGeom prst="rect">
            <a:avLst/>
          </a:prstGeom>
          <a:noFill/>
          <a:ln/>
        </p:spPr>
        <p:txBody>
          <a:bodyPr wrap="square" rtlCol="0" anchor="t"/>
          <a:lstStyle/>
          <a:p>
            <a:pPr marL="342900" indent="-342900">
              <a:lnSpc>
                <a:spcPct val="120000"/>
              </a:lnSpc>
              <a:spcBef>
                <a:spcPts val="600"/>
              </a:spcBef>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Comprendre ce qu'est le Deep Learning et en quoi il diffère du Machine Learning classique</a:t>
            </a:r>
            <a:endParaRPr lang="en-US" sz="1700" dirty="0"/>
          </a:p>
          <a:p>
            <a:pPr marL="342900" indent="-342900">
              <a:lnSpc>
                <a:spcPct val="120000"/>
              </a:lnSpc>
              <a:spcBef>
                <a:spcPts val="600"/>
              </a:spcBef>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Expliquer le fonctionnement d'un neurone artificiel et d'un réseau de neurones</a:t>
            </a:r>
            <a:endParaRPr lang="en-US" sz="1700" dirty="0"/>
          </a:p>
          <a:p>
            <a:pPr marL="342900" indent="-342900">
              <a:lnSpc>
                <a:spcPct val="120000"/>
              </a:lnSpc>
              <a:spcBef>
                <a:spcPts val="600"/>
              </a:spcBef>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Savoir à quoi servent les CNN (reconnaissance d'images) et les RNN/LSTM (données séquentielles)</a:t>
            </a:r>
            <a:endParaRPr lang="en-US" sz="1700" dirty="0"/>
          </a:p>
          <a:p>
            <a:pPr marL="342900" indent="-342900">
              <a:lnSpc>
                <a:spcPct val="120000"/>
              </a:lnSpc>
              <a:spcBef>
                <a:spcPts val="600"/>
              </a:spcBef>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Connaître les bases du NLP : comment un ordinateur traite du texte</a:t>
            </a:r>
            <a:endParaRPr lang="en-US" sz="1700" dirty="0"/>
          </a:p>
          <a:p>
            <a:pPr marL="342900" indent="-342900">
              <a:lnSpc>
                <a:spcPct val="120000"/>
              </a:lnSpc>
              <a:spcBef>
                <a:spcPts val="600"/>
              </a:spcBef>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Identifier les frameworks principaux (TensorFlow, PyTorch, Hugging Face) et savoir lequel choisir</a:t>
            </a:r>
            <a:endParaRPr lang="en-US" sz="1700" dirty="0"/>
          </a:p>
        </p:txBody>
      </p:sp>
      <p:sp>
        <p:nvSpPr>
          <p:cNvPr id="25" name="Slide Number Placeholder 0"/>
          <p:cNvSpPr>
            <a:spLocks noGrp="1"/>
          </p:cNvSpPr>
          <p:nvPr>
            <p:ph type="sldNum" sz="quarter" idx="4294967295"/>
          </p:nvPr>
        </p:nvSpPr>
        <p:spPr>
          <a:xfrm>
            <a:off x="109728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A1A2E"/>
          </a:solidFill>
          <a:ln/>
        </p:spPr>
      </p:sp>
      <p:sp>
        <p:nvSpPr>
          <p:cNvPr id="3" name="Shape 1"/>
          <p:cNvSpPr/>
          <p:nvPr/>
        </p:nvSpPr>
        <p:spPr>
          <a:xfrm>
            <a:off x="0" y="960120"/>
            <a:ext cx="12188952" cy="54864"/>
          </a:xfrm>
          <a:prstGeom prst="rect">
            <a:avLst/>
          </a:prstGeom>
          <a:solidFill>
            <a:srgbClr val="E94560"/>
          </a:solidFill>
          <a:ln/>
        </p:spPr>
      </p:sp>
      <p:pic>
        <p:nvPicPr>
          <p:cNvPr id="4" name="Image 0" descr="/sessions/happy-hopeful-thompson/pptx-work/icons/exchange-white.png"/>
          <p:cNvPicPr>
            <a:picLocks noChangeAspect="1"/>
          </p:cNvPicPr>
          <p:nvPr/>
        </p:nvPicPr>
        <p:blipFill>
          <a:blip r:embed="rId3"/>
          <a:stretch>
            <a:fillRect/>
          </a:stretch>
        </p:blipFill>
        <p:spPr>
          <a:xfrm>
            <a:off x="365760" y="164592"/>
            <a:ext cx="594360" cy="594360"/>
          </a:xfrm>
          <a:prstGeom prst="rect">
            <a:avLst/>
          </a:prstGeom>
        </p:spPr>
      </p:pic>
      <p:sp>
        <p:nvSpPr>
          <p:cNvPr id="5" name="Text 2"/>
          <p:cNvSpPr/>
          <p:nvPr/>
        </p:nvSpPr>
        <p:spPr>
          <a:xfrm>
            <a:off x="1097280" y="91440"/>
            <a:ext cx="10515600" cy="8229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Rappel : Machine Learning vs Deep Learning</a:t>
            </a:r>
            <a:endParaRPr lang="en-US" sz="2800" dirty="0"/>
          </a:p>
        </p:txBody>
      </p:sp>
      <p:sp>
        <p:nvSpPr>
          <p:cNvPr id="6" name="Shape 3"/>
          <p:cNvSpPr/>
          <p:nvPr/>
        </p:nvSpPr>
        <p:spPr>
          <a:xfrm>
            <a:off x="457200" y="1371600"/>
            <a:ext cx="5303520" cy="4754880"/>
          </a:xfrm>
          <a:prstGeom prst="rect">
            <a:avLst/>
          </a:prstGeom>
          <a:solidFill>
            <a:srgbClr val="FFFFFF"/>
          </a:solidFill>
          <a:ln w="19050">
            <a:solidFill>
              <a:srgbClr val="2980B9"/>
            </a:solidFill>
            <a:prstDash val="solid"/>
          </a:ln>
          <a:effectLst>
            <a:outerShdw blurRad="50800" dist="25400" dir="2700000" algn="bl" rotWithShape="0">
              <a:srgbClr val="000000">
                <a:alpha val="15000"/>
              </a:srgbClr>
            </a:outerShdw>
          </a:effectLst>
        </p:spPr>
      </p:sp>
      <p:sp>
        <p:nvSpPr>
          <p:cNvPr id="7" name="Shape 4"/>
          <p:cNvSpPr/>
          <p:nvPr/>
        </p:nvSpPr>
        <p:spPr>
          <a:xfrm>
            <a:off x="457200" y="1371600"/>
            <a:ext cx="5303520" cy="548640"/>
          </a:xfrm>
          <a:prstGeom prst="rect">
            <a:avLst/>
          </a:prstGeom>
          <a:solidFill>
            <a:srgbClr val="2980B9"/>
          </a:solidFill>
          <a:ln/>
        </p:spPr>
      </p:sp>
      <p:sp>
        <p:nvSpPr>
          <p:cNvPr id="8" name="Text 5"/>
          <p:cNvSpPr/>
          <p:nvPr/>
        </p:nvSpPr>
        <p:spPr>
          <a:xfrm>
            <a:off x="457200" y="1371600"/>
            <a:ext cx="5303520" cy="548640"/>
          </a:xfrm>
          <a:prstGeom prst="rect">
            <a:avLst/>
          </a:prstGeom>
          <a:noFill/>
          <a:ln/>
        </p:spPr>
        <p:txBody>
          <a:bodyPr wrap="square"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Machine Learning (classique)</a:t>
            </a:r>
            <a:endParaRPr lang="en-US" sz="1800" dirty="0"/>
          </a:p>
        </p:txBody>
      </p:sp>
      <p:sp>
        <p:nvSpPr>
          <p:cNvPr id="9" name="Text 6"/>
          <p:cNvSpPr/>
          <p:nvPr/>
        </p:nvSpPr>
        <p:spPr>
          <a:xfrm>
            <a:off x="731520" y="2103120"/>
            <a:ext cx="4754880" cy="3840480"/>
          </a:xfrm>
          <a:prstGeom prst="rect">
            <a:avLst/>
          </a:prstGeom>
          <a:noFill/>
          <a:ln/>
        </p:spPr>
        <p:txBody>
          <a:bodyPr wrap="square" rtlCol="0" anchor="t"/>
          <a:lstStyle/>
          <a:p>
            <a:pPr marL="342900" indent="-342900">
              <a:spcBef>
                <a:spcPts val="600"/>
              </a:spcBef>
              <a:buSzPct val="100000"/>
              <a:buChar char="•"/>
            </a:pPr>
            <a:r>
              <a:rPr lang="en-US" sz="1500" dirty="0">
                <a:solidFill>
                  <a:srgbClr val="333333"/>
                </a:solidFill>
                <a:latin typeface="Calibri" pitchFamily="34" charset="0"/>
                <a:ea typeface="Calibri" pitchFamily="34" charset="-122"/>
                <a:cs typeface="Calibri" pitchFamily="34" charset="-120"/>
              </a:rPr>
              <a:t>L'humain choisit les caractéristiques importantes (features)</a:t>
            </a:r>
            <a:endParaRPr lang="en-US" sz="1500" dirty="0"/>
          </a:p>
          <a:p>
            <a:pPr marL="342900" indent="-342900">
              <a:spcBef>
                <a:spcPts val="600"/>
              </a:spcBef>
              <a:buSzPct val="100000"/>
              <a:buChar char="•"/>
            </a:pPr>
            <a:r>
              <a:rPr lang="en-US" sz="1500" dirty="0">
                <a:solidFill>
                  <a:srgbClr val="333333"/>
                </a:solidFill>
                <a:latin typeface="Calibri" pitchFamily="34" charset="0"/>
                <a:ea typeface="Calibri" pitchFamily="34" charset="-122"/>
                <a:cs typeface="Calibri" pitchFamily="34" charset="-120"/>
              </a:rPr>
              <a:t>Exemples : taille, poids, couleur → on dit au modèle quoi regarder</a:t>
            </a:r>
            <a:endParaRPr lang="en-US" sz="1500" dirty="0"/>
          </a:p>
          <a:p>
            <a:pPr marL="342900" indent="-342900">
              <a:spcBef>
                <a:spcPts val="600"/>
              </a:spcBef>
              <a:buSzPct val="100000"/>
              <a:buChar char="•"/>
            </a:pPr>
            <a:r>
              <a:rPr lang="en-US" sz="1500" dirty="0">
                <a:solidFill>
                  <a:srgbClr val="333333"/>
                </a:solidFill>
                <a:latin typeface="Calibri" pitchFamily="34" charset="0"/>
                <a:ea typeface="Calibri" pitchFamily="34" charset="-122"/>
                <a:cs typeface="Calibri" pitchFamily="34" charset="-120"/>
              </a:rPr>
              <a:t>Fonctionne bien avec peu de données</a:t>
            </a:r>
            <a:endParaRPr lang="en-US" sz="1500" dirty="0"/>
          </a:p>
          <a:p>
            <a:pPr marL="342900" indent="-342900">
              <a:spcBef>
                <a:spcPts val="600"/>
              </a:spcBef>
              <a:buSzPct val="100000"/>
              <a:buChar char="•"/>
            </a:pPr>
            <a:r>
              <a:rPr lang="en-US" sz="1500" dirty="0">
                <a:solidFill>
                  <a:srgbClr val="333333"/>
                </a:solidFill>
                <a:latin typeface="Calibri" pitchFamily="34" charset="0"/>
                <a:ea typeface="Calibri" pitchFamily="34" charset="-122"/>
                <a:cs typeface="Calibri" pitchFamily="34" charset="-120"/>
              </a:rPr>
              <a:t>Algorithmes : Régression, SVM, Random Forest, KNN…</a:t>
            </a:r>
            <a:endParaRPr lang="en-US" sz="1500" dirty="0"/>
          </a:p>
          <a:p>
            <a:pPr marL="342900" indent="-342900">
              <a:spcBef>
                <a:spcPts val="600"/>
              </a:spcBef>
              <a:buSzPct val="100000"/>
              <a:buChar char="•"/>
            </a:pPr>
            <a:r>
              <a:rPr lang="en-US" sz="1500" dirty="0">
                <a:solidFill>
                  <a:srgbClr val="333333"/>
                </a:solidFill>
                <a:latin typeface="Calibri" pitchFamily="34" charset="0"/>
                <a:ea typeface="Calibri" pitchFamily="34" charset="-122"/>
                <a:cs typeface="Calibri" pitchFamily="34" charset="-120"/>
              </a:rPr>
              <a:t>Rapide à entraîner, interprétable</a:t>
            </a:r>
            <a:endParaRPr lang="en-US" sz="1500" dirty="0"/>
          </a:p>
        </p:txBody>
      </p:sp>
      <p:sp>
        <p:nvSpPr>
          <p:cNvPr id="10" name="Shape 7"/>
          <p:cNvSpPr/>
          <p:nvPr/>
        </p:nvSpPr>
        <p:spPr>
          <a:xfrm>
            <a:off x="6400800" y="1371600"/>
            <a:ext cx="5303520" cy="4754880"/>
          </a:xfrm>
          <a:prstGeom prst="rect">
            <a:avLst/>
          </a:prstGeom>
          <a:solidFill>
            <a:srgbClr val="FFFFFF"/>
          </a:solidFill>
          <a:ln w="19050">
            <a:solidFill>
              <a:srgbClr val="E94560"/>
            </a:solidFill>
            <a:prstDash val="solid"/>
          </a:ln>
          <a:effectLst>
            <a:outerShdw blurRad="50800" dist="25400" dir="2700000" algn="bl" rotWithShape="0">
              <a:srgbClr val="000000">
                <a:alpha val="15000"/>
              </a:srgbClr>
            </a:outerShdw>
          </a:effectLst>
        </p:spPr>
      </p:sp>
      <p:sp>
        <p:nvSpPr>
          <p:cNvPr id="11" name="Shape 8"/>
          <p:cNvSpPr/>
          <p:nvPr/>
        </p:nvSpPr>
        <p:spPr>
          <a:xfrm>
            <a:off x="6400800" y="1371600"/>
            <a:ext cx="5303520" cy="548640"/>
          </a:xfrm>
          <a:prstGeom prst="rect">
            <a:avLst/>
          </a:prstGeom>
          <a:solidFill>
            <a:srgbClr val="E94560"/>
          </a:solidFill>
          <a:ln/>
        </p:spPr>
      </p:sp>
      <p:sp>
        <p:nvSpPr>
          <p:cNvPr id="12" name="Text 9"/>
          <p:cNvSpPr/>
          <p:nvPr/>
        </p:nvSpPr>
        <p:spPr>
          <a:xfrm>
            <a:off x="6400800" y="1371600"/>
            <a:ext cx="5303520" cy="548640"/>
          </a:xfrm>
          <a:prstGeom prst="rect">
            <a:avLst/>
          </a:prstGeom>
          <a:noFill/>
          <a:ln/>
        </p:spPr>
        <p:txBody>
          <a:bodyPr wrap="square"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Deep Learning</a:t>
            </a:r>
            <a:endParaRPr lang="en-US" sz="1800" dirty="0"/>
          </a:p>
        </p:txBody>
      </p:sp>
      <p:sp>
        <p:nvSpPr>
          <p:cNvPr id="13" name="Text 10"/>
          <p:cNvSpPr/>
          <p:nvPr/>
        </p:nvSpPr>
        <p:spPr>
          <a:xfrm>
            <a:off x="6675120" y="2103120"/>
            <a:ext cx="4754880" cy="3840480"/>
          </a:xfrm>
          <a:prstGeom prst="rect">
            <a:avLst/>
          </a:prstGeom>
          <a:noFill/>
          <a:ln/>
        </p:spPr>
        <p:txBody>
          <a:bodyPr wrap="square" rtlCol="0" anchor="t"/>
          <a:lstStyle/>
          <a:p>
            <a:pPr marL="342900" indent="-342900">
              <a:spcBef>
                <a:spcPts val="600"/>
              </a:spcBef>
              <a:buSzPct val="100000"/>
              <a:buChar char="•"/>
            </a:pPr>
            <a:r>
              <a:rPr lang="en-US" sz="1500" dirty="0">
                <a:solidFill>
                  <a:srgbClr val="333333"/>
                </a:solidFill>
                <a:latin typeface="Calibri" pitchFamily="34" charset="0"/>
                <a:ea typeface="Calibri" pitchFamily="34" charset="-122"/>
                <a:cs typeface="Calibri" pitchFamily="34" charset="-120"/>
              </a:rPr>
              <a:t>Le modèle découvre lui-même les caractéristiques importantes</a:t>
            </a:r>
            <a:endParaRPr lang="en-US" sz="1500" dirty="0"/>
          </a:p>
          <a:p>
            <a:pPr marL="342900" indent="-342900">
              <a:spcBef>
                <a:spcPts val="600"/>
              </a:spcBef>
              <a:buSzPct val="100000"/>
              <a:buChar char="•"/>
            </a:pPr>
            <a:r>
              <a:rPr lang="en-US" sz="1500" dirty="0">
                <a:solidFill>
                  <a:srgbClr val="333333"/>
                </a:solidFill>
                <a:latin typeface="Calibri" pitchFamily="34" charset="0"/>
                <a:ea typeface="Calibri" pitchFamily="34" charset="-122"/>
                <a:cs typeface="Calibri" pitchFamily="34" charset="-120"/>
              </a:rPr>
              <a:t>On donne les données brutes (images, texte) → il apprend quoi regarder</a:t>
            </a:r>
            <a:endParaRPr lang="en-US" sz="1500" dirty="0"/>
          </a:p>
          <a:p>
            <a:pPr marL="342900" indent="-342900">
              <a:spcBef>
                <a:spcPts val="600"/>
              </a:spcBef>
              <a:buSzPct val="100000"/>
              <a:buChar char="•"/>
            </a:pPr>
            <a:r>
              <a:rPr lang="en-US" sz="1500" dirty="0">
                <a:solidFill>
                  <a:srgbClr val="333333"/>
                </a:solidFill>
                <a:latin typeface="Calibri" pitchFamily="34" charset="0"/>
                <a:ea typeface="Calibri" pitchFamily="34" charset="-122"/>
                <a:cs typeface="Calibri" pitchFamily="34" charset="-120"/>
              </a:rPr>
              <a:t>Nécessite beaucoup de données et de puissance (GPU)</a:t>
            </a:r>
            <a:endParaRPr lang="en-US" sz="1500" dirty="0"/>
          </a:p>
          <a:p>
            <a:pPr marL="342900" indent="-342900">
              <a:spcBef>
                <a:spcPts val="600"/>
              </a:spcBef>
              <a:buSzPct val="100000"/>
              <a:buChar char="•"/>
            </a:pPr>
            <a:r>
              <a:rPr lang="en-US" sz="1500" dirty="0">
                <a:solidFill>
                  <a:srgbClr val="333333"/>
                </a:solidFill>
                <a:latin typeface="Calibri" pitchFamily="34" charset="0"/>
                <a:ea typeface="Calibri" pitchFamily="34" charset="-122"/>
                <a:cs typeface="Calibri" pitchFamily="34" charset="-120"/>
              </a:rPr>
              <a:t>Réseaux de neurones profonds (CNN, RNN, Transformers…)</a:t>
            </a:r>
            <a:endParaRPr lang="en-US" sz="1500" dirty="0"/>
          </a:p>
          <a:p>
            <a:pPr marL="342900" indent="-342900">
              <a:spcBef>
                <a:spcPts val="600"/>
              </a:spcBef>
              <a:buSzPct val="100000"/>
              <a:buChar char="•"/>
            </a:pPr>
            <a:r>
              <a:rPr lang="en-US" sz="1500" dirty="0">
                <a:solidFill>
                  <a:srgbClr val="333333"/>
                </a:solidFill>
                <a:latin typeface="Calibri" pitchFamily="34" charset="0"/>
                <a:ea typeface="Calibri" pitchFamily="34" charset="-122"/>
                <a:cs typeface="Calibri" pitchFamily="34" charset="-120"/>
              </a:rPr>
              <a:t>Excelle sur images, texte, son, vidéo</a:t>
            </a:r>
            <a:endParaRPr lang="en-US" sz="1500" dirty="0"/>
          </a:p>
        </p:txBody>
      </p:sp>
      <p:sp>
        <p:nvSpPr>
          <p:cNvPr id="25" name="Slide Number Placeholder 0"/>
          <p:cNvSpPr>
            <a:spLocks noGrp="1"/>
          </p:cNvSpPr>
          <p:nvPr>
            <p:ph type="sldNum" sz="quarter" idx="4294967295"/>
          </p:nvPr>
        </p:nvSpPr>
        <p:spPr>
          <a:xfrm>
            <a:off x="109728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A1A2E"/>
          </a:solidFill>
          <a:ln/>
        </p:spPr>
      </p:sp>
      <p:sp>
        <p:nvSpPr>
          <p:cNvPr id="3" name="Shape 1"/>
          <p:cNvSpPr/>
          <p:nvPr/>
        </p:nvSpPr>
        <p:spPr>
          <a:xfrm>
            <a:off x="0" y="960120"/>
            <a:ext cx="12188952" cy="54864"/>
          </a:xfrm>
          <a:prstGeom prst="rect">
            <a:avLst/>
          </a:prstGeom>
          <a:solidFill>
            <a:srgbClr val="E94560"/>
          </a:solidFill>
          <a:ln/>
        </p:spPr>
      </p:sp>
      <p:pic>
        <p:nvPicPr>
          <p:cNvPr id="4" name="Image 0" descr="/sessions/happy-hopeful-thompson/pptx-work/icons/microchip-white.png"/>
          <p:cNvPicPr>
            <a:picLocks noChangeAspect="1"/>
          </p:cNvPicPr>
          <p:nvPr/>
        </p:nvPicPr>
        <p:blipFill>
          <a:blip r:embed="rId3"/>
          <a:stretch>
            <a:fillRect/>
          </a:stretch>
        </p:blipFill>
        <p:spPr>
          <a:xfrm>
            <a:off x="365760" y="164592"/>
            <a:ext cx="594360" cy="594360"/>
          </a:xfrm>
          <a:prstGeom prst="rect">
            <a:avLst/>
          </a:prstGeom>
        </p:spPr>
      </p:pic>
      <p:sp>
        <p:nvSpPr>
          <p:cNvPr id="5" name="Text 2"/>
          <p:cNvSpPr/>
          <p:nvPr/>
        </p:nvSpPr>
        <p:spPr>
          <a:xfrm>
            <a:off x="1097280" y="91440"/>
            <a:ext cx="10515600" cy="8229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Le Neurone Artificiel : Brique de Base</a:t>
            </a:r>
            <a:endParaRPr lang="en-US" sz="2800" dirty="0"/>
          </a:p>
        </p:txBody>
      </p:sp>
      <p:sp>
        <p:nvSpPr>
          <p:cNvPr id="6" name="Shape 3"/>
          <p:cNvSpPr/>
          <p:nvPr/>
        </p:nvSpPr>
        <p:spPr>
          <a:xfrm>
            <a:off x="457200" y="1280160"/>
            <a:ext cx="6858000" cy="5120640"/>
          </a:xfrm>
          <a:prstGeom prst="rect">
            <a:avLst/>
          </a:prstGeom>
          <a:solidFill>
            <a:srgbClr val="FFFFFF"/>
          </a:solidFill>
          <a:ln/>
          <a:effectLst>
            <a:outerShdw blurRad="50800" dist="25400" dir="2700000" algn="bl" rotWithShape="0">
              <a:srgbClr val="000000">
                <a:alpha val="15000"/>
              </a:srgbClr>
            </a:outerShdw>
          </a:effectLst>
        </p:spPr>
      </p:sp>
      <p:sp>
        <p:nvSpPr>
          <p:cNvPr id="7" name="Text 4"/>
          <p:cNvSpPr/>
          <p:nvPr/>
        </p:nvSpPr>
        <p:spPr>
          <a:xfrm>
            <a:off x="731520" y="1371600"/>
            <a:ext cx="6400800" cy="457200"/>
          </a:xfrm>
          <a:prstGeom prst="rect">
            <a:avLst/>
          </a:prstGeom>
          <a:noFill/>
          <a:ln/>
        </p:spPr>
        <p:txBody>
          <a:bodyPr wrap="square" rtlCol="0" anchor="ctr"/>
          <a:lstStyle/>
          <a:p>
            <a:pPr marL="0" indent="0">
              <a:buNone/>
            </a:pPr>
            <a:r>
              <a:rPr lang="en-US" sz="1800" b="1" dirty="0">
                <a:solidFill>
                  <a:srgbClr val="1A1A2E"/>
                </a:solidFill>
                <a:latin typeface="Trebuchet MS" pitchFamily="34" charset="0"/>
                <a:ea typeface="Trebuchet MS" pitchFamily="34" charset="-122"/>
                <a:cs typeface="Trebuchet MS" pitchFamily="34" charset="-120"/>
              </a:rPr>
              <a:t>Comment fonctionne un neurone artificiel ?</a:t>
            </a:r>
            <a:endParaRPr lang="en-US" sz="1800" dirty="0"/>
          </a:p>
        </p:txBody>
      </p:sp>
      <p:sp>
        <p:nvSpPr>
          <p:cNvPr id="8" name="Text 5"/>
          <p:cNvSpPr/>
          <p:nvPr/>
        </p:nvSpPr>
        <p:spPr>
          <a:xfrm>
            <a:off x="731520" y="1920240"/>
            <a:ext cx="6309360" cy="4114800"/>
          </a:xfrm>
          <a:prstGeom prst="rect">
            <a:avLst/>
          </a:prstGeom>
          <a:noFill/>
          <a:ln/>
        </p:spPr>
        <p:txBody>
          <a:bodyPr wrap="square" rtlCol="0" anchor="t"/>
          <a:lstStyle/>
          <a:p>
            <a:pPr marL="0" indent="0">
              <a:lnSpc>
                <a:spcPct val="115000"/>
              </a:lnSpc>
              <a:spcBef>
                <a:spcPts val="800"/>
              </a:spcBef>
              <a:buNone/>
            </a:pPr>
            <a:r>
              <a:rPr lang="en-US" sz="1500" dirty="0">
                <a:solidFill>
                  <a:srgbClr val="333333"/>
                </a:solidFill>
                <a:latin typeface="Calibri" pitchFamily="34" charset="0"/>
                <a:ea typeface="Calibri" pitchFamily="34" charset="-122"/>
                <a:cs typeface="Calibri" pitchFamily="34" charset="-120"/>
              </a:rPr>
              <a:t>1. Il reçoit des entrées (des nombres) depuis d'autres neurones ou les données</a:t>
            </a:r>
            <a:endParaRPr lang="en-US" sz="1500" dirty="0"/>
          </a:p>
          <a:p>
            <a:pPr marL="0" indent="0">
              <a:lnSpc>
                <a:spcPct val="115000"/>
              </a:lnSpc>
              <a:spcBef>
                <a:spcPts val="800"/>
              </a:spcBef>
              <a:buNone/>
            </a:pPr>
            <a:r>
              <a:rPr lang="en-US" sz="1500" dirty="0">
                <a:solidFill>
                  <a:srgbClr val="333333"/>
                </a:solidFill>
                <a:latin typeface="Calibri" pitchFamily="34" charset="0"/>
                <a:ea typeface="Calibri" pitchFamily="34" charset="-122"/>
                <a:cs typeface="Calibri" pitchFamily="34" charset="-120"/>
              </a:rPr>
              <a:t>2. Chaque entrée a un poids (importance) — le réseau ajuste ces poids en apprenant</a:t>
            </a:r>
            <a:endParaRPr lang="en-US" sz="1500" dirty="0"/>
          </a:p>
          <a:p>
            <a:pPr marL="0" indent="0">
              <a:lnSpc>
                <a:spcPct val="115000"/>
              </a:lnSpc>
              <a:spcBef>
                <a:spcPts val="800"/>
              </a:spcBef>
              <a:buNone/>
            </a:pPr>
            <a:r>
              <a:rPr lang="en-US" sz="1500" dirty="0">
                <a:solidFill>
                  <a:srgbClr val="333333"/>
                </a:solidFill>
                <a:latin typeface="Calibri" pitchFamily="34" charset="0"/>
                <a:ea typeface="Calibri" pitchFamily="34" charset="-122"/>
                <a:cs typeface="Calibri" pitchFamily="34" charset="-120"/>
              </a:rPr>
              <a:t>3. Il fait une somme pondérée de toutes les entrées</a:t>
            </a:r>
            <a:endParaRPr lang="en-US" sz="1500" dirty="0"/>
          </a:p>
          <a:p>
            <a:pPr marL="0" indent="0">
              <a:lnSpc>
                <a:spcPct val="115000"/>
              </a:lnSpc>
              <a:spcBef>
                <a:spcPts val="800"/>
              </a:spcBef>
              <a:buNone/>
            </a:pPr>
            <a:r>
              <a:rPr lang="en-US" sz="1500" dirty="0">
                <a:solidFill>
                  <a:srgbClr val="333333"/>
                </a:solidFill>
                <a:latin typeface="Calibri" pitchFamily="34" charset="0"/>
                <a:ea typeface="Calibri" pitchFamily="34" charset="-122"/>
                <a:cs typeface="Calibri" pitchFamily="34" charset="-120"/>
              </a:rPr>
              <a:t>4. Il applique une fonction d'activation pour décider s'il « s'active » ou non</a:t>
            </a:r>
            <a:endParaRPr lang="en-US" sz="1500" dirty="0"/>
          </a:p>
          <a:p>
            <a:pPr marL="0" indent="0">
              <a:lnSpc>
                <a:spcPct val="115000"/>
              </a:lnSpc>
              <a:spcBef>
                <a:spcPts val="800"/>
              </a:spcBef>
              <a:buNone/>
            </a:pPr>
            <a:r>
              <a:rPr lang="en-US" sz="1500" dirty="0">
                <a:solidFill>
                  <a:srgbClr val="333333"/>
                </a:solidFill>
                <a:latin typeface="Calibri" pitchFamily="34" charset="0"/>
                <a:ea typeface="Calibri" pitchFamily="34" charset="-122"/>
                <a:cs typeface="Calibri" pitchFamily="34" charset="-120"/>
              </a:rPr>
              <a:t>5. Sa sortie est envoyée aux neurones suivants</a:t>
            </a:r>
            <a:endParaRPr lang="en-US" sz="1500" dirty="0"/>
          </a:p>
        </p:txBody>
      </p:sp>
      <p:sp>
        <p:nvSpPr>
          <p:cNvPr id="9" name="Shape 6"/>
          <p:cNvSpPr/>
          <p:nvPr/>
        </p:nvSpPr>
        <p:spPr>
          <a:xfrm>
            <a:off x="7589520" y="1280160"/>
            <a:ext cx="4114800" cy="5120640"/>
          </a:xfrm>
          <a:prstGeom prst="rect">
            <a:avLst/>
          </a:prstGeom>
          <a:solidFill>
            <a:srgbClr val="16213E"/>
          </a:solidFill>
          <a:ln/>
          <a:effectLst>
            <a:outerShdw blurRad="50800" dist="25400" dir="2700000" algn="bl" rotWithShape="0">
              <a:srgbClr val="000000">
                <a:alpha val="15000"/>
              </a:srgbClr>
            </a:outerShdw>
          </a:effectLst>
        </p:spPr>
      </p:sp>
      <p:sp>
        <p:nvSpPr>
          <p:cNvPr id="10" name="Text 7"/>
          <p:cNvSpPr/>
          <p:nvPr/>
        </p:nvSpPr>
        <p:spPr>
          <a:xfrm>
            <a:off x="7772400" y="1463040"/>
            <a:ext cx="3749040" cy="457200"/>
          </a:xfrm>
          <a:prstGeom prst="rect">
            <a:avLst/>
          </a:prstGeom>
          <a:noFill/>
          <a:ln/>
        </p:spPr>
        <p:txBody>
          <a:bodyPr wrap="square" rtlCol="0" anchor="ctr"/>
          <a:lstStyle/>
          <a:p>
            <a:pPr marL="0" indent="0">
              <a:buNone/>
            </a:pPr>
            <a:r>
              <a:rPr lang="en-US" sz="1700" b="1" dirty="0">
                <a:solidFill>
                  <a:srgbClr val="E94560"/>
                </a:solidFill>
                <a:latin typeface="Trebuchet MS" pitchFamily="34" charset="0"/>
                <a:ea typeface="Trebuchet MS" pitchFamily="34" charset="-122"/>
                <a:cs typeface="Trebuchet MS" pitchFamily="34" charset="-120"/>
              </a:rPr>
              <a:t>Analogie simple</a:t>
            </a:r>
            <a:endParaRPr lang="en-US" sz="1700" dirty="0"/>
          </a:p>
        </p:txBody>
      </p:sp>
      <p:sp>
        <p:nvSpPr>
          <p:cNvPr id="11" name="Text 8"/>
          <p:cNvSpPr/>
          <p:nvPr/>
        </p:nvSpPr>
        <p:spPr>
          <a:xfrm>
            <a:off x="7772400" y="2011680"/>
            <a:ext cx="3749040" cy="4114800"/>
          </a:xfrm>
          <a:prstGeom prst="rect">
            <a:avLst/>
          </a:prstGeom>
          <a:noFill/>
          <a:ln/>
        </p:spPr>
        <p:txBody>
          <a:bodyPr wrap="square" rtlCol="0" anchor="t"/>
          <a:lstStyle/>
          <a:p>
            <a:pPr marL="0" indent="0">
              <a:lnSpc>
                <a:spcPct val="120000"/>
              </a:lnSpc>
              <a:buNone/>
            </a:pPr>
            <a:r>
              <a:rPr lang="en-US" sz="1500" dirty="0">
                <a:solidFill>
                  <a:srgbClr val="F0F0F0"/>
                </a:solidFill>
                <a:latin typeface="Calibri" pitchFamily="34" charset="0"/>
                <a:ea typeface="Calibri" pitchFamily="34" charset="-122"/>
                <a:cs typeface="Calibri" pitchFamily="34" charset="-120"/>
              </a:rPr>
              <a:t>Imaginez un jury de concours :</a:t>
            </a:r>
            <a:endParaRPr lang="en-US" sz="1500" dirty="0"/>
          </a:p>
          <a:p>
            <a:pPr marL="0" indent="0">
              <a:lnSpc>
                <a:spcPct val="120000"/>
              </a:lnSpc>
              <a:buNone/>
            </a:pPr>
            <a:endParaRPr lang="en-US" sz="1500" dirty="0"/>
          </a:p>
          <a:p>
            <a:pPr marL="0" indent="0">
              <a:lnSpc>
                <a:spcPct val="120000"/>
              </a:lnSpc>
              <a:buNone/>
            </a:pPr>
            <a:r>
              <a:rPr lang="en-US" sz="1500" dirty="0">
                <a:solidFill>
                  <a:srgbClr val="F0F0F0"/>
                </a:solidFill>
                <a:latin typeface="Calibri" pitchFamily="34" charset="0"/>
                <a:ea typeface="Calibri" pitchFamily="34" charset="-122"/>
                <a:cs typeface="Calibri" pitchFamily="34" charset="-120"/>
              </a:rPr>
              <a:t>• Chaque juré donne une note (entrées)</a:t>
            </a:r>
            <a:endParaRPr lang="en-US" sz="1500" dirty="0"/>
          </a:p>
          <a:p>
            <a:pPr marL="0" indent="0">
              <a:lnSpc>
                <a:spcPct val="120000"/>
              </a:lnSpc>
              <a:buNone/>
            </a:pPr>
            <a:r>
              <a:rPr lang="en-US" sz="1500" dirty="0">
                <a:solidFill>
                  <a:srgbClr val="F0F0F0"/>
                </a:solidFill>
                <a:latin typeface="Calibri" pitchFamily="34" charset="0"/>
                <a:ea typeface="Calibri" pitchFamily="34" charset="-122"/>
                <a:cs typeface="Calibri" pitchFamily="34" charset="-120"/>
              </a:rPr>
              <a:t>• Certains jurés comptent plus (poids)</a:t>
            </a:r>
            <a:endParaRPr lang="en-US" sz="1500" dirty="0"/>
          </a:p>
          <a:p>
            <a:pPr marL="0" indent="0">
              <a:lnSpc>
                <a:spcPct val="120000"/>
              </a:lnSpc>
              <a:buNone/>
            </a:pPr>
            <a:r>
              <a:rPr lang="en-US" sz="1500" dirty="0">
                <a:solidFill>
                  <a:srgbClr val="F0F0F0"/>
                </a:solidFill>
                <a:latin typeface="Calibri" pitchFamily="34" charset="0"/>
                <a:ea typeface="Calibri" pitchFamily="34" charset="-122"/>
                <a:cs typeface="Calibri" pitchFamily="34" charset="-120"/>
              </a:rPr>
              <a:t>• On fait la moyenne pondérée (somme)</a:t>
            </a:r>
            <a:endParaRPr lang="en-US" sz="1500" dirty="0"/>
          </a:p>
          <a:p>
            <a:pPr marL="0" indent="0">
              <a:lnSpc>
                <a:spcPct val="120000"/>
              </a:lnSpc>
              <a:buNone/>
            </a:pPr>
            <a:r>
              <a:rPr lang="en-US" sz="1500" dirty="0">
                <a:solidFill>
                  <a:srgbClr val="F0F0F0"/>
                </a:solidFill>
                <a:latin typeface="Calibri" pitchFamily="34" charset="0"/>
                <a:ea typeface="Calibri" pitchFamily="34" charset="-122"/>
                <a:cs typeface="Calibri" pitchFamily="34" charset="-120"/>
              </a:rPr>
              <a:t>• Si la note dépasse un seuil, le candidat passe (activation)</a:t>
            </a:r>
            <a:endParaRPr lang="en-US" sz="1500" dirty="0"/>
          </a:p>
          <a:p>
            <a:pPr marL="0" indent="0">
              <a:lnSpc>
                <a:spcPct val="120000"/>
              </a:lnSpc>
              <a:buNone/>
            </a:pPr>
            <a:endParaRPr lang="en-US" sz="1500" dirty="0"/>
          </a:p>
          <a:p>
            <a:pPr marL="0" indent="0">
              <a:lnSpc>
                <a:spcPct val="120000"/>
              </a:lnSpc>
              <a:buNone/>
            </a:pPr>
            <a:r>
              <a:rPr lang="en-US" sz="1500" dirty="0">
                <a:solidFill>
                  <a:srgbClr val="F0F0F0"/>
                </a:solidFill>
                <a:latin typeface="Calibri" pitchFamily="34" charset="0"/>
                <a:ea typeface="Calibri" pitchFamily="34" charset="-122"/>
                <a:cs typeface="Calibri" pitchFamily="34" charset="-120"/>
              </a:rPr>
              <a:t>Le Deep Learning = des milliers de ces « jurés » organisés en couches</a:t>
            </a:r>
            <a:endParaRPr lang="en-US" sz="1500" dirty="0"/>
          </a:p>
        </p:txBody>
      </p:sp>
      <p:sp>
        <p:nvSpPr>
          <p:cNvPr id="25" name="Slide Number Placeholder 0"/>
          <p:cNvSpPr>
            <a:spLocks noGrp="1"/>
          </p:cNvSpPr>
          <p:nvPr>
            <p:ph type="sldNum" sz="quarter" idx="4294967295"/>
          </p:nvPr>
        </p:nvSpPr>
        <p:spPr>
          <a:xfrm>
            <a:off x="109728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A1A2E"/>
          </a:solidFill>
          <a:ln/>
        </p:spPr>
      </p:sp>
      <p:sp>
        <p:nvSpPr>
          <p:cNvPr id="3" name="Shape 1"/>
          <p:cNvSpPr/>
          <p:nvPr/>
        </p:nvSpPr>
        <p:spPr>
          <a:xfrm>
            <a:off x="0" y="960120"/>
            <a:ext cx="12188952" cy="54864"/>
          </a:xfrm>
          <a:prstGeom prst="rect">
            <a:avLst/>
          </a:prstGeom>
          <a:solidFill>
            <a:srgbClr val="E94560"/>
          </a:solidFill>
          <a:ln/>
        </p:spPr>
      </p:sp>
      <p:pic>
        <p:nvPicPr>
          <p:cNvPr id="4" name="Image 0" descr="/sessions/happy-hopeful-thompson/pptx-work/icons/bolt-white.png"/>
          <p:cNvPicPr>
            <a:picLocks noChangeAspect="1"/>
          </p:cNvPicPr>
          <p:nvPr/>
        </p:nvPicPr>
        <p:blipFill>
          <a:blip r:embed="rId3"/>
          <a:stretch>
            <a:fillRect/>
          </a:stretch>
        </p:blipFill>
        <p:spPr>
          <a:xfrm>
            <a:off x="365760" y="164592"/>
            <a:ext cx="594360" cy="594360"/>
          </a:xfrm>
          <a:prstGeom prst="rect">
            <a:avLst/>
          </a:prstGeom>
        </p:spPr>
      </p:pic>
      <p:sp>
        <p:nvSpPr>
          <p:cNvPr id="5" name="Text 2"/>
          <p:cNvSpPr/>
          <p:nvPr/>
        </p:nvSpPr>
        <p:spPr>
          <a:xfrm>
            <a:off x="1097280" y="91440"/>
            <a:ext cx="10515600" cy="8229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Fonctions d'Activation : À quoi ça sert ?</a:t>
            </a:r>
            <a:endParaRPr lang="en-US" sz="2800" dirty="0"/>
          </a:p>
        </p:txBody>
      </p:sp>
      <p:sp>
        <p:nvSpPr>
          <p:cNvPr id="6" name="Shape 3"/>
          <p:cNvSpPr/>
          <p:nvPr/>
        </p:nvSpPr>
        <p:spPr>
          <a:xfrm>
            <a:off x="457200" y="1280160"/>
            <a:ext cx="11274552" cy="1463040"/>
          </a:xfrm>
          <a:prstGeom prst="rect">
            <a:avLst/>
          </a:prstGeom>
          <a:solidFill>
            <a:srgbClr val="FFFFFF"/>
          </a:solidFill>
          <a:ln/>
          <a:effectLst>
            <a:outerShdw blurRad="50800" dist="25400" dir="2700000" algn="bl" rotWithShape="0">
              <a:srgbClr val="000000">
                <a:alpha val="15000"/>
              </a:srgbClr>
            </a:outerShdw>
          </a:effectLst>
        </p:spPr>
      </p:sp>
      <p:sp>
        <p:nvSpPr>
          <p:cNvPr id="7" name="Text 4"/>
          <p:cNvSpPr/>
          <p:nvPr/>
        </p:nvSpPr>
        <p:spPr>
          <a:xfrm>
            <a:off x="731520" y="1371600"/>
            <a:ext cx="10698480" cy="1280160"/>
          </a:xfrm>
          <a:prstGeom prst="rect">
            <a:avLst/>
          </a:prstGeom>
          <a:noFill/>
          <a:ln/>
        </p:spPr>
        <p:txBody>
          <a:bodyPr wrap="square" rtlCol="0" anchor="ctr"/>
          <a:lstStyle/>
          <a:p>
            <a:pPr marL="0" indent="0">
              <a:buNone/>
            </a:pPr>
            <a:r>
              <a:rPr lang="en-US" sz="1600" dirty="0">
                <a:solidFill>
                  <a:srgbClr val="333333"/>
                </a:solidFill>
                <a:latin typeface="Calibri" pitchFamily="34" charset="0"/>
                <a:ea typeface="Calibri" pitchFamily="34" charset="-122"/>
                <a:cs typeface="Calibri" pitchFamily="34" charset="-120"/>
              </a:rPr>
              <a:t>Sans fonction d'activation, un réseau de neurones ne serait qu'une simple régression linéaire. Les fonctions d'activation introduisent de la non-linéarité, ce qui permet au réseau d'apprendre des patterns complexes (courbes, formes, nuances dans le texte).</a:t>
            </a:r>
            <a:endParaRPr lang="en-US" sz="1600" dirty="0"/>
          </a:p>
        </p:txBody>
      </p:sp>
      <p:sp>
        <p:nvSpPr>
          <p:cNvPr id="8" name="Shape 5"/>
          <p:cNvSpPr/>
          <p:nvPr/>
        </p:nvSpPr>
        <p:spPr>
          <a:xfrm>
            <a:off x="457200" y="3017520"/>
            <a:ext cx="3566160" cy="3291840"/>
          </a:xfrm>
          <a:prstGeom prst="rect">
            <a:avLst/>
          </a:prstGeom>
          <a:solidFill>
            <a:srgbClr val="FFFFFF"/>
          </a:solidFill>
          <a:ln w="19050">
            <a:solidFill>
              <a:srgbClr val="2980B9"/>
            </a:solidFill>
            <a:prstDash val="solid"/>
          </a:ln>
          <a:effectLst>
            <a:outerShdw blurRad="50800" dist="25400" dir="2700000" algn="bl" rotWithShape="0">
              <a:srgbClr val="000000">
                <a:alpha val="15000"/>
              </a:srgbClr>
            </a:outerShdw>
          </a:effectLst>
        </p:spPr>
      </p:sp>
      <p:sp>
        <p:nvSpPr>
          <p:cNvPr id="9" name="Shape 6"/>
          <p:cNvSpPr/>
          <p:nvPr/>
        </p:nvSpPr>
        <p:spPr>
          <a:xfrm>
            <a:off x="457200" y="3017520"/>
            <a:ext cx="3566160" cy="502920"/>
          </a:xfrm>
          <a:prstGeom prst="rect">
            <a:avLst/>
          </a:prstGeom>
          <a:solidFill>
            <a:srgbClr val="2980B9"/>
          </a:solidFill>
          <a:ln/>
        </p:spPr>
      </p:sp>
      <p:sp>
        <p:nvSpPr>
          <p:cNvPr id="10" name="Text 7"/>
          <p:cNvSpPr/>
          <p:nvPr/>
        </p:nvSpPr>
        <p:spPr>
          <a:xfrm>
            <a:off x="457200" y="3017520"/>
            <a:ext cx="3566160" cy="502920"/>
          </a:xfrm>
          <a:prstGeom prst="rect">
            <a:avLst/>
          </a:prstGeom>
          <a:noFill/>
          <a:ln/>
        </p:spPr>
        <p:txBody>
          <a:bodyPr wrap="square"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ReLU</a:t>
            </a:r>
            <a:endParaRPr lang="en-US" sz="1800" dirty="0"/>
          </a:p>
        </p:txBody>
      </p:sp>
      <p:sp>
        <p:nvSpPr>
          <p:cNvPr id="11" name="Text 8"/>
          <p:cNvSpPr/>
          <p:nvPr/>
        </p:nvSpPr>
        <p:spPr>
          <a:xfrm>
            <a:off x="640080" y="3611880"/>
            <a:ext cx="3200400" cy="411480"/>
          </a:xfrm>
          <a:prstGeom prst="rect">
            <a:avLst/>
          </a:prstGeom>
          <a:noFill/>
          <a:ln/>
        </p:spPr>
        <p:txBody>
          <a:bodyPr wrap="square" rtlCol="0" anchor="ctr"/>
          <a:lstStyle/>
          <a:p>
            <a:pPr marL="0" indent="0" algn="ctr">
              <a:buNone/>
            </a:pPr>
            <a:r>
              <a:rPr lang="en-US" sz="1400" b="1" dirty="0">
                <a:solidFill>
                  <a:srgbClr val="2980B9"/>
                </a:solidFill>
                <a:latin typeface="Calibri" pitchFamily="34" charset="0"/>
                <a:ea typeface="Calibri" pitchFamily="34" charset="-122"/>
                <a:cs typeface="Calibri" pitchFamily="34" charset="-120"/>
              </a:rPr>
              <a:t>f(x) = max(0, x)</a:t>
            </a:r>
            <a:endParaRPr lang="en-US" sz="1400" dirty="0"/>
          </a:p>
        </p:txBody>
      </p:sp>
      <p:sp>
        <p:nvSpPr>
          <p:cNvPr id="12" name="Text 9"/>
          <p:cNvSpPr/>
          <p:nvPr/>
        </p:nvSpPr>
        <p:spPr>
          <a:xfrm>
            <a:off x="640080" y="4069080"/>
            <a:ext cx="3200400" cy="2011680"/>
          </a:xfrm>
          <a:prstGeom prst="rect">
            <a:avLst/>
          </a:prstGeom>
          <a:noFill/>
          <a:ln/>
        </p:spPr>
        <p:txBody>
          <a:bodyPr wrap="square" rtlCol="0" anchor="t"/>
          <a:lstStyle/>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La plus populaire. Si la valeur est positive, on la garde. Si elle est négative, on met zéro. Simple et efficace.</a:t>
            </a:r>
            <a:endParaRPr lang="en-US" sz="1400" dirty="0"/>
          </a:p>
        </p:txBody>
      </p:sp>
      <p:sp>
        <p:nvSpPr>
          <p:cNvPr id="13" name="Shape 10"/>
          <p:cNvSpPr/>
          <p:nvPr/>
        </p:nvSpPr>
        <p:spPr>
          <a:xfrm>
            <a:off x="4297680" y="3017520"/>
            <a:ext cx="3566160" cy="3291840"/>
          </a:xfrm>
          <a:prstGeom prst="rect">
            <a:avLst/>
          </a:prstGeom>
          <a:solidFill>
            <a:srgbClr val="FFFFFF"/>
          </a:solidFill>
          <a:ln w="19050">
            <a:solidFill>
              <a:srgbClr val="27AE60"/>
            </a:solidFill>
            <a:prstDash val="solid"/>
          </a:ln>
          <a:effectLst>
            <a:outerShdw blurRad="50800" dist="25400" dir="2700000" algn="bl" rotWithShape="0">
              <a:srgbClr val="000000">
                <a:alpha val="15000"/>
              </a:srgbClr>
            </a:outerShdw>
          </a:effectLst>
        </p:spPr>
      </p:sp>
      <p:sp>
        <p:nvSpPr>
          <p:cNvPr id="14" name="Shape 11"/>
          <p:cNvSpPr/>
          <p:nvPr/>
        </p:nvSpPr>
        <p:spPr>
          <a:xfrm>
            <a:off x="4297680" y="3017520"/>
            <a:ext cx="3566160" cy="502920"/>
          </a:xfrm>
          <a:prstGeom prst="rect">
            <a:avLst/>
          </a:prstGeom>
          <a:solidFill>
            <a:srgbClr val="27AE60"/>
          </a:solidFill>
          <a:ln/>
        </p:spPr>
      </p:sp>
      <p:sp>
        <p:nvSpPr>
          <p:cNvPr id="15" name="Text 12"/>
          <p:cNvSpPr/>
          <p:nvPr/>
        </p:nvSpPr>
        <p:spPr>
          <a:xfrm>
            <a:off x="4297680" y="3017520"/>
            <a:ext cx="3566160" cy="502920"/>
          </a:xfrm>
          <a:prstGeom prst="rect">
            <a:avLst/>
          </a:prstGeom>
          <a:noFill/>
          <a:ln/>
        </p:spPr>
        <p:txBody>
          <a:bodyPr wrap="square"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Sigmoid</a:t>
            </a:r>
            <a:endParaRPr lang="en-US" sz="1800" dirty="0"/>
          </a:p>
        </p:txBody>
      </p:sp>
      <p:sp>
        <p:nvSpPr>
          <p:cNvPr id="16" name="Text 13"/>
          <p:cNvSpPr/>
          <p:nvPr/>
        </p:nvSpPr>
        <p:spPr>
          <a:xfrm>
            <a:off x="4480560" y="3611880"/>
            <a:ext cx="3200400" cy="411480"/>
          </a:xfrm>
          <a:prstGeom prst="rect">
            <a:avLst/>
          </a:prstGeom>
          <a:noFill/>
          <a:ln/>
        </p:spPr>
        <p:txBody>
          <a:bodyPr wrap="square" rtlCol="0" anchor="ctr"/>
          <a:lstStyle/>
          <a:p>
            <a:pPr marL="0" indent="0" algn="ctr">
              <a:buNone/>
            </a:pPr>
            <a:r>
              <a:rPr lang="en-US" sz="1400" b="1" dirty="0">
                <a:solidFill>
                  <a:srgbClr val="27AE60"/>
                </a:solidFill>
                <a:latin typeface="Calibri" pitchFamily="34" charset="0"/>
                <a:ea typeface="Calibri" pitchFamily="34" charset="-122"/>
                <a:cs typeface="Calibri" pitchFamily="34" charset="-120"/>
              </a:rPr>
              <a:t>f(x) = 1/(1+e⁻ˣ)</a:t>
            </a:r>
            <a:endParaRPr lang="en-US" sz="1400" dirty="0"/>
          </a:p>
        </p:txBody>
      </p:sp>
      <p:sp>
        <p:nvSpPr>
          <p:cNvPr id="17" name="Text 14"/>
          <p:cNvSpPr/>
          <p:nvPr/>
        </p:nvSpPr>
        <p:spPr>
          <a:xfrm>
            <a:off x="4480560" y="4069080"/>
            <a:ext cx="3200400" cy="2011680"/>
          </a:xfrm>
          <a:prstGeom prst="rect">
            <a:avLst/>
          </a:prstGeom>
          <a:noFill/>
          <a:ln/>
        </p:spPr>
        <p:txBody>
          <a:bodyPr wrap="square" rtlCol="0" anchor="t"/>
          <a:lstStyle/>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Compresse la sortie entre 0 et 1. Utile pour les probabilités (ex: est-ce un chat ? 0.95 = oui, 0.1 = non).</a:t>
            </a:r>
            <a:endParaRPr lang="en-US" sz="1400" dirty="0"/>
          </a:p>
        </p:txBody>
      </p:sp>
      <p:sp>
        <p:nvSpPr>
          <p:cNvPr id="18" name="Shape 15"/>
          <p:cNvSpPr/>
          <p:nvPr/>
        </p:nvSpPr>
        <p:spPr>
          <a:xfrm>
            <a:off x="8138160" y="3017520"/>
            <a:ext cx="3566160" cy="3291840"/>
          </a:xfrm>
          <a:prstGeom prst="rect">
            <a:avLst/>
          </a:prstGeom>
          <a:solidFill>
            <a:srgbClr val="FFFFFF"/>
          </a:solidFill>
          <a:ln w="19050">
            <a:solidFill>
              <a:srgbClr val="8E44AD"/>
            </a:solidFill>
            <a:prstDash val="solid"/>
          </a:ln>
          <a:effectLst>
            <a:outerShdw blurRad="50800" dist="25400" dir="2700000" algn="bl" rotWithShape="0">
              <a:srgbClr val="000000">
                <a:alpha val="15000"/>
              </a:srgbClr>
            </a:outerShdw>
          </a:effectLst>
        </p:spPr>
      </p:sp>
      <p:sp>
        <p:nvSpPr>
          <p:cNvPr id="19" name="Shape 16"/>
          <p:cNvSpPr/>
          <p:nvPr/>
        </p:nvSpPr>
        <p:spPr>
          <a:xfrm>
            <a:off x="8138160" y="3017520"/>
            <a:ext cx="3566160" cy="502920"/>
          </a:xfrm>
          <a:prstGeom prst="rect">
            <a:avLst/>
          </a:prstGeom>
          <a:solidFill>
            <a:srgbClr val="8E44AD"/>
          </a:solidFill>
          <a:ln/>
        </p:spPr>
      </p:sp>
      <p:sp>
        <p:nvSpPr>
          <p:cNvPr id="20" name="Text 17"/>
          <p:cNvSpPr/>
          <p:nvPr/>
        </p:nvSpPr>
        <p:spPr>
          <a:xfrm>
            <a:off x="8138160" y="3017520"/>
            <a:ext cx="3566160" cy="502920"/>
          </a:xfrm>
          <a:prstGeom prst="rect">
            <a:avLst/>
          </a:prstGeom>
          <a:noFill/>
          <a:ln/>
        </p:spPr>
        <p:txBody>
          <a:bodyPr wrap="square"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Softmax</a:t>
            </a:r>
            <a:endParaRPr lang="en-US" sz="1800" dirty="0"/>
          </a:p>
        </p:txBody>
      </p:sp>
      <p:sp>
        <p:nvSpPr>
          <p:cNvPr id="21" name="Text 18"/>
          <p:cNvSpPr/>
          <p:nvPr/>
        </p:nvSpPr>
        <p:spPr>
          <a:xfrm>
            <a:off x="8321040" y="3611880"/>
            <a:ext cx="3200400" cy="411480"/>
          </a:xfrm>
          <a:prstGeom prst="rect">
            <a:avLst/>
          </a:prstGeom>
          <a:noFill/>
          <a:ln/>
        </p:spPr>
        <p:txBody>
          <a:bodyPr wrap="square" rtlCol="0" anchor="ctr"/>
          <a:lstStyle/>
          <a:p>
            <a:pPr marL="0" indent="0" algn="ctr">
              <a:buNone/>
            </a:pPr>
            <a:r>
              <a:rPr lang="en-US" sz="1400" b="1" dirty="0">
                <a:solidFill>
                  <a:srgbClr val="8E44AD"/>
                </a:solidFill>
                <a:latin typeface="Calibri" pitchFamily="34" charset="0"/>
                <a:ea typeface="Calibri" pitchFamily="34" charset="-122"/>
                <a:cs typeface="Calibri" pitchFamily="34" charset="-120"/>
              </a:rPr>
              <a:t>Sortie = probabilités</a:t>
            </a:r>
            <a:endParaRPr lang="en-US" sz="1400" dirty="0"/>
          </a:p>
        </p:txBody>
      </p:sp>
      <p:sp>
        <p:nvSpPr>
          <p:cNvPr id="22" name="Text 19"/>
          <p:cNvSpPr/>
          <p:nvPr/>
        </p:nvSpPr>
        <p:spPr>
          <a:xfrm>
            <a:off x="8321040" y="4069080"/>
            <a:ext cx="3200400" cy="2011680"/>
          </a:xfrm>
          <a:prstGeom prst="rect">
            <a:avLst/>
          </a:prstGeom>
          <a:noFill/>
          <a:ln/>
        </p:spPr>
        <p:txBody>
          <a:bodyPr wrap="square" rtlCol="0" anchor="t"/>
          <a:lstStyle/>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Généralisation de Sigmoid pour plusieurs classes. Donne une probabilité pour chaque classe, et le total fait 1.</a:t>
            </a:r>
            <a:endParaRPr lang="en-US" sz="1400" dirty="0"/>
          </a:p>
        </p:txBody>
      </p:sp>
      <p:sp>
        <p:nvSpPr>
          <p:cNvPr id="25" name="Slide Number Placeholder 0"/>
          <p:cNvSpPr>
            <a:spLocks noGrp="1"/>
          </p:cNvSpPr>
          <p:nvPr>
            <p:ph type="sldNum" sz="quarter" idx="4294967295"/>
          </p:nvPr>
        </p:nvSpPr>
        <p:spPr>
          <a:xfrm>
            <a:off x="109728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A1A2E"/>
          </a:solidFill>
          <a:ln/>
        </p:spPr>
      </p:sp>
      <p:sp>
        <p:nvSpPr>
          <p:cNvPr id="3" name="Shape 1"/>
          <p:cNvSpPr/>
          <p:nvPr/>
        </p:nvSpPr>
        <p:spPr>
          <a:xfrm>
            <a:off x="0" y="960120"/>
            <a:ext cx="12188952" cy="54864"/>
          </a:xfrm>
          <a:prstGeom prst="rect">
            <a:avLst/>
          </a:prstGeom>
          <a:solidFill>
            <a:srgbClr val="E94560"/>
          </a:solidFill>
          <a:ln/>
        </p:spPr>
      </p:sp>
      <p:pic>
        <p:nvPicPr>
          <p:cNvPr id="4" name="Image 0" descr="/sessions/happy-hopeful-thompson/pptx-work/icons/network-white.png"/>
          <p:cNvPicPr>
            <a:picLocks noChangeAspect="1"/>
          </p:cNvPicPr>
          <p:nvPr/>
        </p:nvPicPr>
        <p:blipFill>
          <a:blip r:embed="rId3"/>
          <a:stretch>
            <a:fillRect/>
          </a:stretch>
        </p:blipFill>
        <p:spPr>
          <a:xfrm>
            <a:off x="365760" y="164592"/>
            <a:ext cx="594360" cy="594360"/>
          </a:xfrm>
          <a:prstGeom prst="rect">
            <a:avLst/>
          </a:prstGeom>
        </p:spPr>
      </p:pic>
      <p:sp>
        <p:nvSpPr>
          <p:cNvPr id="5" name="Text 2"/>
          <p:cNvSpPr/>
          <p:nvPr/>
        </p:nvSpPr>
        <p:spPr>
          <a:xfrm>
            <a:off x="1097280" y="91440"/>
            <a:ext cx="10515600" cy="8229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Architecture d'un Réseau de Neurones</a:t>
            </a:r>
            <a:endParaRPr lang="en-US" sz="2800" dirty="0"/>
          </a:p>
        </p:txBody>
      </p:sp>
      <p:sp>
        <p:nvSpPr>
          <p:cNvPr id="6" name="Shape 3"/>
          <p:cNvSpPr/>
          <p:nvPr/>
        </p:nvSpPr>
        <p:spPr>
          <a:xfrm>
            <a:off x="457200" y="1280160"/>
            <a:ext cx="11274552" cy="5303520"/>
          </a:xfrm>
          <a:prstGeom prst="rect">
            <a:avLst/>
          </a:prstGeom>
          <a:solidFill>
            <a:srgbClr val="FFFFFF"/>
          </a:solidFill>
          <a:ln/>
          <a:effectLst>
            <a:outerShdw blurRad="50800" dist="25400" dir="2700000" algn="bl" rotWithShape="0">
              <a:srgbClr val="000000">
                <a:alpha val="15000"/>
              </a:srgbClr>
            </a:outerShdw>
          </a:effectLst>
        </p:spPr>
      </p:sp>
      <p:sp>
        <p:nvSpPr>
          <p:cNvPr id="7" name="Shape 4"/>
          <p:cNvSpPr/>
          <p:nvPr/>
        </p:nvSpPr>
        <p:spPr>
          <a:xfrm>
            <a:off x="914400" y="1645920"/>
            <a:ext cx="2926080" cy="1828800"/>
          </a:xfrm>
          <a:prstGeom prst="rect">
            <a:avLst/>
          </a:prstGeom>
          <a:solidFill>
            <a:srgbClr val="2980B9"/>
          </a:solidFill>
          <a:ln/>
          <a:effectLst>
            <a:outerShdw blurRad="50800" dist="25400" dir="2700000" algn="bl" rotWithShape="0">
              <a:srgbClr val="000000">
                <a:alpha val="15000"/>
              </a:srgbClr>
            </a:outerShdw>
          </a:effectLst>
        </p:spPr>
      </p:sp>
      <p:sp>
        <p:nvSpPr>
          <p:cNvPr id="8" name="Text 5"/>
          <p:cNvSpPr/>
          <p:nvPr/>
        </p:nvSpPr>
        <p:spPr>
          <a:xfrm>
            <a:off x="914400" y="1737360"/>
            <a:ext cx="2926080" cy="548640"/>
          </a:xfrm>
          <a:prstGeom prst="rect">
            <a:avLst/>
          </a:prstGeom>
          <a:noFill/>
          <a:ln/>
        </p:spPr>
        <p:txBody>
          <a:bodyPr wrap="square"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Couche d'Entrée</a:t>
            </a:r>
            <a:endParaRPr lang="en-US" sz="1600" dirty="0"/>
          </a:p>
        </p:txBody>
      </p:sp>
      <p:sp>
        <p:nvSpPr>
          <p:cNvPr id="9" name="Text 6"/>
          <p:cNvSpPr/>
          <p:nvPr/>
        </p:nvSpPr>
        <p:spPr>
          <a:xfrm>
            <a:off x="1051560" y="2286000"/>
            <a:ext cx="2651760" cy="1097280"/>
          </a:xfrm>
          <a:prstGeom prst="rect">
            <a:avLst/>
          </a:prstGeom>
          <a:noFill/>
          <a:ln/>
        </p:spPr>
        <p:txBody>
          <a:bodyPr wrap="square" rtlCol="0" anchor="t"/>
          <a:lstStyle/>
          <a:p>
            <a:pPr marL="0" indent="0" algn="ctr">
              <a:buNone/>
            </a:pPr>
            <a:r>
              <a:rPr lang="en-US" sz="1400" dirty="0">
                <a:solidFill>
                  <a:srgbClr val="F0F0F0"/>
                </a:solidFill>
                <a:latin typeface="Calibri" pitchFamily="34" charset="0"/>
                <a:ea typeface="Calibri" pitchFamily="34" charset="-122"/>
                <a:cs typeface="Calibri" pitchFamily="34" charset="-120"/>
              </a:rPr>
              <a:t>Reçoit les données brutes</a:t>
            </a:r>
            <a:endParaRPr lang="en-US" sz="1400" dirty="0"/>
          </a:p>
          <a:p>
            <a:pPr marL="0" indent="0" algn="ctr">
              <a:buNone/>
            </a:pPr>
            <a:r>
              <a:rPr lang="en-US" sz="1400" dirty="0">
                <a:solidFill>
                  <a:srgbClr val="F0F0F0"/>
                </a:solidFill>
                <a:latin typeface="Calibri" pitchFamily="34" charset="0"/>
                <a:ea typeface="Calibri" pitchFamily="34" charset="-122"/>
                <a:cs typeface="Calibri" pitchFamily="34" charset="-120"/>
              </a:rPr>
              <a:t>(pixels, mots, nombres)</a:t>
            </a:r>
            <a:endParaRPr lang="en-US" sz="1400" dirty="0"/>
          </a:p>
        </p:txBody>
      </p:sp>
      <p:sp>
        <p:nvSpPr>
          <p:cNvPr id="10" name="Shape 7"/>
          <p:cNvSpPr/>
          <p:nvPr/>
        </p:nvSpPr>
        <p:spPr>
          <a:xfrm>
            <a:off x="4206240" y="1645920"/>
            <a:ext cx="2926080" cy="1828800"/>
          </a:xfrm>
          <a:prstGeom prst="rect">
            <a:avLst/>
          </a:prstGeom>
          <a:solidFill>
            <a:srgbClr val="0F3460"/>
          </a:solidFill>
          <a:ln/>
          <a:effectLst>
            <a:outerShdw blurRad="50800" dist="25400" dir="2700000" algn="bl" rotWithShape="0">
              <a:srgbClr val="000000">
                <a:alpha val="15000"/>
              </a:srgbClr>
            </a:outerShdw>
          </a:effectLst>
        </p:spPr>
      </p:sp>
      <p:sp>
        <p:nvSpPr>
          <p:cNvPr id="11" name="Text 8"/>
          <p:cNvSpPr/>
          <p:nvPr/>
        </p:nvSpPr>
        <p:spPr>
          <a:xfrm>
            <a:off x="4206240" y="1737360"/>
            <a:ext cx="2926080" cy="548640"/>
          </a:xfrm>
          <a:prstGeom prst="rect">
            <a:avLst/>
          </a:prstGeom>
          <a:noFill/>
          <a:ln/>
        </p:spPr>
        <p:txBody>
          <a:bodyPr wrap="square"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Couches Cachées</a:t>
            </a:r>
            <a:endParaRPr lang="en-US" sz="1600" dirty="0"/>
          </a:p>
        </p:txBody>
      </p:sp>
      <p:sp>
        <p:nvSpPr>
          <p:cNvPr id="12" name="Text 9"/>
          <p:cNvSpPr/>
          <p:nvPr/>
        </p:nvSpPr>
        <p:spPr>
          <a:xfrm>
            <a:off x="4343400" y="2286000"/>
            <a:ext cx="2651760" cy="1097280"/>
          </a:xfrm>
          <a:prstGeom prst="rect">
            <a:avLst/>
          </a:prstGeom>
          <a:noFill/>
          <a:ln/>
        </p:spPr>
        <p:txBody>
          <a:bodyPr wrap="square" rtlCol="0" anchor="t"/>
          <a:lstStyle/>
          <a:p>
            <a:pPr marL="0" indent="0" algn="ctr">
              <a:buNone/>
            </a:pPr>
            <a:r>
              <a:rPr lang="en-US" sz="1400" dirty="0">
                <a:solidFill>
                  <a:srgbClr val="F0F0F0"/>
                </a:solidFill>
                <a:latin typeface="Calibri" pitchFamily="34" charset="0"/>
                <a:ea typeface="Calibri" pitchFamily="34" charset="-122"/>
                <a:cs typeface="Calibri" pitchFamily="34" charset="-120"/>
              </a:rPr>
              <a:t>Extraient des patterns de</a:t>
            </a:r>
            <a:endParaRPr lang="en-US" sz="1400" dirty="0"/>
          </a:p>
          <a:p>
            <a:pPr marL="0" indent="0" algn="ctr">
              <a:buNone/>
            </a:pPr>
            <a:r>
              <a:rPr lang="en-US" sz="1400" dirty="0">
                <a:solidFill>
                  <a:srgbClr val="F0F0F0"/>
                </a:solidFill>
                <a:latin typeface="Calibri" pitchFamily="34" charset="0"/>
                <a:ea typeface="Calibri" pitchFamily="34" charset="-122"/>
                <a:cs typeface="Calibri" pitchFamily="34" charset="-120"/>
              </a:rPr>
              <a:t>plus en plus complexes</a:t>
            </a:r>
            <a:endParaRPr lang="en-US" sz="1400" dirty="0"/>
          </a:p>
        </p:txBody>
      </p:sp>
      <p:sp>
        <p:nvSpPr>
          <p:cNvPr id="13" name="Shape 10"/>
          <p:cNvSpPr/>
          <p:nvPr/>
        </p:nvSpPr>
        <p:spPr>
          <a:xfrm>
            <a:off x="7498080" y="1645920"/>
            <a:ext cx="2926080" cy="1828800"/>
          </a:xfrm>
          <a:prstGeom prst="rect">
            <a:avLst/>
          </a:prstGeom>
          <a:solidFill>
            <a:srgbClr val="27AE60"/>
          </a:solidFill>
          <a:ln/>
          <a:effectLst>
            <a:outerShdw blurRad="50800" dist="25400" dir="2700000" algn="bl" rotWithShape="0">
              <a:srgbClr val="000000">
                <a:alpha val="15000"/>
              </a:srgbClr>
            </a:outerShdw>
          </a:effectLst>
        </p:spPr>
      </p:sp>
      <p:sp>
        <p:nvSpPr>
          <p:cNvPr id="14" name="Text 11"/>
          <p:cNvSpPr/>
          <p:nvPr/>
        </p:nvSpPr>
        <p:spPr>
          <a:xfrm>
            <a:off x="7498080" y="1737360"/>
            <a:ext cx="2926080" cy="548640"/>
          </a:xfrm>
          <a:prstGeom prst="rect">
            <a:avLst/>
          </a:prstGeom>
          <a:noFill/>
          <a:ln/>
        </p:spPr>
        <p:txBody>
          <a:bodyPr wrap="square"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Couche de Sortie</a:t>
            </a:r>
            <a:endParaRPr lang="en-US" sz="1600" dirty="0"/>
          </a:p>
        </p:txBody>
      </p:sp>
      <p:sp>
        <p:nvSpPr>
          <p:cNvPr id="15" name="Text 12"/>
          <p:cNvSpPr/>
          <p:nvPr/>
        </p:nvSpPr>
        <p:spPr>
          <a:xfrm>
            <a:off x="7635240" y="2286000"/>
            <a:ext cx="2651760" cy="1097280"/>
          </a:xfrm>
          <a:prstGeom prst="rect">
            <a:avLst/>
          </a:prstGeom>
          <a:noFill/>
          <a:ln/>
        </p:spPr>
        <p:txBody>
          <a:bodyPr wrap="square" rtlCol="0" anchor="t"/>
          <a:lstStyle/>
          <a:p>
            <a:pPr marL="0" indent="0" algn="ctr">
              <a:buNone/>
            </a:pPr>
            <a:r>
              <a:rPr lang="en-US" sz="1400" dirty="0">
                <a:solidFill>
                  <a:srgbClr val="F0F0F0"/>
                </a:solidFill>
                <a:latin typeface="Calibri" pitchFamily="34" charset="0"/>
                <a:ea typeface="Calibri" pitchFamily="34" charset="-122"/>
                <a:cs typeface="Calibri" pitchFamily="34" charset="-120"/>
              </a:rPr>
              <a:t>Donne la prédiction finale</a:t>
            </a:r>
            <a:endParaRPr lang="en-US" sz="1400" dirty="0"/>
          </a:p>
          <a:p>
            <a:pPr marL="0" indent="0" algn="ctr">
              <a:buNone/>
            </a:pPr>
            <a:r>
              <a:rPr lang="en-US" sz="1400" dirty="0">
                <a:solidFill>
                  <a:srgbClr val="F0F0F0"/>
                </a:solidFill>
                <a:latin typeface="Calibri" pitchFamily="34" charset="0"/>
                <a:ea typeface="Calibri" pitchFamily="34" charset="-122"/>
                <a:cs typeface="Calibri" pitchFamily="34" charset="-120"/>
              </a:rPr>
              <a:t>(classe, probabilité, texte)</a:t>
            </a:r>
            <a:endParaRPr lang="en-US" sz="1400" dirty="0"/>
          </a:p>
        </p:txBody>
      </p:sp>
      <p:sp>
        <p:nvSpPr>
          <p:cNvPr id="16" name="Shape 13"/>
          <p:cNvSpPr/>
          <p:nvPr/>
        </p:nvSpPr>
        <p:spPr>
          <a:xfrm>
            <a:off x="3886200" y="2377440"/>
            <a:ext cx="320040" cy="54864"/>
          </a:xfrm>
          <a:prstGeom prst="rect">
            <a:avLst/>
          </a:prstGeom>
          <a:solidFill>
            <a:srgbClr val="E94560"/>
          </a:solidFill>
          <a:ln/>
        </p:spPr>
      </p:sp>
      <p:sp>
        <p:nvSpPr>
          <p:cNvPr id="17" name="Shape 14"/>
          <p:cNvSpPr/>
          <p:nvPr/>
        </p:nvSpPr>
        <p:spPr>
          <a:xfrm>
            <a:off x="7178040" y="2377440"/>
            <a:ext cx="320040" cy="54864"/>
          </a:xfrm>
          <a:prstGeom prst="rect">
            <a:avLst/>
          </a:prstGeom>
          <a:solidFill>
            <a:srgbClr val="E94560"/>
          </a:solidFill>
          <a:ln/>
        </p:spPr>
      </p:sp>
      <p:sp>
        <p:nvSpPr>
          <p:cNvPr id="18" name="Text 15"/>
          <p:cNvSpPr/>
          <p:nvPr/>
        </p:nvSpPr>
        <p:spPr>
          <a:xfrm>
            <a:off x="914400" y="3749040"/>
            <a:ext cx="9601200" cy="822960"/>
          </a:xfrm>
          <a:prstGeom prst="rect">
            <a:avLst/>
          </a:prstGeom>
          <a:noFill/>
          <a:ln/>
        </p:spPr>
        <p:txBody>
          <a:bodyPr wrap="square" rtlCol="0" anchor="t"/>
          <a:lstStyle/>
          <a:p>
            <a:pPr marL="0" indent="0">
              <a:lnSpc>
                <a:spcPct val="120000"/>
              </a:lnSpc>
              <a:buNone/>
            </a:pPr>
            <a:r>
              <a:rPr lang="en-US" sz="1500" dirty="0">
                <a:solidFill>
                  <a:srgbClr val="333333"/>
                </a:solidFill>
                <a:latin typeface="Calibri" pitchFamily="34" charset="0"/>
                <a:ea typeface="Calibri" pitchFamily="34" charset="-122"/>
                <a:cs typeface="Calibri" pitchFamily="34" charset="-120"/>
              </a:rPr>
              <a:t>Pourquoi « profond » (Deep) ? Parce qu'il y a plusieurs couches cachées empilées. Plus il y a de couches, plus le réseau peut apprendre des concepts abstraits. Par exemple : pixels → contours → formes → visages.</a:t>
            </a:r>
            <a:endParaRPr lang="en-US" sz="1500" dirty="0"/>
          </a:p>
        </p:txBody>
      </p:sp>
      <p:sp>
        <p:nvSpPr>
          <p:cNvPr id="19" name="Text 16"/>
          <p:cNvSpPr/>
          <p:nvPr/>
        </p:nvSpPr>
        <p:spPr>
          <a:xfrm>
            <a:off x="914400" y="4754880"/>
            <a:ext cx="9601200" cy="548640"/>
          </a:xfrm>
          <a:prstGeom prst="rect">
            <a:avLst/>
          </a:prstGeom>
          <a:noFill/>
          <a:ln/>
        </p:spPr>
        <p:txBody>
          <a:bodyPr wrap="square" rtlCol="0" anchor="t"/>
          <a:lstStyle/>
          <a:p>
            <a:pPr marL="0" indent="0">
              <a:buNone/>
            </a:pPr>
            <a:r>
              <a:rPr lang="en-US" sz="1500" i="1" dirty="0">
                <a:solidFill>
                  <a:srgbClr val="666666"/>
                </a:solidFill>
                <a:latin typeface="Calibri" pitchFamily="34" charset="0"/>
                <a:ea typeface="Calibri" pitchFamily="34" charset="-122"/>
                <a:cs typeface="Calibri" pitchFamily="34" charset="-120"/>
              </a:rPr>
              <a:t>En pratique : un réseau « shallow » a 1-2 couches cachées, un réseau « deep » en a des dizaines voire des centaines (ResNet en a 152 !).</a:t>
            </a:r>
            <a:endParaRPr lang="en-US" sz="1500" dirty="0"/>
          </a:p>
        </p:txBody>
      </p:sp>
      <p:sp>
        <p:nvSpPr>
          <p:cNvPr id="20" name="Shape 17"/>
          <p:cNvSpPr/>
          <p:nvPr/>
        </p:nvSpPr>
        <p:spPr>
          <a:xfrm>
            <a:off x="914400" y="5486400"/>
            <a:ext cx="9601200" cy="914400"/>
          </a:xfrm>
          <a:prstGeom prst="rect">
            <a:avLst/>
          </a:prstGeom>
          <a:solidFill>
            <a:srgbClr val="1A1A2E"/>
          </a:solidFill>
          <a:ln/>
          <a:effectLst>
            <a:outerShdw blurRad="50800" dist="25400" dir="2700000" algn="bl" rotWithShape="0">
              <a:srgbClr val="000000">
                <a:alpha val="15000"/>
              </a:srgbClr>
            </a:outerShdw>
          </a:effectLst>
        </p:spPr>
      </p:sp>
      <p:sp>
        <p:nvSpPr>
          <p:cNvPr id="21" name="Text 18"/>
          <p:cNvSpPr/>
          <p:nvPr/>
        </p:nvSpPr>
        <p:spPr>
          <a:xfrm>
            <a:off x="1097280" y="5532120"/>
            <a:ext cx="9235440" cy="822960"/>
          </a:xfrm>
          <a:prstGeom prst="rect">
            <a:avLst/>
          </a:prstGeom>
          <a:noFill/>
          <a:ln/>
        </p:spPr>
        <p:txBody>
          <a:bodyPr wrap="square" rtlCol="0" anchor="ctr"/>
          <a:lstStyle/>
          <a:p>
            <a:pPr marL="0" indent="0">
              <a:buNone/>
            </a:pPr>
            <a:r>
              <a:rPr lang="en-US" sz="1400" dirty="0">
                <a:solidFill>
                  <a:srgbClr val="F0F0F0"/>
                </a:solidFill>
                <a:latin typeface="Calibri" pitchFamily="34" charset="0"/>
                <a:ea typeface="Calibri" pitchFamily="34" charset="-122"/>
                <a:cs typeface="Calibri" pitchFamily="34" charset="-120"/>
              </a:rPr>
              <a:t>Point clé : En tant que développeur, vous n'allez pas coder chaque neurone. Les frameworks (TensorFlow, PyTorch) fournissent des couches pré-construites que vous empilez comme des briques LEGO.</a:t>
            </a:r>
            <a:endParaRPr lang="en-US" sz="1400" dirty="0"/>
          </a:p>
        </p:txBody>
      </p:sp>
      <p:sp>
        <p:nvSpPr>
          <p:cNvPr id="25" name="Slide Number Placeholder 0"/>
          <p:cNvSpPr>
            <a:spLocks noGrp="1"/>
          </p:cNvSpPr>
          <p:nvPr>
            <p:ph type="sldNum" sz="quarter" idx="4294967295"/>
          </p:nvPr>
        </p:nvSpPr>
        <p:spPr>
          <a:xfrm>
            <a:off x="109728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A1A2E"/>
          </a:solidFill>
          <a:ln/>
        </p:spPr>
      </p:sp>
      <p:sp>
        <p:nvSpPr>
          <p:cNvPr id="3" name="Shape 1"/>
          <p:cNvSpPr/>
          <p:nvPr/>
        </p:nvSpPr>
        <p:spPr>
          <a:xfrm>
            <a:off x="0" y="960120"/>
            <a:ext cx="12188952" cy="54864"/>
          </a:xfrm>
          <a:prstGeom prst="rect">
            <a:avLst/>
          </a:prstGeom>
          <a:solidFill>
            <a:srgbClr val="E94560"/>
          </a:solidFill>
          <a:ln/>
        </p:spPr>
      </p:sp>
      <p:pic>
        <p:nvPicPr>
          <p:cNvPr id="4" name="Image 0" descr="/sessions/happy-hopeful-thompson/pptx-work/icons/sync-white.png"/>
          <p:cNvPicPr>
            <a:picLocks noChangeAspect="1"/>
          </p:cNvPicPr>
          <p:nvPr/>
        </p:nvPicPr>
        <p:blipFill>
          <a:blip r:embed="rId3"/>
          <a:stretch>
            <a:fillRect/>
          </a:stretch>
        </p:blipFill>
        <p:spPr>
          <a:xfrm>
            <a:off x="365760" y="164592"/>
            <a:ext cx="594360" cy="594360"/>
          </a:xfrm>
          <a:prstGeom prst="rect">
            <a:avLst/>
          </a:prstGeom>
        </p:spPr>
      </p:pic>
      <p:sp>
        <p:nvSpPr>
          <p:cNvPr id="5" name="Text 2"/>
          <p:cNvSpPr/>
          <p:nvPr/>
        </p:nvSpPr>
        <p:spPr>
          <a:xfrm>
            <a:off x="1097280" y="91440"/>
            <a:ext cx="10515600" cy="8229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Comment un Réseau Apprend ?</a:t>
            </a:r>
            <a:endParaRPr lang="en-US" sz="2800" dirty="0"/>
          </a:p>
        </p:txBody>
      </p:sp>
      <p:sp>
        <p:nvSpPr>
          <p:cNvPr id="6" name="Shape 3"/>
          <p:cNvSpPr/>
          <p:nvPr/>
        </p:nvSpPr>
        <p:spPr>
          <a:xfrm>
            <a:off x="457200" y="1280160"/>
            <a:ext cx="11274552" cy="5303520"/>
          </a:xfrm>
          <a:prstGeom prst="rect">
            <a:avLst/>
          </a:prstGeom>
          <a:solidFill>
            <a:srgbClr val="FFFFFF"/>
          </a:solidFill>
          <a:ln/>
          <a:effectLst>
            <a:outerShdw blurRad="50800" dist="25400" dir="2700000" algn="bl" rotWithShape="0">
              <a:srgbClr val="000000">
                <a:alpha val="15000"/>
              </a:srgbClr>
            </a:outerShdw>
          </a:effectLst>
        </p:spPr>
      </p:sp>
      <p:sp>
        <p:nvSpPr>
          <p:cNvPr id="7" name="Text 4"/>
          <p:cNvSpPr/>
          <p:nvPr/>
        </p:nvSpPr>
        <p:spPr>
          <a:xfrm>
            <a:off x="731520" y="1371600"/>
            <a:ext cx="10698480" cy="457200"/>
          </a:xfrm>
          <a:prstGeom prst="rect">
            <a:avLst/>
          </a:prstGeom>
          <a:noFill/>
          <a:ln/>
        </p:spPr>
        <p:txBody>
          <a:bodyPr wrap="square" rtlCol="0" anchor="ctr"/>
          <a:lstStyle/>
          <a:p>
            <a:pPr marL="0" indent="0">
              <a:buNone/>
            </a:pPr>
            <a:r>
              <a:rPr lang="en-US" sz="2000" b="1" dirty="0">
                <a:solidFill>
                  <a:srgbClr val="1A1A2E"/>
                </a:solidFill>
                <a:latin typeface="Trebuchet MS" pitchFamily="34" charset="0"/>
                <a:ea typeface="Trebuchet MS" pitchFamily="34" charset="-122"/>
                <a:cs typeface="Trebuchet MS" pitchFamily="34" charset="-120"/>
              </a:rPr>
              <a:t>L'apprentissage en 4 étapes simples :</a:t>
            </a:r>
            <a:endParaRPr lang="en-US" sz="2000" dirty="0"/>
          </a:p>
        </p:txBody>
      </p:sp>
      <p:sp>
        <p:nvSpPr>
          <p:cNvPr id="8" name="Shape 5"/>
          <p:cNvSpPr/>
          <p:nvPr/>
        </p:nvSpPr>
        <p:spPr>
          <a:xfrm>
            <a:off x="914400" y="2011680"/>
            <a:ext cx="548640" cy="548640"/>
          </a:xfrm>
          <a:prstGeom prst="ellipse">
            <a:avLst/>
          </a:prstGeom>
          <a:solidFill>
            <a:srgbClr val="2980B9"/>
          </a:solidFill>
          <a:ln/>
        </p:spPr>
      </p:sp>
      <p:sp>
        <p:nvSpPr>
          <p:cNvPr id="9" name="Text 6"/>
          <p:cNvSpPr/>
          <p:nvPr/>
        </p:nvSpPr>
        <p:spPr>
          <a:xfrm>
            <a:off x="914400" y="2011680"/>
            <a:ext cx="548640" cy="548640"/>
          </a:xfrm>
          <a:prstGeom prst="rect">
            <a:avLst/>
          </a:prstGeom>
          <a:noFill/>
          <a:ln/>
        </p:spPr>
        <p:txBody>
          <a:bodyPr wrap="square"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1</a:t>
            </a:r>
            <a:endParaRPr lang="en-US" sz="2000" dirty="0"/>
          </a:p>
        </p:txBody>
      </p:sp>
      <p:sp>
        <p:nvSpPr>
          <p:cNvPr id="10" name="Text 7"/>
          <p:cNvSpPr/>
          <p:nvPr/>
        </p:nvSpPr>
        <p:spPr>
          <a:xfrm>
            <a:off x="1645920" y="2011680"/>
            <a:ext cx="3200400" cy="548640"/>
          </a:xfrm>
          <a:prstGeom prst="rect">
            <a:avLst/>
          </a:prstGeom>
          <a:noFill/>
          <a:ln/>
        </p:spPr>
        <p:txBody>
          <a:bodyPr wrap="square" rtlCol="0" anchor="ctr"/>
          <a:lstStyle/>
          <a:p>
            <a:pPr marL="0" indent="0">
              <a:buNone/>
            </a:pPr>
            <a:r>
              <a:rPr lang="en-US" sz="1600" b="1" dirty="0">
                <a:solidFill>
                  <a:srgbClr val="2980B9"/>
                </a:solidFill>
                <a:latin typeface="Trebuchet MS" pitchFamily="34" charset="0"/>
                <a:ea typeface="Trebuchet MS" pitchFamily="34" charset="-122"/>
                <a:cs typeface="Trebuchet MS" pitchFamily="34" charset="-120"/>
              </a:rPr>
              <a:t>Prédiction (Forward)</a:t>
            </a:r>
            <a:endParaRPr lang="en-US" sz="1600" dirty="0"/>
          </a:p>
        </p:txBody>
      </p:sp>
      <p:sp>
        <p:nvSpPr>
          <p:cNvPr id="11" name="Text 8"/>
          <p:cNvSpPr/>
          <p:nvPr/>
        </p:nvSpPr>
        <p:spPr>
          <a:xfrm>
            <a:off x="4846320" y="2011680"/>
            <a:ext cx="6400800" cy="548640"/>
          </a:xfrm>
          <a:prstGeom prst="rect">
            <a:avLst/>
          </a:prstGeom>
          <a:noFill/>
          <a:ln/>
        </p:spPr>
        <p:txBody>
          <a:bodyPr wrap="square" rtlCol="0" anchor="ctr"/>
          <a:lstStyle/>
          <a:p>
            <a:pPr marL="0" indent="0">
              <a:buNone/>
            </a:pPr>
            <a:r>
              <a:rPr lang="en-US" sz="1400" dirty="0">
                <a:solidFill>
                  <a:srgbClr val="333333"/>
                </a:solidFill>
                <a:latin typeface="Calibri" pitchFamily="34" charset="0"/>
                <a:ea typeface="Calibri" pitchFamily="34" charset="-122"/>
                <a:cs typeface="Calibri" pitchFamily="34" charset="-120"/>
              </a:rPr>
              <a:t>Les données traversent le réseau → il fait une prédiction (souvent fausse au début)</a:t>
            </a:r>
            <a:endParaRPr lang="en-US" sz="1400" dirty="0"/>
          </a:p>
        </p:txBody>
      </p:sp>
      <p:sp>
        <p:nvSpPr>
          <p:cNvPr id="12" name="Shape 9"/>
          <p:cNvSpPr/>
          <p:nvPr/>
        </p:nvSpPr>
        <p:spPr>
          <a:xfrm>
            <a:off x="914400" y="3108960"/>
            <a:ext cx="548640" cy="548640"/>
          </a:xfrm>
          <a:prstGeom prst="ellipse">
            <a:avLst/>
          </a:prstGeom>
          <a:solidFill>
            <a:srgbClr val="E67E22"/>
          </a:solidFill>
          <a:ln/>
        </p:spPr>
      </p:sp>
      <p:sp>
        <p:nvSpPr>
          <p:cNvPr id="13" name="Text 10"/>
          <p:cNvSpPr/>
          <p:nvPr/>
        </p:nvSpPr>
        <p:spPr>
          <a:xfrm>
            <a:off x="914400" y="3108960"/>
            <a:ext cx="548640" cy="548640"/>
          </a:xfrm>
          <a:prstGeom prst="rect">
            <a:avLst/>
          </a:prstGeom>
          <a:noFill/>
          <a:ln/>
        </p:spPr>
        <p:txBody>
          <a:bodyPr wrap="square"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2</a:t>
            </a:r>
            <a:endParaRPr lang="en-US" sz="2000" dirty="0"/>
          </a:p>
        </p:txBody>
      </p:sp>
      <p:sp>
        <p:nvSpPr>
          <p:cNvPr id="14" name="Text 11"/>
          <p:cNvSpPr/>
          <p:nvPr/>
        </p:nvSpPr>
        <p:spPr>
          <a:xfrm>
            <a:off x="1645920" y="3108960"/>
            <a:ext cx="3200400" cy="548640"/>
          </a:xfrm>
          <a:prstGeom prst="rect">
            <a:avLst/>
          </a:prstGeom>
          <a:noFill/>
          <a:ln/>
        </p:spPr>
        <p:txBody>
          <a:bodyPr wrap="square" rtlCol="0" anchor="ctr"/>
          <a:lstStyle/>
          <a:p>
            <a:pPr marL="0" indent="0">
              <a:buNone/>
            </a:pPr>
            <a:r>
              <a:rPr lang="en-US" sz="1600" b="1" dirty="0">
                <a:solidFill>
                  <a:srgbClr val="E67E22"/>
                </a:solidFill>
                <a:latin typeface="Trebuchet MS" pitchFamily="34" charset="0"/>
                <a:ea typeface="Trebuchet MS" pitchFamily="34" charset="-122"/>
                <a:cs typeface="Trebuchet MS" pitchFamily="34" charset="-120"/>
              </a:rPr>
              <a:t>Calcul de l'erreur (Loss)</a:t>
            </a:r>
            <a:endParaRPr lang="en-US" sz="1600" dirty="0"/>
          </a:p>
        </p:txBody>
      </p:sp>
      <p:sp>
        <p:nvSpPr>
          <p:cNvPr id="15" name="Text 12"/>
          <p:cNvSpPr/>
          <p:nvPr/>
        </p:nvSpPr>
        <p:spPr>
          <a:xfrm>
            <a:off x="4846320" y="3108960"/>
            <a:ext cx="6400800" cy="548640"/>
          </a:xfrm>
          <a:prstGeom prst="rect">
            <a:avLst/>
          </a:prstGeom>
          <a:noFill/>
          <a:ln/>
        </p:spPr>
        <p:txBody>
          <a:bodyPr wrap="square" rtlCol="0" anchor="ctr"/>
          <a:lstStyle/>
          <a:p>
            <a:pPr marL="0" indent="0">
              <a:buNone/>
            </a:pPr>
            <a:r>
              <a:rPr lang="en-US" sz="1400" dirty="0">
                <a:solidFill>
                  <a:srgbClr val="333333"/>
                </a:solidFill>
                <a:latin typeface="Calibri" pitchFamily="34" charset="0"/>
                <a:ea typeface="Calibri" pitchFamily="34" charset="-122"/>
                <a:cs typeface="Calibri" pitchFamily="34" charset="-120"/>
              </a:rPr>
              <a:t>On compare la prédiction avec la vraie réponse → on mesure l'écart (la « loss »)</a:t>
            </a:r>
            <a:endParaRPr lang="en-US" sz="1400" dirty="0"/>
          </a:p>
        </p:txBody>
      </p:sp>
      <p:sp>
        <p:nvSpPr>
          <p:cNvPr id="16" name="Shape 13"/>
          <p:cNvSpPr/>
          <p:nvPr/>
        </p:nvSpPr>
        <p:spPr>
          <a:xfrm>
            <a:off x="914400" y="4206240"/>
            <a:ext cx="548640" cy="548640"/>
          </a:xfrm>
          <a:prstGeom prst="ellipse">
            <a:avLst/>
          </a:prstGeom>
          <a:solidFill>
            <a:srgbClr val="E94560"/>
          </a:solidFill>
          <a:ln/>
        </p:spPr>
      </p:sp>
      <p:sp>
        <p:nvSpPr>
          <p:cNvPr id="17" name="Text 14"/>
          <p:cNvSpPr/>
          <p:nvPr/>
        </p:nvSpPr>
        <p:spPr>
          <a:xfrm>
            <a:off x="914400" y="4206240"/>
            <a:ext cx="548640" cy="548640"/>
          </a:xfrm>
          <a:prstGeom prst="rect">
            <a:avLst/>
          </a:prstGeom>
          <a:noFill/>
          <a:ln/>
        </p:spPr>
        <p:txBody>
          <a:bodyPr wrap="square"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3</a:t>
            </a:r>
            <a:endParaRPr lang="en-US" sz="2000" dirty="0"/>
          </a:p>
        </p:txBody>
      </p:sp>
      <p:sp>
        <p:nvSpPr>
          <p:cNvPr id="18" name="Text 15"/>
          <p:cNvSpPr/>
          <p:nvPr/>
        </p:nvSpPr>
        <p:spPr>
          <a:xfrm>
            <a:off x="1645920" y="4206240"/>
            <a:ext cx="3200400" cy="548640"/>
          </a:xfrm>
          <a:prstGeom prst="rect">
            <a:avLst/>
          </a:prstGeom>
          <a:noFill/>
          <a:ln/>
        </p:spPr>
        <p:txBody>
          <a:bodyPr wrap="square" rtlCol="0" anchor="ctr"/>
          <a:lstStyle/>
          <a:p>
            <a:pPr marL="0" indent="0">
              <a:buNone/>
            </a:pPr>
            <a:r>
              <a:rPr lang="en-US" sz="1600" b="1" dirty="0">
                <a:solidFill>
                  <a:srgbClr val="E94560"/>
                </a:solidFill>
                <a:latin typeface="Trebuchet MS" pitchFamily="34" charset="0"/>
                <a:ea typeface="Trebuchet MS" pitchFamily="34" charset="-122"/>
                <a:cs typeface="Trebuchet MS" pitchFamily="34" charset="-120"/>
              </a:rPr>
              <a:t>Rétropropagation (Backprop)</a:t>
            </a:r>
            <a:endParaRPr lang="en-US" sz="1600" dirty="0"/>
          </a:p>
        </p:txBody>
      </p:sp>
      <p:sp>
        <p:nvSpPr>
          <p:cNvPr id="19" name="Text 16"/>
          <p:cNvSpPr/>
          <p:nvPr/>
        </p:nvSpPr>
        <p:spPr>
          <a:xfrm>
            <a:off x="4846320" y="4206240"/>
            <a:ext cx="6400800" cy="548640"/>
          </a:xfrm>
          <a:prstGeom prst="rect">
            <a:avLst/>
          </a:prstGeom>
          <a:noFill/>
          <a:ln/>
        </p:spPr>
        <p:txBody>
          <a:bodyPr wrap="square" rtlCol="0" anchor="ctr"/>
          <a:lstStyle/>
          <a:p>
            <a:pPr marL="0" indent="0">
              <a:buNone/>
            </a:pPr>
            <a:r>
              <a:rPr lang="en-US" sz="1400" dirty="0">
                <a:solidFill>
                  <a:srgbClr val="333333"/>
                </a:solidFill>
                <a:latin typeface="Calibri" pitchFamily="34" charset="0"/>
                <a:ea typeface="Calibri" pitchFamily="34" charset="-122"/>
                <a:cs typeface="Calibri" pitchFamily="34" charset="-120"/>
              </a:rPr>
              <a:t>On calcule combien chaque poids a contribué à l'erreur → on remonte l'information</a:t>
            </a:r>
            <a:endParaRPr lang="en-US" sz="1400" dirty="0"/>
          </a:p>
        </p:txBody>
      </p:sp>
      <p:sp>
        <p:nvSpPr>
          <p:cNvPr id="20" name="Shape 17"/>
          <p:cNvSpPr/>
          <p:nvPr/>
        </p:nvSpPr>
        <p:spPr>
          <a:xfrm>
            <a:off x="914400" y="5303520"/>
            <a:ext cx="548640" cy="548640"/>
          </a:xfrm>
          <a:prstGeom prst="ellipse">
            <a:avLst/>
          </a:prstGeom>
          <a:solidFill>
            <a:srgbClr val="27AE60"/>
          </a:solidFill>
          <a:ln/>
        </p:spPr>
      </p:sp>
      <p:sp>
        <p:nvSpPr>
          <p:cNvPr id="21" name="Text 18"/>
          <p:cNvSpPr/>
          <p:nvPr/>
        </p:nvSpPr>
        <p:spPr>
          <a:xfrm>
            <a:off x="914400" y="5303520"/>
            <a:ext cx="548640" cy="548640"/>
          </a:xfrm>
          <a:prstGeom prst="rect">
            <a:avLst/>
          </a:prstGeom>
          <a:noFill/>
          <a:ln/>
        </p:spPr>
        <p:txBody>
          <a:bodyPr wrap="square"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4</a:t>
            </a:r>
            <a:endParaRPr lang="en-US" sz="2000" dirty="0"/>
          </a:p>
        </p:txBody>
      </p:sp>
      <p:sp>
        <p:nvSpPr>
          <p:cNvPr id="22" name="Text 19"/>
          <p:cNvSpPr/>
          <p:nvPr/>
        </p:nvSpPr>
        <p:spPr>
          <a:xfrm>
            <a:off x="1645920" y="5303520"/>
            <a:ext cx="3200400" cy="548640"/>
          </a:xfrm>
          <a:prstGeom prst="rect">
            <a:avLst/>
          </a:prstGeom>
          <a:noFill/>
          <a:ln/>
        </p:spPr>
        <p:txBody>
          <a:bodyPr wrap="square" rtlCol="0" anchor="ctr"/>
          <a:lstStyle/>
          <a:p>
            <a:pPr marL="0" indent="0">
              <a:buNone/>
            </a:pPr>
            <a:r>
              <a:rPr lang="en-US" sz="1600" b="1" dirty="0">
                <a:solidFill>
                  <a:srgbClr val="27AE60"/>
                </a:solidFill>
                <a:latin typeface="Trebuchet MS" pitchFamily="34" charset="0"/>
                <a:ea typeface="Trebuchet MS" pitchFamily="34" charset="-122"/>
                <a:cs typeface="Trebuchet MS" pitchFamily="34" charset="-120"/>
              </a:rPr>
              <a:t>Mise à jour (Optimizer)</a:t>
            </a:r>
            <a:endParaRPr lang="en-US" sz="1600" dirty="0"/>
          </a:p>
        </p:txBody>
      </p:sp>
      <p:sp>
        <p:nvSpPr>
          <p:cNvPr id="23" name="Text 20"/>
          <p:cNvSpPr/>
          <p:nvPr/>
        </p:nvSpPr>
        <p:spPr>
          <a:xfrm>
            <a:off x="4846320" y="5303520"/>
            <a:ext cx="6400800" cy="548640"/>
          </a:xfrm>
          <a:prstGeom prst="rect">
            <a:avLst/>
          </a:prstGeom>
          <a:noFill/>
          <a:ln/>
        </p:spPr>
        <p:txBody>
          <a:bodyPr wrap="square" rtlCol="0" anchor="ctr"/>
          <a:lstStyle/>
          <a:p>
            <a:pPr marL="0" indent="0">
              <a:buNone/>
            </a:pPr>
            <a:r>
              <a:rPr lang="en-US" sz="1400" dirty="0">
                <a:solidFill>
                  <a:srgbClr val="333333"/>
                </a:solidFill>
                <a:latin typeface="Calibri" pitchFamily="34" charset="0"/>
                <a:ea typeface="Calibri" pitchFamily="34" charset="-122"/>
                <a:cs typeface="Calibri" pitchFamily="34" charset="-120"/>
              </a:rPr>
              <a:t>On ajuste les poids pour réduire l'erreur → le réseau s'améliore petit à petit</a:t>
            </a:r>
            <a:endParaRPr lang="en-US" sz="1400" dirty="0"/>
          </a:p>
        </p:txBody>
      </p:sp>
      <p:sp>
        <p:nvSpPr>
          <p:cNvPr id="24" name="Text 21"/>
          <p:cNvSpPr/>
          <p:nvPr/>
        </p:nvSpPr>
        <p:spPr>
          <a:xfrm>
            <a:off x="960120" y="5980866"/>
            <a:ext cx="10058400" cy="731520"/>
          </a:xfrm>
          <a:prstGeom prst="rect">
            <a:avLst/>
          </a:prstGeom>
          <a:noFill/>
          <a:ln/>
        </p:spPr>
        <p:txBody>
          <a:bodyPr wrap="square" rtlCol="0" anchor="t"/>
          <a:lstStyle/>
          <a:p>
            <a:pPr marL="0" indent="0">
              <a:buNone/>
            </a:pPr>
            <a:r>
              <a:rPr lang="en-US" sz="1400" i="1" dirty="0">
                <a:solidFill>
                  <a:srgbClr val="666666"/>
                </a:solidFill>
                <a:latin typeface="Calibri" pitchFamily="34" charset="0"/>
                <a:ea typeface="Calibri" pitchFamily="34" charset="-122"/>
                <a:cs typeface="Calibri" pitchFamily="34" charset="-120"/>
              </a:rPr>
              <a:t>Ce cycle se répète des milliers de fois (epochs). À chaque passage, le réseau devient un peu meilleur. C'est comme un étudiant qui refait des exercices : plus il s'entraîne, plus il s'améliore !</a:t>
            </a:r>
            <a:endParaRPr lang="en-US" sz="1400" dirty="0"/>
          </a:p>
        </p:txBody>
      </p:sp>
      <p:sp>
        <p:nvSpPr>
          <p:cNvPr id="25" name="Slide Number Placeholder 0"/>
          <p:cNvSpPr>
            <a:spLocks noGrp="1"/>
          </p:cNvSpPr>
          <p:nvPr>
            <p:ph type="sldNum" sz="quarter" idx="4294967295"/>
          </p:nvPr>
        </p:nvSpPr>
        <p:spPr>
          <a:xfrm>
            <a:off x="109728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914400" y="1371600"/>
            <a:ext cx="10360152" cy="548640"/>
          </a:xfrm>
          <a:prstGeom prst="rect">
            <a:avLst/>
          </a:prstGeom>
          <a:noFill/>
          <a:ln/>
        </p:spPr>
        <p:txBody>
          <a:bodyPr wrap="square" rtlCol="0" anchor="ctr"/>
          <a:lstStyle/>
          <a:p>
            <a:pPr marL="0" indent="0" algn="ctr">
              <a:buNone/>
            </a:pPr>
            <a:r>
              <a:rPr lang="en-US" sz="2000" dirty="0">
                <a:solidFill>
                  <a:srgbClr val="E94560"/>
                </a:solidFill>
                <a:latin typeface="Calibri" pitchFamily="34" charset="0"/>
                <a:ea typeface="Calibri" pitchFamily="34" charset="-122"/>
                <a:cs typeface="Calibri" pitchFamily="34" charset="-120"/>
              </a:rPr>
              <a:t>Partie 2</a:t>
            </a:r>
            <a:endParaRPr lang="en-US" sz="2000" dirty="0"/>
          </a:p>
        </p:txBody>
      </p:sp>
      <p:sp>
        <p:nvSpPr>
          <p:cNvPr id="3" name="Text 1"/>
          <p:cNvSpPr/>
          <p:nvPr/>
        </p:nvSpPr>
        <p:spPr>
          <a:xfrm>
            <a:off x="914400" y="2286000"/>
            <a:ext cx="10360152" cy="914400"/>
          </a:xfrm>
          <a:prstGeom prst="rect">
            <a:avLst/>
          </a:prstGeom>
          <a:noFill/>
          <a:ln/>
        </p:spPr>
        <p:txBody>
          <a:bodyPr wrap="square" rtlCol="0" anchor="ctr"/>
          <a:lstStyle/>
          <a:p>
            <a:pPr marL="0" indent="0" algn="ctr">
              <a:buNone/>
            </a:pPr>
            <a:r>
              <a:rPr lang="en-US" sz="4000" b="1" dirty="0">
                <a:solidFill>
                  <a:srgbClr val="FFFFFF"/>
                </a:solidFill>
                <a:latin typeface="Trebuchet MS" pitchFamily="34" charset="0"/>
                <a:ea typeface="Trebuchet MS" pitchFamily="34" charset="-122"/>
                <a:cs typeface="Trebuchet MS" pitchFamily="34" charset="-120"/>
              </a:rPr>
              <a:t>Les Réseaux Convolutifs (CNN)</a:t>
            </a:r>
            <a:endParaRPr lang="en-US" sz="4000" dirty="0"/>
          </a:p>
        </p:txBody>
      </p:sp>
      <p:sp>
        <p:nvSpPr>
          <p:cNvPr id="4" name="Text 2"/>
          <p:cNvSpPr/>
          <p:nvPr/>
        </p:nvSpPr>
        <p:spPr>
          <a:xfrm>
            <a:off x="914400" y="3291840"/>
            <a:ext cx="10360152" cy="548640"/>
          </a:xfrm>
          <a:prstGeom prst="rect">
            <a:avLst/>
          </a:prstGeom>
          <a:noFill/>
          <a:ln/>
        </p:spPr>
        <p:txBody>
          <a:bodyPr wrap="square" rtlCol="0" anchor="ctr"/>
          <a:lstStyle/>
          <a:p>
            <a:pPr marL="0" indent="0" algn="ctr">
              <a:buNone/>
            </a:pPr>
            <a:r>
              <a:rPr lang="en-US" sz="2200" dirty="0">
                <a:solidFill>
                  <a:srgbClr val="F0F0F0"/>
                </a:solidFill>
                <a:latin typeface="Calibri" pitchFamily="34" charset="0"/>
                <a:ea typeface="Calibri" pitchFamily="34" charset="-122"/>
                <a:cs typeface="Calibri" pitchFamily="34" charset="-120"/>
              </a:rPr>
              <a:t>Comment un ordinateur « voit » les images</a:t>
            </a:r>
            <a:endParaRPr lang="en-US" sz="2200" dirty="0"/>
          </a:p>
        </p:txBody>
      </p:sp>
      <p:sp>
        <p:nvSpPr>
          <p:cNvPr id="5" name="Shape 3"/>
          <p:cNvSpPr/>
          <p:nvPr/>
        </p:nvSpPr>
        <p:spPr>
          <a:xfrm>
            <a:off x="3657600" y="4114800"/>
            <a:ext cx="4873752" cy="36576"/>
          </a:xfrm>
          <a:prstGeom prst="rect">
            <a:avLst/>
          </a:prstGeom>
          <a:solidFill>
            <a:srgbClr val="E94560"/>
          </a:solidFill>
          <a:ln/>
        </p:spPr>
      </p:sp>
      <p:pic>
        <p:nvPicPr>
          <p:cNvPr id="6" name="Image 0" descr="/sessions/happy-hopeful-thompson/pptx-work/icons/image-white.png"/>
          <p:cNvPicPr>
            <a:picLocks noChangeAspect="1"/>
          </p:cNvPicPr>
          <p:nvPr/>
        </p:nvPicPr>
        <p:blipFill>
          <a:blip r:embed="rId3"/>
          <a:stretch>
            <a:fillRect/>
          </a:stretch>
        </p:blipFill>
        <p:spPr>
          <a:xfrm>
            <a:off x="5486400" y="4572000"/>
            <a:ext cx="1188720" cy="11887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A1A2E"/>
          </a:solidFill>
          <a:ln/>
        </p:spPr>
      </p:sp>
      <p:sp>
        <p:nvSpPr>
          <p:cNvPr id="3" name="Shape 1"/>
          <p:cNvSpPr/>
          <p:nvPr/>
        </p:nvSpPr>
        <p:spPr>
          <a:xfrm>
            <a:off x="0" y="960120"/>
            <a:ext cx="12188952" cy="54864"/>
          </a:xfrm>
          <a:prstGeom prst="rect">
            <a:avLst/>
          </a:prstGeom>
          <a:solidFill>
            <a:srgbClr val="E94560"/>
          </a:solidFill>
          <a:ln/>
        </p:spPr>
      </p:sp>
      <p:pic>
        <p:nvPicPr>
          <p:cNvPr id="4" name="Image 0" descr="/sessions/happy-hopeful-thompson/pptx-work/icons/image-white.png"/>
          <p:cNvPicPr>
            <a:picLocks noChangeAspect="1"/>
          </p:cNvPicPr>
          <p:nvPr/>
        </p:nvPicPr>
        <p:blipFill>
          <a:blip r:embed="rId3"/>
          <a:stretch>
            <a:fillRect/>
          </a:stretch>
        </p:blipFill>
        <p:spPr>
          <a:xfrm>
            <a:off x="365760" y="164592"/>
            <a:ext cx="594360" cy="594360"/>
          </a:xfrm>
          <a:prstGeom prst="rect">
            <a:avLst/>
          </a:prstGeom>
        </p:spPr>
      </p:pic>
      <p:sp>
        <p:nvSpPr>
          <p:cNvPr id="5" name="Text 2"/>
          <p:cNvSpPr/>
          <p:nvPr/>
        </p:nvSpPr>
        <p:spPr>
          <a:xfrm>
            <a:off x="1097280" y="91440"/>
            <a:ext cx="10515600" cy="8229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Qu'est-ce qu'un CNN ?</a:t>
            </a:r>
            <a:endParaRPr lang="en-US" sz="2800" dirty="0"/>
          </a:p>
        </p:txBody>
      </p:sp>
      <p:sp>
        <p:nvSpPr>
          <p:cNvPr id="6" name="Shape 3"/>
          <p:cNvSpPr/>
          <p:nvPr/>
        </p:nvSpPr>
        <p:spPr>
          <a:xfrm>
            <a:off x="457200" y="1280160"/>
            <a:ext cx="11274552" cy="5303520"/>
          </a:xfrm>
          <a:prstGeom prst="rect">
            <a:avLst/>
          </a:prstGeom>
          <a:solidFill>
            <a:srgbClr val="FFFFFF"/>
          </a:solidFill>
          <a:ln/>
          <a:effectLst>
            <a:outerShdw blurRad="50800" dist="25400" dir="2700000" algn="bl" rotWithShape="0">
              <a:srgbClr val="000000">
                <a:alpha val="15000"/>
              </a:srgbClr>
            </a:outerShdw>
          </a:effectLst>
        </p:spPr>
      </p:sp>
      <p:sp>
        <p:nvSpPr>
          <p:cNvPr id="7" name="Text 4"/>
          <p:cNvSpPr/>
          <p:nvPr/>
        </p:nvSpPr>
        <p:spPr>
          <a:xfrm>
            <a:off x="731520" y="1371600"/>
            <a:ext cx="10698480" cy="457200"/>
          </a:xfrm>
          <a:prstGeom prst="rect">
            <a:avLst/>
          </a:prstGeom>
          <a:noFill/>
          <a:ln/>
        </p:spPr>
        <p:txBody>
          <a:bodyPr wrap="square" rtlCol="0" anchor="ctr"/>
          <a:lstStyle/>
          <a:p>
            <a:pPr marL="0" indent="0">
              <a:buNone/>
            </a:pPr>
            <a:r>
              <a:rPr lang="en-US" sz="1800" b="1" dirty="0">
                <a:solidFill>
                  <a:srgbClr val="E94560"/>
                </a:solidFill>
                <a:latin typeface="Trebuchet MS" pitchFamily="34" charset="0"/>
                <a:ea typeface="Trebuchet MS" pitchFamily="34" charset="-122"/>
                <a:cs typeface="Trebuchet MS" pitchFamily="34" charset="-120"/>
              </a:rPr>
              <a:t>CNN = Convolutional Neural Network (Réseau de Neurones Convolutif)</a:t>
            </a:r>
            <a:endParaRPr lang="en-US" sz="1800" dirty="0"/>
          </a:p>
        </p:txBody>
      </p:sp>
      <p:sp>
        <p:nvSpPr>
          <p:cNvPr id="8" name="Text 5"/>
          <p:cNvSpPr/>
          <p:nvPr/>
        </p:nvSpPr>
        <p:spPr>
          <a:xfrm>
            <a:off x="731520" y="1920240"/>
            <a:ext cx="10698480" cy="822960"/>
          </a:xfrm>
          <a:prstGeom prst="rect">
            <a:avLst/>
          </a:prstGeom>
          <a:noFill/>
          <a:ln/>
        </p:spPr>
        <p:txBody>
          <a:bodyPr wrap="square" rtlCol="0" anchor="t"/>
          <a:lstStyle/>
          <a:p>
            <a:pPr marL="0" indent="0">
              <a:lnSpc>
                <a:spcPct val="120000"/>
              </a:lnSpc>
              <a:buNone/>
            </a:pPr>
            <a:r>
              <a:rPr lang="en-US" sz="1600" dirty="0">
                <a:solidFill>
                  <a:srgbClr val="333333"/>
                </a:solidFill>
                <a:latin typeface="Calibri" pitchFamily="34" charset="0"/>
                <a:ea typeface="Calibri" pitchFamily="34" charset="-122"/>
                <a:cs typeface="Calibri" pitchFamily="34" charset="-120"/>
              </a:rPr>
              <a:t>Un CNN est un type de réseau de neurones spécialement conçu pour analyser des images. Au lieu de regarder chaque pixel indépendamment, il examine des petites zones de l'image pour y trouver des motifs (patterns).</a:t>
            </a:r>
            <a:endParaRPr lang="en-US" sz="1600" dirty="0"/>
          </a:p>
        </p:txBody>
      </p:sp>
      <p:sp>
        <p:nvSpPr>
          <p:cNvPr id="9" name="Text 6"/>
          <p:cNvSpPr/>
          <p:nvPr/>
        </p:nvSpPr>
        <p:spPr>
          <a:xfrm>
            <a:off x="731520" y="2834640"/>
            <a:ext cx="10698480" cy="365760"/>
          </a:xfrm>
          <a:prstGeom prst="rect">
            <a:avLst/>
          </a:prstGeom>
          <a:noFill/>
          <a:ln/>
        </p:spPr>
        <p:txBody>
          <a:bodyPr wrap="square" rtlCol="0" anchor="ctr"/>
          <a:lstStyle/>
          <a:p>
            <a:pPr marL="0" indent="0">
              <a:buNone/>
            </a:pPr>
            <a:r>
              <a:rPr lang="en-US" sz="1600" b="1" dirty="0">
                <a:solidFill>
                  <a:srgbClr val="1A1A2E"/>
                </a:solidFill>
                <a:latin typeface="Trebuchet MS" pitchFamily="34" charset="0"/>
                <a:ea typeface="Trebuchet MS" pitchFamily="34" charset="-122"/>
                <a:cs typeface="Trebuchet MS" pitchFamily="34" charset="-120"/>
              </a:rPr>
              <a:t>Utilisations concrètes :</a:t>
            </a:r>
            <a:endParaRPr lang="en-US" sz="1600" dirty="0"/>
          </a:p>
        </p:txBody>
      </p:sp>
      <p:sp>
        <p:nvSpPr>
          <p:cNvPr id="10" name="Shape 7"/>
          <p:cNvSpPr/>
          <p:nvPr/>
        </p:nvSpPr>
        <p:spPr>
          <a:xfrm>
            <a:off x="1097280" y="3383280"/>
            <a:ext cx="274320" cy="274320"/>
          </a:xfrm>
          <a:prstGeom prst="rect">
            <a:avLst/>
          </a:prstGeom>
          <a:solidFill>
            <a:srgbClr val="E94560"/>
          </a:solidFill>
          <a:ln/>
        </p:spPr>
      </p:sp>
      <p:sp>
        <p:nvSpPr>
          <p:cNvPr id="11" name="Text 8"/>
          <p:cNvSpPr/>
          <p:nvPr/>
        </p:nvSpPr>
        <p:spPr>
          <a:xfrm>
            <a:off x="1554480" y="3291840"/>
            <a:ext cx="2743200" cy="45720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Reconnaissance faciale</a:t>
            </a:r>
            <a:endParaRPr lang="en-US" sz="1500" dirty="0"/>
          </a:p>
        </p:txBody>
      </p:sp>
      <p:sp>
        <p:nvSpPr>
          <p:cNvPr id="12" name="Text 9"/>
          <p:cNvSpPr/>
          <p:nvPr/>
        </p:nvSpPr>
        <p:spPr>
          <a:xfrm>
            <a:off x="4297680" y="3291840"/>
            <a:ext cx="6858000" cy="457200"/>
          </a:xfrm>
          <a:prstGeom prst="rect">
            <a:avLst/>
          </a:prstGeom>
          <a:noFill/>
          <a:ln/>
        </p:spPr>
        <p:txBody>
          <a:bodyPr wrap="square" rtlCol="0" anchor="ctr"/>
          <a:lstStyle/>
          <a:p>
            <a:pPr marL="0" indent="0">
              <a:buNone/>
            </a:pPr>
            <a:r>
              <a:rPr lang="en-US" sz="1400" dirty="0">
                <a:solidFill>
                  <a:srgbClr val="333333"/>
                </a:solidFill>
                <a:latin typeface="Calibri" pitchFamily="34" charset="0"/>
                <a:ea typeface="Calibri" pitchFamily="34" charset="-122"/>
                <a:cs typeface="Calibri" pitchFamily="34" charset="-120"/>
              </a:rPr>
              <a:t>Déverrouiller son téléphone, identifier des personnes</a:t>
            </a:r>
            <a:endParaRPr lang="en-US" sz="1400" dirty="0"/>
          </a:p>
        </p:txBody>
      </p:sp>
      <p:sp>
        <p:nvSpPr>
          <p:cNvPr id="13" name="Shape 10"/>
          <p:cNvSpPr/>
          <p:nvPr/>
        </p:nvSpPr>
        <p:spPr>
          <a:xfrm>
            <a:off x="1097280" y="4114800"/>
            <a:ext cx="274320" cy="274320"/>
          </a:xfrm>
          <a:prstGeom prst="rect">
            <a:avLst/>
          </a:prstGeom>
          <a:solidFill>
            <a:srgbClr val="E94560"/>
          </a:solidFill>
          <a:ln/>
        </p:spPr>
      </p:sp>
      <p:sp>
        <p:nvSpPr>
          <p:cNvPr id="14" name="Text 11"/>
          <p:cNvSpPr/>
          <p:nvPr/>
        </p:nvSpPr>
        <p:spPr>
          <a:xfrm>
            <a:off x="1554480" y="4023360"/>
            <a:ext cx="2743200" cy="45720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Voitures autonomes</a:t>
            </a:r>
            <a:endParaRPr lang="en-US" sz="1500" dirty="0"/>
          </a:p>
        </p:txBody>
      </p:sp>
      <p:sp>
        <p:nvSpPr>
          <p:cNvPr id="15" name="Text 12"/>
          <p:cNvSpPr/>
          <p:nvPr/>
        </p:nvSpPr>
        <p:spPr>
          <a:xfrm>
            <a:off x="4297680" y="4023360"/>
            <a:ext cx="6858000" cy="457200"/>
          </a:xfrm>
          <a:prstGeom prst="rect">
            <a:avLst/>
          </a:prstGeom>
          <a:noFill/>
          <a:ln/>
        </p:spPr>
        <p:txBody>
          <a:bodyPr wrap="square" rtlCol="0" anchor="ctr"/>
          <a:lstStyle/>
          <a:p>
            <a:pPr marL="0" indent="0">
              <a:buNone/>
            </a:pPr>
            <a:r>
              <a:rPr lang="en-US" sz="1400" dirty="0">
                <a:solidFill>
                  <a:srgbClr val="333333"/>
                </a:solidFill>
                <a:latin typeface="Calibri" pitchFamily="34" charset="0"/>
                <a:ea typeface="Calibri" pitchFamily="34" charset="-122"/>
                <a:cs typeface="Calibri" pitchFamily="34" charset="-120"/>
              </a:rPr>
              <a:t>Détecter piétons, panneaux, autres véhicules</a:t>
            </a:r>
            <a:endParaRPr lang="en-US" sz="1400" dirty="0"/>
          </a:p>
        </p:txBody>
      </p:sp>
      <p:sp>
        <p:nvSpPr>
          <p:cNvPr id="16" name="Shape 13"/>
          <p:cNvSpPr/>
          <p:nvPr/>
        </p:nvSpPr>
        <p:spPr>
          <a:xfrm>
            <a:off x="1097280" y="4846320"/>
            <a:ext cx="274320" cy="274320"/>
          </a:xfrm>
          <a:prstGeom prst="rect">
            <a:avLst/>
          </a:prstGeom>
          <a:solidFill>
            <a:srgbClr val="E94560"/>
          </a:solidFill>
          <a:ln/>
        </p:spPr>
      </p:sp>
      <p:sp>
        <p:nvSpPr>
          <p:cNvPr id="17" name="Text 14"/>
          <p:cNvSpPr/>
          <p:nvPr/>
        </p:nvSpPr>
        <p:spPr>
          <a:xfrm>
            <a:off x="1554480" y="4754880"/>
            <a:ext cx="2743200" cy="45720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Médecine</a:t>
            </a:r>
            <a:endParaRPr lang="en-US" sz="1500" dirty="0"/>
          </a:p>
        </p:txBody>
      </p:sp>
      <p:sp>
        <p:nvSpPr>
          <p:cNvPr id="18" name="Text 15"/>
          <p:cNvSpPr/>
          <p:nvPr/>
        </p:nvSpPr>
        <p:spPr>
          <a:xfrm>
            <a:off x="4297680" y="4754880"/>
            <a:ext cx="6858000" cy="457200"/>
          </a:xfrm>
          <a:prstGeom prst="rect">
            <a:avLst/>
          </a:prstGeom>
          <a:noFill/>
          <a:ln/>
        </p:spPr>
        <p:txBody>
          <a:bodyPr wrap="square" rtlCol="0" anchor="ctr"/>
          <a:lstStyle/>
          <a:p>
            <a:pPr marL="0" indent="0">
              <a:buNone/>
            </a:pPr>
            <a:r>
              <a:rPr lang="en-US" sz="1400" dirty="0">
                <a:solidFill>
                  <a:srgbClr val="333333"/>
                </a:solidFill>
                <a:latin typeface="Calibri" pitchFamily="34" charset="0"/>
                <a:ea typeface="Calibri" pitchFamily="34" charset="-122"/>
                <a:cs typeface="Calibri" pitchFamily="34" charset="-120"/>
              </a:rPr>
              <a:t>Détecter tumeurs dans des radiographies</a:t>
            </a:r>
            <a:endParaRPr lang="en-US" sz="1400" dirty="0"/>
          </a:p>
        </p:txBody>
      </p:sp>
      <p:sp>
        <p:nvSpPr>
          <p:cNvPr id="19" name="Shape 16"/>
          <p:cNvSpPr/>
          <p:nvPr/>
        </p:nvSpPr>
        <p:spPr>
          <a:xfrm>
            <a:off x="1097280" y="5577840"/>
            <a:ext cx="274320" cy="274320"/>
          </a:xfrm>
          <a:prstGeom prst="rect">
            <a:avLst/>
          </a:prstGeom>
          <a:solidFill>
            <a:srgbClr val="E94560"/>
          </a:solidFill>
          <a:ln/>
        </p:spPr>
      </p:sp>
      <p:sp>
        <p:nvSpPr>
          <p:cNvPr id="20" name="Text 17"/>
          <p:cNvSpPr/>
          <p:nvPr/>
        </p:nvSpPr>
        <p:spPr>
          <a:xfrm>
            <a:off x="1554480" y="5486400"/>
            <a:ext cx="2743200" cy="45720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Industrie</a:t>
            </a:r>
            <a:endParaRPr lang="en-US" sz="1500" dirty="0"/>
          </a:p>
        </p:txBody>
      </p:sp>
      <p:sp>
        <p:nvSpPr>
          <p:cNvPr id="21" name="Text 18"/>
          <p:cNvSpPr/>
          <p:nvPr/>
        </p:nvSpPr>
        <p:spPr>
          <a:xfrm>
            <a:off x="4297680" y="5486400"/>
            <a:ext cx="6858000" cy="457200"/>
          </a:xfrm>
          <a:prstGeom prst="rect">
            <a:avLst/>
          </a:prstGeom>
          <a:noFill/>
          <a:ln/>
        </p:spPr>
        <p:txBody>
          <a:bodyPr wrap="square" rtlCol="0" anchor="ctr"/>
          <a:lstStyle/>
          <a:p>
            <a:pPr marL="0" indent="0">
              <a:buNone/>
            </a:pPr>
            <a:r>
              <a:rPr lang="en-US" sz="1400" dirty="0">
                <a:solidFill>
                  <a:srgbClr val="333333"/>
                </a:solidFill>
                <a:latin typeface="Calibri" pitchFamily="34" charset="0"/>
                <a:ea typeface="Calibri" pitchFamily="34" charset="-122"/>
                <a:cs typeface="Calibri" pitchFamily="34" charset="-120"/>
              </a:rPr>
              <a:t>Contrôle qualité automatique sur chaîne de production</a:t>
            </a:r>
            <a:endParaRPr lang="en-US" sz="1400" dirty="0"/>
          </a:p>
        </p:txBody>
      </p:sp>
      <p:sp>
        <p:nvSpPr>
          <p:cNvPr id="25" name="Slide Number Placeholder 0"/>
          <p:cNvSpPr>
            <a:spLocks noGrp="1"/>
          </p:cNvSpPr>
          <p:nvPr>
            <p:ph type="sldNum" sz="quarter" idx="4294967295"/>
          </p:nvPr>
        </p:nvSpPr>
        <p:spPr>
          <a:xfrm>
            <a:off x="109728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A1A2E"/>
          </a:solidFill>
          <a:ln/>
        </p:spPr>
      </p:sp>
      <p:sp>
        <p:nvSpPr>
          <p:cNvPr id="3" name="Shape 1"/>
          <p:cNvSpPr/>
          <p:nvPr/>
        </p:nvSpPr>
        <p:spPr>
          <a:xfrm>
            <a:off x="0" y="960120"/>
            <a:ext cx="12188952" cy="54864"/>
          </a:xfrm>
          <a:prstGeom prst="rect">
            <a:avLst/>
          </a:prstGeom>
          <a:solidFill>
            <a:srgbClr val="E94560"/>
          </a:solidFill>
          <a:ln/>
        </p:spPr>
      </p:sp>
      <p:pic>
        <p:nvPicPr>
          <p:cNvPr id="4" name="Image 0" descr="/sessions/happy-hopeful-thompson/pptx-work/icons/layers-white.png"/>
          <p:cNvPicPr>
            <a:picLocks noChangeAspect="1"/>
          </p:cNvPicPr>
          <p:nvPr/>
        </p:nvPicPr>
        <p:blipFill>
          <a:blip r:embed="rId3"/>
          <a:stretch>
            <a:fillRect/>
          </a:stretch>
        </p:blipFill>
        <p:spPr>
          <a:xfrm>
            <a:off x="365760" y="164592"/>
            <a:ext cx="594360" cy="594360"/>
          </a:xfrm>
          <a:prstGeom prst="rect">
            <a:avLst/>
          </a:prstGeom>
        </p:spPr>
      </p:pic>
      <p:sp>
        <p:nvSpPr>
          <p:cNvPr id="5" name="Text 2"/>
          <p:cNvSpPr/>
          <p:nvPr/>
        </p:nvSpPr>
        <p:spPr>
          <a:xfrm>
            <a:off x="1097280" y="91440"/>
            <a:ext cx="10515600" cy="8229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La Convolution : Comment ça marche ?</a:t>
            </a:r>
            <a:endParaRPr lang="en-US" sz="2800" dirty="0"/>
          </a:p>
        </p:txBody>
      </p:sp>
      <p:sp>
        <p:nvSpPr>
          <p:cNvPr id="6" name="Shape 3"/>
          <p:cNvSpPr/>
          <p:nvPr/>
        </p:nvSpPr>
        <p:spPr>
          <a:xfrm>
            <a:off x="457200" y="1280160"/>
            <a:ext cx="5486400" cy="5303520"/>
          </a:xfrm>
          <a:prstGeom prst="rect">
            <a:avLst/>
          </a:prstGeom>
          <a:solidFill>
            <a:srgbClr val="FFFFFF"/>
          </a:solidFill>
          <a:ln/>
          <a:effectLst>
            <a:outerShdw blurRad="50800" dist="25400" dir="2700000" algn="bl" rotWithShape="0">
              <a:srgbClr val="000000">
                <a:alpha val="15000"/>
              </a:srgbClr>
            </a:outerShdw>
          </a:effectLst>
        </p:spPr>
      </p:sp>
      <p:sp>
        <p:nvSpPr>
          <p:cNvPr id="7" name="Text 4"/>
          <p:cNvSpPr/>
          <p:nvPr/>
        </p:nvSpPr>
        <p:spPr>
          <a:xfrm>
            <a:off x="731520" y="1371600"/>
            <a:ext cx="5029200" cy="457200"/>
          </a:xfrm>
          <a:prstGeom prst="rect">
            <a:avLst/>
          </a:prstGeom>
          <a:noFill/>
          <a:ln/>
        </p:spPr>
        <p:txBody>
          <a:bodyPr wrap="square" rtlCol="0" anchor="ctr"/>
          <a:lstStyle/>
          <a:p>
            <a:pPr marL="0" indent="0">
              <a:buNone/>
            </a:pPr>
            <a:r>
              <a:rPr lang="en-US" sz="1800" b="1" dirty="0">
                <a:solidFill>
                  <a:srgbClr val="1A1A2E"/>
                </a:solidFill>
                <a:latin typeface="Trebuchet MS" pitchFamily="34" charset="0"/>
                <a:ea typeface="Trebuchet MS" pitchFamily="34" charset="-122"/>
                <a:cs typeface="Trebuchet MS" pitchFamily="34" charset="-120"/>
              </a:rPr>
              <a:t>Étape par étape</a:t>
            </a:r>
            <a:endParaRPr lang="en-US" sz="1800" dirty="0"/>
          </a:p>
        </p:txBody>
      </p:sp>
      <p:sp>
        <p:nvSpPr>
          <p:cNvPr id="8" name="Text 5"/>
          <p:cNvSpPr/>
          <p:nvPr/>
        </p:nvSpPr>
        <p:spPr>
          <a:xfrm>
            <a:off x="731520" y="1920240"/>
            <a:ext cx="5029200" cy="3200400"/>
          </a:xfrm>
          <a:prstGeom prst="rect">
            <a:avLst/>
          </a:prstGeom>
          <a:noFill/>
          <a:ln/>
        </p:spPr>
        <p:txBody>
          <a:bodyPr wrap="square" rtlCol="0" anchor="t"/>
          <a:lstStyle/>
          <a:p>
            <a:pPr marL="0" indent="0">
              <a:lnSpc>
                <a:spcPct val="115000"/>
              </a:lnSpc>
              <a:spcBef>
                <a:spcPts val="1000"/>
              </a:spcBef>
              <a:buNone/>
            </a:pPr>
            <a:r>
              <a:rPr lang="en-US" sz="1500" dirty="0">
                <a:solidFill>
                  <a:srgbClr val="333333"/>
                </a:solidFill>
                <a:latin typeface="Calibri" pitchFamily="34" charset="0"/>
                <a:ea typeface="Calibri" pitchFamily="34" charset="-122"/>
                <a:cs typeface="Calibri" pitchFamily="34" charset="-120"/>
              </a:rPr>
              <a:t>1. Un petit filtre (ex: 3x3 pixels) glisse sur toute l'image</a:t>
            </a:r>
            <a:endParaRPr lang="en-US" sz="1500" dirty="0"/>
          </a:p>
          <a:p>
            <a:pPr marL="0" indent="0">
              <a:lnSpc>
                <a:spcPct val="115000"/>
              </a:lnSpc>
              <a:spcBef>
                <a:spcPts val="1000"/>
              </a:spcBef>
              <a:buNone/>
            </a:pPr>
            <a:r>
              <a:rPr lang="en-US" sz="1500" dirty="0">
                <a:solidFill>
                  <a:srgbClr val="333333"/>
                </a:solidFill>
                <a:latin typeface="Calibri" pitchFamily="34" charset="0"/>
                <a:ea typeface="Calibri" pitchFamily="34" charset="-122"/>
                <a:cs typeface="Calibri" pitchFamily="34" charset="-120"/>
              </a:rPr>
              <a:t>2. À chaque position, il multiplie ses valeurs par les pixels sous lui</a:t>
            </a:r>
            <a:endParaRPr lang="en-US" sz="1500" dirty="0"/>
          </a:p>
          <a:p>
            <a:pPr marL="0" indent="0">
              <a:lnSpc>
                <a:spcPct val="115000"/>
              </a:lnSpc>
              <a:spcBef>
                <a:spcPts val="1000"/>
              </a:spcBef>
              <a:buNone/>
            </a:pPr>
            <a:r>
              <a:rPr lang="en-US" sz="1500" dirty="0">
                <a:solidFill>
                  <a:srgbClr val="333333"/>
                </a:solidFill>
                <a:latin typeface="Calibri" pitchFamily="34" charset="0"/>
                <a:ea typeface="Calibri" pitchFamily="34" charset="-122"/>
                <a:cs typeface="Calibri" pitchFamily="34" charset="-120"/>
              </a:rPr>
              <a:t>3. Le résultat forme une nouvelle image appelée « feature map »</a:t>
            </a:r>
            <a:endParaRPr lang="en-US" sz="1500" dirty="0"/>
          </a:p>
          <a:p>
            <a:pPr marL="0" indent="0">
              <a:lnSpc>
                <a:spcPct val="115000"/>
              </a:lnSpc>
              <a:spcBef>
                <a:spcPts val="1000"/>
              </a:spcBef>
              <a:buNone/>
            </a:pPr>
            <a:r>
              <a:rPr lang="en-US" sz="1500" dirty="0">
                <a:solidFill>
                  <a:srgbClr val="333333"/>
                </a:solidFill>
                <a:latin typeface="Calibri" pitchFamily="34" charset="0"/>
                <a:ea typeface="Calibri" pitchFamily="34" charset="-122"/>
                <a:cs typeface="Calibri" pitchFamily="34" charset="-120"/>
              </a:rPr>
              <a:t>4. Chaque filtre détecte un type de pattern différent</a:t>
            </a:r>
            <a:endParaRPr lang="en-US" sz="1500" dirty="0"/>
          </a:p>
        </p:txBody>
      </p:sp>
      <p:sp>
        <p:nvSpPr>
          <p:cNvPr id="9" name="Text 6"/>
          <p:cNvSpPr/>
          <p:nvPr/>
        </p:nvSpPr>
        <p:spPr>
          <a:xfrm>
            <a:off x="731520" y="5029200"/>
            <a:ext cx="5029200" cy="1371600"/>
          </a:xfrm>
          <a:prstGeom prst="rect">
            <a:avLst/>
          </a:prstGeom>
          <a:noFill/>
          <a:ln/>
        </p:spPr>
        <p:txBody>
          <a:bodyPr wrap="square" rtlCol="0" anchor="t"/>
          <a:lstStyle/>
          <a:p>
            <a:pPr marL="0" indent="0">
              <a:buNone/>
            </a:pPr>
            <a:r>
              <a:rPr lang="en-US" sz="1300" i="1" dirty="0">
                <a:solidFill>
                  <a:srgbClr val="666666"/>
                </a:solidFill>
                <a:latin typeface="Calibri" pitchFamily="34" charset="0"/>
                <a:ea typeface="Calibri" pitchFamily="34" charset="-122"/>
                <a:cs typeface="Calibri" pitchFamily="34" charset="-120"/>
              </a:rPr>
              <a:t>Analogie : Imaginez que vous passez une loupe sur une photo. À chaque position, la loupe vous dit « ici il y a un bord vertical » ou « ici il y a une courbe ». C'est exactement ce que font les filtres !</a:t>
            </a:r>
            <a:endParaRPr lang="en-US" sz="1300" dirty="0"/>
          </a:p>
        </p:txBody>
      </p:sp>
      <p:sp>
        <p:nvSpPr>
          <p:cNvPr id="10" name="Shape 7"/>
          <p:cNvSpPr/>
          <p:nvPr/>
        </p:nvSpPr>
        <p:spPr>
          <a:xfrm>
            <a:off x="6217920" y="1280160"/>
            <a:ext cx="5486400" cy="5303520"/>
          </a:xfrm>
          <a:prstGeom prst="rect">
            <a:avLst/>
          </a:prstGeom>
          <a:solidFill>
            <a:srgbClr val="16213E"/>
          </a:solidFill>
          <a:ln/>
          <a:effectLst>
            <a:outerShdw blurRad="50800" dist="25400" dir="2700000" algn="bl" rotWithShape="0">
              <a:srgbClr val="000000">
                <a:alpha val="15000"/>
              </a:srgbClr>
            </a:outerShdw>
          </a:effectLst>
        </p:spPr>
      </p:sp>
      <p:sp>
        <p:nvSpPr>
          <p:cNvPr id="11" name="Text 8"/>
          <p:cNvSpPr/>
          <p:nvPr/>
        </p:nvSpPr>
        <p:spPr>
          <a:xfrm>
            <a:off x="6492240" y="1371600"/>
            <a:ext cx="4937760" cy="457200"/>
          </a:xfrm>
          <a:prstGeom prst="rect">
            <a:avLst/>
          </a:prstGeom>
          <a:noFill/>
          <a:ln/>
        </p:spPr>
        <p:txBody>
          <a:bodyPr wrap="square" rtlCol="0" anchor="ctr"/>
          <a:lstStyle/>
          <a:p>
            <a:pPr marL="0" indent="0">
              <a:buNone/>
            </a:pPr>
            <a:r>
              <a:rPr lang="en-US" sz="1800" b="1" dirty="0">
                <a:solidFill>
                  <a:srgbClr val="E94560"/>
                </a:solidFill>
                <a:latin typeface="Trebuchet MS" pitchFamily="34" charset="0"/>
                <a:ea typeface="Trebuchet MS" pitchFamily="34" charset="-122"/>
                <a:cs typeface="Trebuchet MS" pitchFamily="34" charset="-120"/>
              </a:rPr>
              <a:t>Ce que les filtres détectent</a:t>
            </a:r>
            <a:endParaRPr lang="en-US" sz="1800" dirty="0"/>
          </a:p>
        </p:txBody>
      </p:sp>
      <p:sp>
        <p:nvSpPr>
          <p:cNvPr id="12" name="Shape 9"/>
          <p:cNvSpPr/>
          <p:nvPr/>
        </p:nvSpPr>
        <p:spPr>
          <a:xfrm>
            <a:off x="6675120" y="2103120"/>
            <a:ext cx="4572000" cy="777240"/>
          </a:xfrm>
          <a:prstGeom prst="rect">
            <a:avLst/>
          </a:prstGeom>
          <a:solidFill>
            <a:srgbClr val="0F3460"/>
          </a:solidFill>
          <a:ln/>
        </p:spPr>
      </p:sp>
      <p:sp>
        <p:nvSpPr>
          <p:cNvPr id="13" name="Shape 10"/>
          <p:cNvSpPr/>
          <p:nvPr/>
        </p:nvSpPr>
        <p:spPr>
          <a:xfrm>
            <a:off x="6675120" y="2103120"/>
            <a:ext cx="137160" cy="777240"/>
          </a:xfrm>
          <a:prstGeom prst="rect">
            <a:avLst/>
          </a:prstGeom>
          <a:solidFill>
            <a:srgbClr val="2980B9"/>
          </a:solidFill>
          <a:ln/>
        </p:spPr>
      </p:sp>
      <p:sp>
        <p:nvSpPr>
          <p:cNvPr id="14" name="Text 11"/>
          <p:cNvSpPr/>
          <p:nvPr/>
        </p:nvSpPr>
        <p:spPr>
          <a:xfrm>
            <a:off x="6949440" y="2103120"/>
            <a:ext cx="1645920" cy="777240"/>
          </a:xfrm>
          <a:prstGeom prst="rect">
            <a:avLst/>
          </a:prstGeom>
          <a:noFill/>
          <a:ln/>
        </p:spPr>
        <p:txBody>
          <a:bodyPr wrap="square" rtlCol="0" anchor="ctr"/>
          <a:lstStyle/>
          <a:p>
            <a:pPr marL="0" indent="0">
              <a:buNone/>
            </a:pPr>
            <a:r>
              <a:rPr lang="en-US" sz="1400" b="1" dirty="0">
                <a:solidFill>
                  <a:srgbClr val="2980B9"/>
                </a:solidFill>
                <a:latin typeface="Trebuchet MS" pitchFamily="34" charset="0"/>
                <a:ea typeface="Trebuchet MS" pitchFamily="34" charset="-122"/>
                <a:cs typeface="Trebuchet MS" pitchFamily="34" charset="-120"/>
              </a:rPr>
              <a:t>Couche 1</a:t>
            </a:r>
            <a:endParaRPr lang="en-US" sz="1400" dirty="0"/>
          </a:p>
        </p:txBody>
      </p:sp>
      <p:sp>
        <p:nvSpPr>
          <p:cNvPr id="15" name="Text 12"/>
          <p:cNvSpPr/>
          <p:nvPr/>
        </p:nvSpPr>
        <p:spPr>
          <a:xfrm>
            <a:off x="8595360" y="2103120"/>
            <a:ext cx="2560320" cy="777240"/>
          </a:xfrm>
          <a:prstGeom prst="rect">
            <a:avLst/>
          </a:prstGeom>
          <a:noFill/>
          <a:ln/>
        </p:spPr>
        <p:txBody>
          <a:bodyPr wrap="square" rtlCol="0" anchor="ctr"/>
          <a:lstStyle/>
          <a:p>
            <a:pPr marL="0" indent="0">
              <a:buNone/>
            </a:pPr>
            <a:r>
              <a:rPr lang="en-US" sz="1400" dirty="0">
                <a:solidFill>
                  <a:srgbClr val="F0F0F0"/>
                </a:solidFill>
                <a:latin typeface="Calibri" pitchFamily="34" charset="0"/>
                <a:ea typeface="Calibri" pitchFamily="34" charset="-122"/>
                <a:cs typeface="Calibri" pitchFamily="34" charset="-120"/>
              </a:rPr>
              <a:t>Lignes, contours, bords simples</a:t>
            </a:r>
            <a:endParaRPr lang="en-US" sz="1400" dirty="0"/>
          </a:p>
        </p:txBody>
      </p:sp>
      <p:sp>
        <p:nvSpPr>
          <p:cNvPr id="16" name="Shape 13"/>
          <p:cNvSpPr/>
          <p:nvPr/>
        </p:nvSpPr>
        <p:spPr>
          <a:xfrm>
            <a:off x="6675120" y="3108960"/>
            <a:ext cx="4572000" cy="777240"/>
          </a:xfrm>
          <a:prstGeom prst="rect">
            <a:avLst/>
          </a:prstGeom>
          <a:solidFill>
            <a:srgbClr val="0F3460"/>
          </a:solidFill>
          <a:ln/>
        </p:spPr>
      </p:sp>
      <p:sp>
        <p:nvSpPr>
          <p:cNvPr id="17" name="Shape 14"/>
          <p:cNvSpPr/>
          <p:nvPr/>
        </p:nvSpPr>
        <p:spPr>
          <a:xfrm>
            <a:off x="6675120" y="3108960"/>
            <a:ext cx="137160" cy="777240"/>
          </a:xfrm>
          <a:prstGeom prst="rect">
            <a:avLst/>
          </a:prstGeom>
          <a:solidFill>
            <a:srgbClr val="E67E22"/>
          </a:solidFill>
          <a:ln/>
        </p:spPr>
      </p:sp>
      <p:sp>
        <p:nvSpPr>
          <p:cNvPr id="18" name="Text 15"/>
          <p:cNvSpPr/>
          <p:nvPr/>
        </p:nvSpPr>
        <p:spPr>
          <a:xfrm>
            <a:off x="6949440" y="3108960"/>
            <a:ext cx="1645920" cy="777240"/>
          </a:xfrm>
          <a:prstGeom prst="rect">
            <a:avLst/>
          </a:prstGeom>
          <a:noFill/>
          <a:ln/>
        </p:spPr>
        <p:txBody>
          <a:bodyPr wrap="square" rtlCol="0" anchor="ctr"/>
          <a:lstStyle/>
          <a:p>
            <a:pPr marL="0" indent="0">
              <a:buNone/>
            </a:pPr>
            <a:r>
              <a:rPr lang="en-US" sz="1400" b="1" dirty="0">
                <a:solidFill>
                  <a:srgbClr val="E67E22"/>
                </a:solidFill>
                <a:latin typeface="Trebuchet MS" pitchFamily="34" charset="0"/>
                <a:ea typeface="Trebuchet MS" pitchFamily="34" charset="-122"/>
                <a:cs typeface="Trebuchet MS" pitchFamily="34" charset="-120"/>
              </a:rPr>
              <a:t>Couche 2</a:t>
            </a:r>
            <a:endParaRPr lang="en-US" sz="1400" dirty="0"/>
          </a:p>
        </p:txBody>
      </p:sp>
      <p:sp>
        <p:nvSpPr>
          <p:cNvPr id="19" name="Text 16"/>
          <p:cNvSpPr/>
          <p:nvPr/>
        </p:nvSpPr>
        <p:spPr>
          <a:xfrm>
            <a:off x="8595360" y="3108960"/>
            <a:ext cx="2560320" cy="777240"/>
          </a:xfrm>
          <a:prstGeom prst="rect">
            <a:avLst/>
          </a:prstGeom>
          <a:noFill/>
          <a:ln/>
        </p:spPr>
        <p:txBody>
          <a:bodyPr wrap="square" rtlCol="0" anchor="ctr"/>
          <a:lstStyle/>
          <a:p>
            <a:pPr marL="0" indent="0">
              <a:buNone/>
            </a:pPr>
            <a:r>
              <a:rPr lang="en-US" sz="1400" dirty="0">
                <a:solidFill>
                  <a:srgbClr val="F0F0F0"/>
                </a:solidFill>
                <a:latin typeface="Calibri" pitchFamily="34" charset="0"/>
                <a:ea typeface="Calibri" pitchFamily="34" charset="-122"/>
                <a:cs typeface="Calibri" pitchFamily="34" charset="-120"/>
              </a:rPr>
              <a:t>Formes géométriques, textures</a:t>
            </a:r>
            <a:endParaRPr lang="en-US" sz="1400" dirty="0"/>
          </a:p>
        </p:txBody>
      </p:sp>
      <p:sp>
        <p:nvSpPr>
          <p:cNvPr id="20" name="Shape 17"/>
          <p:cNvSpPr/>
          <p:nvPr/>
        </p:nvSpPr>
        <p:spPr>
          <a:xfrm>
            <a:off x="6675120" y="4114800"/>
            <a:ext cx="4572000" cy="777240"/>
          </a:xfrm>
          <a:prstGeom prst="rect">
            <a:avLst/>
          </a:prstGeom>
          <a:solidFill>
            <a:srgbClr val="0F3460"/>
          </a:solidFill>
          <a:ln/>
        </p:spPr>
      </p:sp>
      <p:sp>
        <p:nvSpPr>
          <p:cNvPr id="21" name="Shape 18"/>
          <p:cNvSpPr/>
          <p:nvPr/>
        </p:nvSpPr>
        <p:spPr>
          <a:xfrm>
            <a:off x="6675120" y="4114800"/>
            <a:ext cx="137160" cy="777240"/>
          </a:xfrm>
          <a:prstGeom prst="rect">
            <a:avLst/>
          </a:prstGeom>
          <a:solidFill>
            <a:srgbClr val="27AE60"/>
          </a:solidFill>
          <a:ln/>
        </p:spPr>
      </p:sp>
      <p:sp>
        <p:nvSpPr>
          <p:cNvPr id="22" name="Text 19"/>
          <p:cNvSpPr/>
          <p:nvPr/>
        </p:nvSpPr>
        <p:spPr>
          <a:xfrm>
            <a:off x="6949440" y="4114800"/>
            <a:ext cx="1645920" cy="777240"/>
          </a:xfrm>
          <a:prstGeom prst="rect">
            <a:avLst/>
          </a:prstGeom>
          <a:noFill/>
          <a:ln/>
        </p:spPr>
        <p:txBody>
          <a:bodyPr wrap="square" rtlCol="0" anchor="ctr"/>
          <a:lstStyle/>
          <a:p>
            <a:pPr marL="0" indent="0">
              <a:buNone/>
            </a:pPr>
            <a:r>
              <a:rPr lang="en-US" sz="1400" b="1" dirty="0">
                <a:solidFill>
                  <a:srgbClr val="27AE60"/>
                </a:solidFill>
                <a:latin typeface="Trebuchet MS" pitchFamily="34" charset="0"/>
                <a:ea typeface="Trebuchet MS" pitchFamily="34" charset="-122"/>
                <a:cs typeface="Trebuchet MS" pitchFamily="34" charset="-120"/>
              </a:rPr>
              <a:t>Couche 3</a:t>
            </a:r>
            <a:endParaRPr lang="en-US" sz="1400" dirty="0"/>
          </a:p>
        </p:txBody>
      </p:sp>
      <p:sp>
        <p:nvSpPr>
          <p:cNvPr id="23" name="Text 20"/>
          <p:cNvSpPr/>
          <p:nvPr/>
        </p:nvSpPr>
        <p:spPr>
          <a:xfrm>
            <a:off x="8595360" y="4114800"/>
            <a:ext cx="2560320" cy="777240"/>
          </a:xfrm>
          <a:prstGeom prst="rect">
            <a:avLst/>
          </a:prstGeom>
          <a:noFill/>
          <a:ln/>
        </p:spPr>
        <p:txBody>
          <a:bodyPr wrap="square" rtlCol="0" anchor="ctr"/>
          <a:lstStyle/>
          <a:p>
            <a:pPr marL="0" indent="0">
              <a:buNone/>
            </a:pPr>
            <a:r>
              <a:rPr lang="en-US" sz="1400" dirty="0">
                <a:solidFill>
                  <a:srgbClr val="F0F0F0"/>
                </a:solidFill>
                <a:latin typeface="Calibri" pitchFamily="34" charset="0"/>
                <a:ea typeface="Calibri" pitchFamily="34" charset="-122"/>
                <a:cs typeface="Calibri" pitchFamily="34" charset="-120"/>
              </a:rPr>
              <a:t>Parties d'objets (yeux, roues…)</a:t>
            </a:r>
            <a:endParaRPr lang="en-US" sz="1400" dirty="0"/>
          </a:p>
        </p:txBody>
      </p:sp>
      <p:sp>
        <p:nvSpPr>
          <p:cNvPr id="24" name="Shape 21"/>
          <p:cNvSpPr/>
          <p:nvPr/>
        </p:nvSpPr>
        <p:spPr>
          <a:xfrm>
            <a:off x="6675120" y="5120640"/>
            <a:ext cx="4572000" cy="777240"/>
          </a:xfrm>
          <a:prstGeom prst="rect">
            <a:avLst/>
          </a:prstGeom>
          <a:solidFill>
            <a:srgbClr val="0F3460"/>
          </a:solidFill>
          <a:ln/>
        </p:spPr>
      </p:sp>
      <p:sp>
        <p:nvSpPr>
          <p:cNvPr id="25" name="Shape 22"/>
          <p:cNvSpPr/>
          <p:nvPr/>
        </p:nvSpPr>
        <p:spPr>
          <a:xfrm>
            <a:off x="6675120" y="5120640"/>
            <a:ext cx="137160" cy="777240"/>
          </a:xfrm>
          <a:prstGeom prst="rect">
            <a:avLst/>
          </a:prstGeom>
          <a:solidFill>
            <a:srgbClr val="E94560"/>
          </a:solidFill>
          <a:ln/>
        </p:spPr>
      </p:sp>
      <p:sp>
        <p:nvSpPr>
          <p:cNvPr id="26" name="Text 23"/>
          <p:cNvSpPr/>
          <p:nvPr/>
        </p:nvSpPr>
        <p:spPr>
          <a:xfrm>
            <a:off x="6949440" y="5120640"/>
            <a:ext cx="1645920" cy="777240"/>
          </a:xfrm>
          <a:prstGeom prst="rect">
            <a:avLst/>
          </a:prstGeom>
          <a:noFill/>
          <a:ln/>
        </p:spPr>
        <p:txBody>
          <a:bodyPr wrap="square" rtlCol="0" anchor="ctr"/>
          <a:lstStyle/>
          <a:p>
            <a:pPr marL="0" indent="0">
              <a:buNone/>
            </a:pPr>
            <a:r>
              <a:rPr lang="en-US" sz="1400" b="1" dirty="0">
                <a:solidFill>
                  <a:srgbClr val="E94560"/>
                </a:solidFill>
                <a:latin typeface="Trebuchet MS" pitchFamily="34" charset="0"/>
                <a:ea typeface="Trebuchet MS" pitchFamily="34" charset="-122"/>
                <a:cs typeface="Trebuchet MS" pitchFamily="34" charset="-120"/>
              </a:rPr>
              <a:t>Couche 4+</a:t>
            </a:r>
            <a:endParaRPr lang="en-US" sz="1400" dirty="0"/>
          </a:p>
        </p:txBody>
      </p:sp>
      <p:sp>
        <p:nvSpPr>
          <p:cNvPr id="27" name="Text 24"/>
          <p:cNvSpPr/>
          <p:nvPr/>
        </p:nvSpPr>
        <p:spPr>
          <a:xfrm>
            <a:off x="8595360" y="5120640"/>
            <a:ext cx="2560320" cy="777240"/>
          </a:xfrm>
          <a:prstGeom prst="rect">
            <a:avLst/>
          </a:prstGeom>
          <a:noFill/>
          <a:ln/>
        </p:spPr>
        <p:txBody>
          <a:bodyPr wrap="square" rtlCol="0" anchor="ctr"/>
          <a:lstStyle/>
          <a:p>
            <a:pPr marL="0" indent="0">
              <a:buNone/>
            </a:pPr>
            <a:r>
              <a:rPr lang="en-US" sz="1400" dirty="0">
                <a:solidFill>
                  <a:srgbClr val="F0F0F0"/>
                </a:solidFill>
                <a:latin typeface="Calibri" pitchFamily="34" charset="0"/>
                <a:ea typeface="Calibri" pitchFamily="34" charset="-122"/>
                <a:cs typeface="Calibri" pitchFamily="34" charset="-120"/>
              </a:rPr>
              <a:t>Objets entiers (visage, voiture)</a:t>
            </a:r>
            <a:endParaRPr lang="en-US" sz="1400" dirty="0"/>
          </a:p>
        </p:txBody>
      </p:sp>
      <p:sp>
        <p:nvSpPr>
          <p:cNvPr id="28" name="Text 25"/>
          <p:cNvSpPr/>
          <p:nvPr/>
        </p:nvSpPr>
        <p:spPr>
          <a:xfrm>
            <a:off x="6492240" y="5577840"/>
            <a:ext cx="4937760" cy="731520"/>
          </a:xfrm>
          <a:prstGeom prst="rect">
            <a:avLst/>
          </a:prstGeom>
          <a:noFill/>
          <a:ln/>
        </p:spPr>
        <p:txBody>
          <a:bodyPr wrap="square" rtlCol="0" anchor="t"/>
          <a:lstStyle/>
          <a:p>
            <a:pPr marL="0" indent="0">
              <a:buNone/>
            </a:pPr>
            <a:r>
              <a:rPr lang="en-US" sz="1300" i="1" dirty="0">
                <a:solidFill>
                  <a:srgbClr val="F0F0F0"/>
                </a:solidFill>
                <a:latin typeface="Calibri" pitchFamily="34" charset="0"/>
                <a:ea typeface="Calibri" pitchFamily="34" charset="-122"/>
                <a:cs typeface="Calibri" pitchFamily="34" charset="-120"/>
              </a:rPr>
              <a:t>Plus on va profond dans le réseau, plus les concepts détectés sont abstraits et complexes.</a:t>
            </a:r>
            <a:endParaRPr lang="en-US" sz="1300" dirty="0"/>
          </a:p>
        </p:txBody>
      </p:sp>
      <p:sp>
        <p:nvSpPr>
          <p:cNvPr id="29" name="Slide Number Placeholder 0"/>
          <p:cNvSpPr>
            <a:spLocks noGrp="1"/>
          </p:cNvSpPr>
          <p:nvPr>
            <p:ph type="sldNum" sz="quarter" idx="4294967295"/>
          </p:nvPr>
        </p:nvSpPr>
        <p:spPr>
          <a:xfrm>
            <a:off x="109728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A1A2E"/>
          </a:solidFill>
          <a:ln/>
        </p:spPr>
      </p:sp>
      <p:sp>
        <p:nvSpPr>
          <p:cNvPr id="3" name="Shape 1"/>
          <p:cNvSpPr/>
          <p:nvPr/>
        </p:nvSpPr>
        <p:spPr>
          <a:xfrm>
            <a:off x="0" y="960120"/>
            <a:ext cx="12188952" cy="54864"/>
          </a:xfrm>
          <a:prstGeom prst="rect">
            <a:avLst/>
          </a:prstGeom>
          <a:solidFill>
            <a:srgbClr val="E94560"/>
          </a:solidFill>
          <a:ln/>
        </p:spPr>
      </p:sp>
      <p:pic>
        <p:nvPicPr>
          <p:cNvPr id="4" name="Image 0" descr="/sessions/happy-hopeful-thompson/pptx-work/icons/project-diagram-white.png"/>
          <p:cNvPicPr>
            <a:picLocks noChangeAspect="1"/>
          </p:cNvPicPr>
          <p:nvPr/>
        </p:nvPicPr>
        <p:blipFill>
          <a:blip r:embed="rId3"/>
          <a:stretch>
            <a:fillRect/>
          </a:stretch>
        </p:blipFill>
        <p:spPr>
          <a:xfrm>
            <a:off x="365760" y="164592"/>
            <a:ext cx="594360" cy="594360"/>
          </a:xfrm>
          <a:prstGeom prst="rect">
            <a:avLst/>
          </a:prstGeom>
        </p:spPr>
      </p:pic>
      <p:sp>
        <p:nvSpPr>
          <p:cNvPr id="5" name="Text 2"/>
          <p:cNvSpPr/>
          <p:nvPr/>
        </p:nvSpPr>
        <p:spPr>
          <a:xfrm>
            <a:off x="1097280" y="91440"/>
            <a:ext cx="10515600" cy="8229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Pooling et Architecture Complète d'un CNN</a:t>
            </a:r>
            <a:endParaRPr lang="en-US" sz="2800" dirty="0"/>
          </a:p>
        </p:txBody>
      </p:sp>
      <p:sp>
        <p:nvSpPr>
          <p:cNvPr id="6" name="Shape 3"/>
          <p:cNvSpPr/>
          <p:nvPr/>
        </p:nvSpPr>
        <p:spPr>
          <a:xfrm>
            <a:off x="457200" y="1280160"/>
            <a:ext cx="5486400" cy="2560320"/>
          </a:xfrm>
          <a:prstGeom prst="rect">
            <a:avLst/>
          </a:prstGeom>
          <a:solidFill>
            <a:srgbClr val="FFFFFF"/>
          </a:solidFill>
          <a:ln/>
          <a:effectLst>
            <a:outerShdw blurRad="50800" dist="25400" dir="2700000" algn="bl" rotWithShape="0">
              <a:srgbClr val="000000">
                <a:alpha val="15000"/>
              </a:srgbClr>
            </a:outerShdw>
          </a:effectLst>
        </p:spPr>
      </p:sp>
      <p:sp>
        <p:nvSpPr>
          <p:cNvPr id="7" name="Text 4"/>
          <p:cNvSpPr/>
          <p:nvPr/>
        </p:nvSpPr>
        <p:spPr>
          <a:xfrm>
            <a:off x="731520" y="1371600"/>
            <a:ext cx="5029200" cy="457200"/>
          </a:xfrm>
          <a:prstGeom prst="rect">
            <a:avLst/>
          </a:prstGeom>
          <a:noFill/>
          <a:ln/>
        </p:spPr>
        <p:txBody>
          <a:bodyPr wrap="square" rtlCol="0" anchor="ctr"/>
          <a:lstStyle/>
          <a:p>
            <a:pPr marL="0" indent="0">
              <a:buNone/>
            </a:pPr>
            <a:r>
              <a:rPr lang="en-US" sz="1700" b="1" dirty="0">
                <a:solidFill>
                  <a:srgbClr val="1A1A2E"/>
                </a:solidFill>
                <a:latin typeface="Trebuchet MS" pitchFamily="34" charset="0"/>
                <a:ea typeface="Trebuchet MS" pitchFamily="34" charset="-122"/>
                <a:cs typeface="Trebuchet MS" pitchFamily="34" charset="-120"/>
              </a:rPr>
              <a:t>Le Pooling (sous-échantillonnage)</a:t>
            </a:r>
            <a:endParaRPr lang="en-US" sz="1700" dirty="0"/>
          </a:p>
        </p:txBody>
      </p:sp>
      <p:sp>
        <p:nvSpPr>
          <p:cNvPr id="8" name="Text 5"/>
          <p:cNvSpPr/>
          <p:nvPr/>
        </p:nvSpPr>
        <p:spPr>
          <a:xfrm>
            <a:off x="731520" y="1920240"/>
            <a:ext cx="4937760" cy="1828800"/>
          </a:xfrm>
          <a:prstGeom prst="rect">
            <a:avLst/>
          </a:prstGeom>
          <a:noFill/>
          <a:ln/>
        </p:spPr>
        <p:txBody>
          <a:bodyPr wrap="square" rtlCol="0" anchor="t"/>
          <a:lstStyle/>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Après chaque convolution, on réduit la taille de l'image en gardant l'information essentielle. Le Max Pooling prend la valeur maximale dans chaque zone — comme résumer un chapitre en une phrase clé.</a:t>
            </a:r>
            <a:endParaRPr lang="en-US" sz="1400" dirty="0"/>
          </a:p>
          <a:p>
            <a:pPr marL="0" indent="0">
              <a:lnSpc>
                <a:spcPct val="115000"/>
              </a:lnSpc>
              <a:buNone/>
            </a:pPr>
            <a:endParaRPr lang="en-US" sz="1400" dirty="0"/>
          </a:p>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Avantage : réduit le calcul et rend le réseau résistant aux petites variations (si le chat bouge un peu, le réseau le reconnaît quand même).</a:t>
            </a:r>
            <a:endParaRPr lang="en-US" sz="1400" dirty="0"/>
          </a:p>
        </p:txBody>
      </p:sp>
      <p:sp>
        <p:nvSpPr>
          <p:cNvPr id="9" name="Shape 6"/>
          <p:cNvSpPr/>
          <p:nvPr/>
        </p:nvSpPr>
        <p:spPr>
          <a:xfrm>
            <a:off x="6217920" y="1280160"/>
            <a:ext cx="5486400" cy="2560320"/>
          </a:xfrm>
          <a:prstGeom prst="rect">
            <a:avLst/>
          </a:prstGeom>
          <a:solidFill>
            <a:srgbClr val="FFFFFF"/>
          </a:solidFill>
          <a:ln/>
          <a:effectLst>
            <a:outerShdw blurRad="50800" dist="25400" dir="2700000" algn="bl" rotWithShape="0">
              <a:srgbClr val="000000">
                <a:alpha val="15000"/>
              </a:srgbClr>
            </a:outerShdw>
          </a:effectLst>
        </p:spPr>
      </p:sp>
      <p:sp>
        <p:nvSpPr>
          <p:cNvPr id="10" name="Text 7"/>
          <p:cNvSpPr/>
          <p:nvPr/>
        </p:nvSpPr>
        <p:spPr>
          <a:xfrm>
            <a:off x="6492240" y="1371600"/>
            <a:ext cx="5029200" cy="457200"/>
          </a:xfrm>
          <a:prstGeom prst="rect">
            <a:avLst/>
          </a:prstGeom>
          <a:noFill/>
          <a:ln/>
        </p:spPr>
        <p:txBody>
          <a:bodyPr wrap="square" rtlCol="0" anchor="ctr"/>
          <a:lstStyle/>
          <a:p>
            <a:pPr marL="0" indent="0">
              <a:buNone/>
            </a:pPr>
            <a:r>
              <a:rPr lang="en-US" sz="1700" b="1" dirty="0">
                <a:solidFill>
                  <a:srgbClr val="1A1A2E"/>
                </a:solidFill>
                <a:latin typeface="Trebuchet MS" pitchFamily="34" charset="0"/>
                <a:ea typeface="Trebuchet MS" pitchFamily="34" charset="-122"/>
                <a:cs typeface="Trebuchet MS" pitchFamily="34" charset="-120"/>
              </a:rPr>
              <a:t>Architecture type d'un CNN</a:t>
            </a:r>
            <a:endParaRPr lang="en-US" sz="1700" dirty="0"/>
          </a:p>
        </p:txBody>
      </p:sp>
      <p:sp>
        <p:nvSpPr>
          <p:cNvPr id="11" name="Text 8"/>
          <p:cNvSpPr/>
          <p:nvPr/>
        </p:nvSpPr>
        <p:spPr>
          <a:xfrm>
            <a:off x="6492240" y="1920240"/>
            <a:ext cx="5029200" cy="1828800"/>
          </a:xfrm>
          <a:prstGeom prst="rect">
            <a:avLst/>
          </a:prstGeom>
          <a:noFill/>
          <a:ln/>
        </p:spPr>
        <p:txBody>
          <a:bodyPr wrap="square" rtlCol="0" anchor="t"/>
          <a:lstStyle/>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Image → [Conv + ReLU + Pool] × N → Flatten → Dense → Sortie</a:t>
            </a:r>
            <a:endParaRPr lang="en-US" sz="1400" dirty="0"/>
          </a:p>
          <a:p>
            <a:pPr marL="0" indent="0">
              <a:lnSpc>
                <a:spcPct val="115000"/>
              </a:lnSpc>
              <a:buNone/>
            </a:pPr>
            <a:endParaRPr lang="en-US" sz="1400" dirty="0"/>
          </a:p>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 Conv : extrait les features</a:t>
            </a:r>
            <a:endParaRPr lang="en-US" sz="1400" dirty="0"/>
          </a:p>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 ReLU : ajoute la non-linéarité</a:t>
            </a:r>
            <a:endParaRPr lang="en-US" sz="1400" dirty="0"/>
          </a:p>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 Pool : réduit la taille</a:t>
            </a:r>
            <a:endParaRPr lang="en-US" sz="1400" dirty="0"/>
          </a:p>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 Flatten : aplatit en vecteur 1D</a:t>
            </a:r>
            <a:endParaRPr lang="en-US" sz="1400" dirty="0"/>
          </a:p>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 Dense : couche classique pour la classification</a:t>
            </a:r>
            <a:endParaRPr lang="en-US" sz="1400" dirty="0"/>
          </a:p>
        </p:txBody>
      </p:sp>
      <p:sp>
        <p:nvSpPr>
          <p:cNvPr id="12" name="Shape 9"/>
          <p:cNvSpPr/>
          <p:nvPr/>
        </p:nvSpPr>
        <p:spPr>
          <a:xfrm>
            <a:off x="457200" y="4114800"/>
            <a:ext cx="11274552" cy="2468880"/>
          </a:xfrm>
          <a:prstGeom prst="rect">
            <a:avLst/>
          </a:prstGeom>
          <a:solidFill>
            <a:srgbClr val="FFFFFF"/>
          </a:solidFill>
          <a:ln w="19050">
            <a:solidFill>
              <a:srgbClr val="E94560"/>
            </a:solidFill>
            <a:prstDash val="solid"/>
          </a:ln>
          <a:effectLst>
            <a:outerShdw blurRad="50800" dist="25400" dir="2700000" algn="bl" rotWithShape="0">
              <a:srgbClr val="000000">
                <a:alpha val="15000"/>
              </a:srgbClr>
            </a:outerShdw>
          </a:effectLst>
        </p:spPr>
      </p:sp>
      <p:sp>
        <p:nvSpPr>
          <p:cNvPr id="13" name="Shape 10"/>
          <p:cNvSpPr/>
          <p:nvPr/>
        </p:nvSpPr>
        <p:spPr>
          <a:xfrm>
            <a:off x="457200" y="4114800"/>
            <a:ext cx="11274552" cy="502920"/>
          </a:xfrm>
          <a:prstGeom prst="rect">
            <a:avLst/>
          </a:prstGeom>
          <a:solidFill>
            <a:srgbClr val="E94560"/>
          </a:solidFill>
          <a:ln/>
        </p:spPr>
      </p:sp>
      <p:sp>
        <p:nvSpPr>
          <p:cNvPr id="14" name="Text 11"/>
          <p:cNvSpPr/>
          <p:nvPr/>
        </p:nvSpPr>
        <p:spPr>
          <a:xfrm>
            <a:off x="731520" y="4114800"/>
            <a:ext cx="10698480" cy="502920"/>
          </a:xfrm>
          <a:prstGeom prst="rect">
            <a:avLst/>
          </a:prstGeom>
          <a:noFill/>
          <a:ln/>
        </p:spPr>
        <p:txBody>
          <a:bodyPr wrap="square" rtlCol="0" anchor="ctr"/>
          <a:lstStyle/>
          <a:p>
            <a:pPr marL="0" indent="0">
              <a:buNone/>
            </a:pPr>
            <a:r>
              <a:rPr lang="en-US" sz="1800" b="1" dirty="0">
                <a:solidFill>
                  <a:srgbClr val="FFFFFF"/>
                </a:solidFill>
                <a:latin typeface="Trebuchet MS" pitchFamily="34" charset="0"/>
                <a:ea typeface="Trebuchet MS" pitchFamily="34" charset="-122"/>
                <a:cs typeface="Trebuchet MS" pitchFamily="34" charset="-120"/>
              </a:rPr>
              <a:t>Transfer Learning : Ne repartez pas de zéro !</a:t>
            </a:r>
            <a:endParaRPr lang="en-US" sz="1800" dirty="0"/>
          </a:p>
        </p:txBody>
      </p:sp>
      <p:sp>
        <p:nvSpPr>
          <p:cNvPr id="15" name="Text 12"/>
          <p:cNvSpPr/>
          <p:nvPr/>
        </p:nvSpPr>
        <p:spPr>
          <a:xfrm>
            <a:off x="731520" y="4754880"/>
            <a:ext cx="10698480" cy="731520"/>
          </a:xfrm>
          <a:prstGeom prst="rect">
            <a:avLst/>
          </a:prstGeom>
          <a:noFill/>
          <a:ln/>
        </p:spPr>
        <p:txBody>
          <a:bodyPr wrap="square" rtlCol="0" anchor="t"/>
          <a:lstStyle/>
          <a:p>
            <a:pPr marL="0" indent="0">
              <a:lnSpc>
                <a:spcPct val="115000"/>
              </a:lnSpc>
              <a:buNone/>
            </a:pPr>
            <a:r>
              <a:rPr lang="en-US" sz="1500" dirty="0">
                <a:solidFill>
                  <a:srgbClr val="333333"/>
                </a:solidFill>
                <a:latin typeface="Calibri" pitchFamily="34" charset="0"/>
                <a:ea typeface="Calibri" pitchFamily="34" charset="-122"/>
                <a:cs typeface="Calibri" pitchFamily="34" charset="-120"/>
              </a:rPr>
              <a:t>Le Transfer Learning consiste à prendre un modèle déjà entraîné (sur des millions d'images) et à l'adapter à votre besoin spécifique. Vous gardez les couches qui détectent les features générales et vous ne ré-entraînez que les dernières couches.</a:t>
            </a:r>
            <a:endParaRPr lang="en-US" sz="1500" dirty="0"/>
          </a:p>
        </p:txBody>
      </p:sp>
      <p:sp>
        <p:nvSpPr>
          <p:cNvPr id="16" name="Text 13"/>
          <p:cNvSpPr/>
          <p:nvPr/>
        </p:nvSpPr>
        <p:spPr>
          <a:xfrm>
            <a:off x="731520" y="5577840"/>
            <a:ext cx="10698480" cy="548640"/>
          </a:xfrm>
          <a:prstGeom prst="rect">
            <a:avLst/>
          </a:prstGeom>
          <a:noFill/>
          <a:ln/>
        </p:spPr>
        <p:txBody>
          <a:bodyPr wrap="square" rtlCol="0" anchor="t"/>
          <a:lstStyle/>
          <a:p>
            <a:pPr marL="0" indent="0">
              <a:buNone/>
            </a:pPr>
            <a:r>
              <a:rPr lang="en-US" sz="1400" i="1" dirty="0">
                <a:solidFill>
                  <a:srgbClr val="666666"/>
                </a:solidFill>
                <a:latin typeface="Calibri" pitchFamily="34" charset="0"/>
                <a:ea typeface="Calibri" pitchFamily="34" charset="-122"/>
                <a:cs typeface="Calibri" pitchFamily="34" charset="-120"/>
              </a:rPr>
              <a:t>Modèles pré-entraînés populaires : VGG16 (simple), ResNet (profond, 152 couches), MobileNet (léger, pour mobile). Disponibles en 2 lignes de code avec TensorFlow/PyTorch.</a:t>
            </a:r>
            <a:endParaRPr lang="en-US" sz="1400" dirty="0"/>
          </a:p>
        </p:txBody>
      </p:sp>
      <p:sp>
        <p:nvSpPr>
          <p:cNvPr id="25" name="Slide Number Placeholder 0"/>
          <p:cNvSpPr>
            <a:spLocks noGrp="1"/>
          </p:cNvSpPr>
          <p:nvPr>
            <p:ph type="sldNum" sz="quarter" idx="4294967295"/>
          </p:nvPr>
        </p:nvSpPr>
        <p:spPr>
          <a:xfrm>
            <a:off x="109728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914400" y="1371600"/>
            <a:ext cx="10360152" cy="548640"/>
          </a:xfrm>
          <a:prstGeom prst="rect">
            <a:avLst/>
          </a:prstGeom>
          <a:noFill/>
          <a:ln/>
        </p:spPr>
        <p:txBody>
          <a:bodyPr wrap="square" rtlCol="0" anchor="ctr"/>
          <a:lstStyle/>
          <a:p>
            <a:pPr marL="0" indent="0" algn="ctr">
              <a:buNone/>
            </a:pPr>
            <a:r>
              <a:rPr lang="en-US" sz="2000" dirty="0">
                <a:solidFill>
                  <a:srgbClr val="E94560"/>
                </a:solidFill>
                <a:latin typeface="Calibri" pitchFamily="34" charset="0"/>
                <a:ea typeface="Calibri" pitchFamily="34" charset="-122"/>
                <a:cs typeface="Calibri" pitchFamily="34" charset="-120"/>
              </a:rPr>
              <a:t>Partie 3</a:t>
            </a:r>
            <a:endParaRPr lang="en-US" sz="2000" dirty="0"/>
          </a:p>
        </p:txBody>
      </p:sp>
      <p:sp>
        <p:nvSpPr>
          <p:cNvPr id="3" name="Text 1"/>
          <p:cNvSpPr/>
          <p:nvPr/>
        </p:nvSpPr>
        <p:spPr>
          <a:xfrm>
            <a:off x="914400" y="2286000"/>
            <a:ext cx="10360152" cy="914400"/>
          </a:xfrm>
          <a:prstGeom prst="rect">
            <a:avLst/>
          </a:prstGeom>
          <a:noFill/>
          <a:ln/>
        </p:spPr>
        <p:txBody>
          <a:bodyPr wrap="square" rtlCol="0" anchor="ctr"/>
          <a:lstStyle/>
          <a:p>
            <a:pPr marL="0" indent="0" algn="ctr">
              <a:buNone/>
            </a:pPr>
            <a:r>
              <a:rPr lang="en-US" sz="4000" b="1" dirty="0">
                <a:solidFill>
                  <a:srgbClr val="FFFFFF"/>
                </a:solidFill>
                <a:latin typeface="Trebuchet MS" pitchFamily="34" charset="0"/>
                <a:ea typeface="Trebuchet MS" pitchFamily="34" charset="-122"/>
                <a:cs typeface="Trebuchet MS" pitchFamily="34" charset="-120"/>
              </a:rPr>
              <a:t>Les Réseaux Récurrents (RNN/LSTM)</a:t>
            </a:r>
            <a:endParaRPr lang="en-US" sz="4000" dirty="0"/>
          </a:p>
        </p:txBody>
      </p:sp>
      <p:sp>
        <p:nvSpPr>
          <p:cNvPr id="4" name="Text 2"/>
          <p:cNvSpPr/>
          <p:nvPr/>
        </p:nvSpPr>
        <p:spPr>
          <a:xfrm>
            <a:off x="914400" y="3291840"/>
            <a:ext cx="10360152" cy="548640"/>
          </a:xfrm>
          <a:prstGeom prst="rect">
            <a:avLst/>
          </a:prstGeom>
          <a:noFill/>
          <a:ln/>
        </p:spPr>
        <p:txBody>
          <a:bodyPr wrap="square" rtlCol="0" anchor="ctr"/>
          <a:lstStyle/>
          <a:p>
            <a:pPr marL="0" indent="0" algn="ctr">
              <a:buNone/>
            </a:pPr>
            <a:r>
              <a:rPr lang="en-US" sz="2200" dirty="0">
                <a:solidFill>
                  <a:srgbClr val="F0F0F0"/>
                </a:solidFill>
                <a:latin typeface="Calibri" pitchFamily="34" charset="0"/>
                <a:ea typeface="Calibri" pitchFamily="34" charset="-122"/>
                <a:cs typeface="Calibri" pitchFamily="34" charset="-120"/>
              </a:rPr>
              <a:t>Quand l'ordre des données compte</a:t>
            </a:r>
            <a:endParaRPr lang="en-US" sz="2200" dirty="0"/>
          </a:p>
        </p:txBody>
      </p:sp>
      <p:sp>
        <p:nvSpPr>
          <p:cNvPr id="5" name="Shape 3"/>
          <p:cNvSpPr/>
          <p:nvPr/>
        </p:nvSpPr>
        <p:spPr>
          <a:xfrm>
            <a:off x="3657600" y="4114800"/>
            <a:ext cx="4873752" cy="36576"/>
          </a:xfrm>
          <a:prstGeom prst="rect">
            <a:avLst/>
          </a:prstGeom>
          <a:solidFill>
            <a:srgbClr val="E94560"/>
          </a:solidFill>
          <a:ln/>
        </p:spPr>
      </p:sp>
      <p:pic>
        <p:nvPicPr>
          <p:cNvPr id="6" name="Image 0" descr="/sessions/happy-hopeful-thompson/pptx-work/icons/comments-white.png"/>
          <p:cNvPicPr>
            <a:picLocks noChangeAspect="1"/>
          </p:cNvPicPr>
          <p:nvPr/>
        </p:nvPicPr>
        <p:blipFill>
          <a:blip r:embed="rId3"/>
          <a:stretch>
            <a:fillRect/>
          </a:stretch>
        </p:blipFill>
        <p:spPr>
          <a:xfrm>
            <a:off x="5486400" y="4572000"/>
            <a:ext cx="1188720" cy="11887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A1A2E"/>
          </a:solidFill>
          <a:ln/>
        </p:spPr>
      </p:sp>
      <p:sp>
        <p:nvSpPr>
          <p:cNvPr id="3" name="Shape 1"/>
          <p:cNvSpPr/>
          <p:nvPr/>
        </p:nvSpPr>
        <p:spPr>
          <a:xfrm>
            <a:off x="0" y="960120"/>
            <a:ext cx="12188952" cy="54864"/>
          </a:xfrm>
          <a:prstGeom prst="rect">
            <a:avLst/>
          </a:prstGeom>
          <a:solidFill>
            <a:srgbClr val="E94560"/>
          </a:solidFill>
          <a:ln/>
        </p:spPr>
      </p:sp>
      <p:pic>
        <p:nvPicPr>
          <p:cNvPr id="4" name="Image 0" descr="/sessions/happy-hopeful-thompson/pptx-work/icons/comments-white.png"/>
          <p:cNvPicPr>
            <a:picLocks noChangeAspect="1"/>
          </p:cNvPicPr>
          <p:nvPr/>
        </p:nvPicPr>
        <p:blipFill>
          <a:blip r:embed="rId3"/>
          <a:stretch>
            <a:fillRect/>
          </a:stretch>
        </p:blipFill>
        <p:spPr>
          <a:xfrm>
            <a:off x="365760" y="164592"/>
            <a:ext cx="594360" cy="594360"/>
          </a:xfrm>
          <a:prstGeom prst="rect">
            <a:avLst/>
          </a:prstGeom>
        </p:spPr>
      </p:pic>
      <p:sp>
        <p:nvSpPr>
          <p:cNvPr id="5" name="Text 2"/>
          <p:cNvSpPr/>
          <p:nvPr/>
        </p:nvSpPr>
        <p:spPr>
          <a:xfrm>
            <a:off x="1097280" y="91440"/>
            <a:ext cx="10515600" cy="8229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Pourquoi les Réseaux Récurrents ?</a:t>
            </a:r>
            <a:endParaRPr lang="en-US" sz="2800" dirty="0"/>
          </a:p>
        </p:txBody>
      </p:sp>
      <p:sp>
        <p:nvSpPr>
          <p:cNvPr id="6" name="Shape 3"/>
          <p:cNvSpPr/>
          <p:nvPr/>
        </p:nvSpPr>
        <p:spPr>
          <a:xfrm>
            <a:off x="457200" y="1280160"/>
            <a:ext cx="11274552" cy="5303520"/>
          </a:xfrm>
          <a:prstGeom prst="rect">
            <a:avLst/>
          </a:prstGeom>
          <a:solidFill>
            <a:srgbClr val="FFFFFF"/>
          </a:solidFill>
          <a:ln/>
          <a:effectLst>
            <a:outerShdw blurRad="50800" dist="25400" dir="2700000" algn="bl" rotWithShape="0">
              <a:srgbClr val="000000">
                <a:alpha val="15000"/>
              </a:srgbClr>
            </a:outerShdw>
          </a:effectLst>
        </p:spPr>
      </p:sp>
      <p:sp>
        <p:nvSpPr>
          <p:cNvPr id="7" name="Text 4"/>
          <p:cNvSpPr/>
          <p:nvPr/>
        </p:nvSpPr>
        <p:spPr>
          <a:xfrm>
            <a:off x="731520" y="1371600"/>
            <a:ext cx="10698480" cy="457200"/>
          </a:xfrm>
          <a:prstGeom prst="rect">
            <a:avLst/>
          </a:prstGeom>
          <a:noFill/>
          <a:ln/>
        </p:spPr>
        <p:txBody>
          <a:bodyPr wrap="square" rtlCol="0" anchor="ctr"/>
          <a:lstStyle/>
          <a:p>
            <a:pPr marL="0" indent="0">
              <a:buNone/>
            </a:pPr>
            <a:r>
              <a:rPr lang="en-US" sz="1800" b="1" dirty="0">
                <a:solidFill>
                  <a:srgbClr val="1A1A2E"/>
                </a:solidFill>
                <a:latin typeface="Trebuchet MS" pitchFamily="34" charset="0"/>
                <a:ea typeface="Trebuchet MS" pitchFamily="34" charset="-122"/>
                <a:cs typeface="Trebuchet MS" pitchFamily="34" charset="-120"/>
              </a:rPr>
              <a:t>Certaines données sont séquentielles — l'ordre compte !</a:t>
            </a:r>
            <a:endParaRPr lang="en-US" sz="1800" dirty="0"/>
          </a:p>
        </p:txBody>
      </p:sp>
      <p:sp>
        <p:nvSpPr>
          <p:cNvPr id="8" name="Text 5"/>
          <p:cNvSpPr/>
          <p:nvPr/>
        </p:nvSpPr>
        <p:spPr>
          <a:xfrm>
            <a:off x="731520" y="1920240"/>
            <a:ext cx="10698480" cy="457200"/>
          </a:xfrm>
          <a:prstGeom prst="rect">
            <a:avLst/>
          </a:prstGeom>
          <a:noFill/>
          <a:ln/>
        </p:spPr>
        <p:txBody>
          <a:bodyPr wrap="square" rtlCol="0" anchor="ctr"/>
          <a:lstStyle/>
          <a:p>
            <a:pPr marL="0" indent="0">
              <a:buNone/>
            </a:pPr>
            <a:r>
              <a:rPr lang="en-US" sz="1500" dirty="0">
                <a:solidFill>
                  <a:srgbClr val="333333"/>
                </a:solidFill>
                <a:latin typeface="Calibri" pitchFamily="34" charset="0"/>
                <a:ea typeface="Calibri" pitchFamily="34" charset="-122"/>
                <a:cs typeface="Calibri" pitchFamily="34" charset="-120"/>
              </a:rPr>
              <a:t>Un CNN traite chaque entrée de façon isolée. Mais pour du texte, de l'audio ou des séries temporelles, le contexte est crucial :</a:t>
            </a:r>
            <a:endParaRPr lang="en-US" sz="1500" dirty="0"/>
          </a:p>
        </p:txBody>
      </p:sp>
      <p:sp>
        <p:nvSpPr>
          <p:cNvPr id="9" name="Shape 6"/>
          <p:cNvSpPr/>
          <p:nvPr/>
        </p:nvSpPr>
        <p:spPr>
          <a:xfrm>
            <a:off x="914400" y="2560320"/>
            <a:ext cx="109728" cy="777240"/>
          </a:xfrm>
          <a:prstGeom prst="rect">
            <a:avLst/>
          </a:prstGeom>
          <a:solidFill>
            <a:srgbClr val="E94560"/>
          </a:solidFill>
          <a:ln/>
        </p:spPr>
      </p:sp>
      <p:sp>
        <p:nvSpPr>
          <p:cNvPr id="10" name="Text 7"/>
          <p:cNvSpPr/>
          <p:nvPr/>
        </p:nvSpPr>
        <p:spPr>
          <a:xfrm>
            <a:off x="1280160" y="2560320"/>
            <a:ext cx="9875520" cy="411480"/>
          </a:xfrm>
          <a:prstGeom prst="rect">
            <a:avLst/>
          </a:prstGeom>
          <a:noFill/>
          <a:ln/>
        </p:spPr>
        <p:txBody>
          <a:bodyPr wrap="square"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 Le chat mange la souris »  vs  « La souris mange le chat »</a:t>
            </a:r>
            <a:endParaRPr lang="en-US" sz="1400" dirty="0"/>
          </a:p>
        </p:txBody>
      </p:sp>
      <p:sp>
        <p:nvSpPr>
          <p:cNvPr id="11" name="Text 8"/>
          <p:cNvSpPr/>
          <p:nvPr/>
        </p:nvSpPr>
        <p:spPr>
          <a:xfrm>
            <a:off x="1280160" y="2926080"/>
            <a:ext cx="9875520" cy="411480"/>
          </a:xfrm>
          <a:prstGeom prst="rect">
            <a:avLst/>
          </a:prstGeom>
          <a:noFill/>
          <a:ln/>
        </p:spPr>
        <p:txBody>
          <a:bodyPr wrap="square" rtlCol="0" anchor="t"/>
          <a:lstStyle/>
          <a:p>
            <a:pPr marL="0" indent="0">
              <a:buNone/>
            </a:pPr>
            <a:r>
              <a:rPr lang="en-US" sz="1300" dirty="0">
                <a:solidFill>
                  <a:srgbClr val="666666"/>
                </a:solidFill>
                <a:latin typeface="Calibri" pitchFamily="34" charset="0"/>
                <a:ea typeface="Calibri" pitchFamily="34" charset="-122"/>
                <a:cs typeface="Calibri" pitchFamily="34" charset="-120"/>
              </a:rPr>
              <a:t>Mêmes mots, sens complètement différent → l'ordre compte</a:t>
            </a:r>
            <a:endParaRPr lang="en-US" sz="1300" dirty="0"/>
          </a:p>
        </p:txBody>
      </p:sp>
      <p:sp>
        <p:nvSpPr>
          <p:cNvPr id="12" name="Shape 9"/>
          <p:cNvSpPr/>
          <p:nvPr/>
        </p:nvSpPr>
        <p:spPr>
          <a:xfrm>
            <a:off x="914400" y="3611880"/>
            <a:ext cx="109728" cy="777240"/>
          </a:xfrm>
          <a:prstGeom prst="rect">
            <a:avLst/>
          </a:prstGeom>
          <a:solidFill>
            <a:srgbClr val="E94560"/>
          </a:solidFill>
          <a:ln/>
        </p:spPr>
      </p:sp>
      <p:sp>
        <p:nvSpPr>
          <p:cNvPr id="13" name="Text 10"/>
          <p:cNvSpPr/>
          <p:nvPr/>
        </p:nvSpPr>
        <p:spPr>
          <a:xfrm>
            <a:off x="1280160" y="3611880"/>
            <a:ext cx="9875520" cy="411480"/>
          </a:xfrm>
          <a:prstGeom prst="rect">
            <a:avLst/>
          </a:prstGeom>
          <a:noFill/>
          <a:ln/>
        </p:spPr>
        <p:txBody>
          <a:bodyPr wrap="square"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Prédire le mot suivant dans une phrase</a:t>
            </a:r>
            <a:endParaRPr lang="en-US" sz="1400" dirty="0"/>
          </a:p>
        </p:txBody>
      </p:sp>
      <p:sp>
        <p:nvSpPr>
          <p:cNvPr id="14" name="Text 11"/>
          <p:cNvSpPr/>
          <p:nvPr/>
        </p:nvSpPr>
        <p:spPr>
          <a:xfrm>
            <a:off x="1280160" y="3977640"/>
            <a:ext cx="9875520" cy="411480"/>
          </a:xfrm>
          <a:prstGeom prst="rect">
            <a:avLst/>
          </a:prstGeom>
          <a:noFill/>
          <a:ln/>
        </p:spPr>
        <p:txBody>
          <a:bodyPr wrap="square" rtlCol="0" anchor="t"/>
          <a:lstStyle/>
          <a:p>
            <a:pPr marL="0" indent="0">
              <a:buNone/>
            </a:pPr>
            <a:r>
              <a:rPr lang="en-US" sz="1300" dirty="0">
                <a:solidFill>
                  <a:srgbClr val="666666"/>
                </a:solidFill>
                <a:latin typeface="Calibri" pitchFamily="34" charset="0"/>
                <a:ea typeface="Calibri" pitchFamily="34" charset="-122"/>
                <a:cs typeface="Calibri" pitchFamily="34" charset="-120"/>
              </a:rPr>
              <a:t>« Il fait beau aujourd'hui, je vais aller me ___ » → baigner ? promener ?</a:t>
            </a:r>
            <a:endParaRPr lang="en-US" sz="1300" dirty="0"/>
          </a:p>
        </p:txBody>
      </p:sp>
      <p:sp>
        <p:nvSpPr>
          <p:cNvPr id="15" name="Shape 12"/>
          <p:cNvSpPr/>
          <p:nvPr/>
        </p:nvSpPr>
        <p:spPr>
          <a:xfrm>
            <a:off x="914400" y="4663440"/>
            <a:ext cx="109728" cy="777240"/>
          </a:xfrm>
          <a:prstGeom prst="rect">
            <a:avLst/>
          </a:prstGeom>
          <a:solidFill>
            <a:srgbClr val="E94560"/>
          </a:solidFill>
          <a:ln/>
        </p:spPr>
      </p:sp>
      <p:sp>
        <p:nvSpPr>
          <p:cNvPr id="16" name="Text 13"/>
          <p:cNvSpPr/>
          <p:nvPr/>
        </p:nvSpPr>
        <p:spPr>
          <a:xfrm>
            <a:off x="1280160" y="4663440"/>
            <a:ext cx="9875520" cy="411480"/>
          </a:xfrm>
          <a:prstGeom prst="rect">
            <a:avLst/>
          </a:prstGeom>
          <a:noFill/>
          <a:ln/>
        </p:spPr>
        <p:txBody>
          <a:bodyPr wrap="square"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Prédire le cours d'une action en bourse</a:t>
            </a:r>
            <a:endParaRPr lang="en-US" sz="1400" dirty="0"/>
          </a:p>
        </p:txBody>
      </p:sp>
      <p:sp>
        <p:nvSpPr>
          <p:cNvPr id="17" name="Text 14"/>
          <p:cNvSpPr/>
          <p:nvPr/>
        </p:nvSpPr>
        <p:spPr>
          <a:xfrm>
            <a:off x="1280160" y="5029200"/>
            <a:ext cx="9875520" cy="411480"/>
          </a:xfrm>
          <a:prstGeom prst="rect">
            <a:avLst/>
          </a:prstGeom>
          <a:noFill/>
          <a:ln/>
        </p:spPr>
        <p:txBody>
          <a:bodyPr wrap="square" rtlCol="0" anchor="t"/>
          <a:lstStyle/>
          <a:p>
            <a:pPr marL="0" indent="0">
              <a:buNone/>
            </a:pPr>
            <a:r>
              <a:rPr lang="en-US" sz="1300" dirty="0">
                <a:solidFill>
                  <a:srgbClr val="666666"/>
                </a:solidFill>
                <a:latin typeface="Calibri" pitchFamily="34" charset="0"/>
                <a:ea typeface="Calibri" pitchFamily="34" charset="-122"/>
                <a:cs typeface="Calibri" pitchFamily="34" charset="-120"/>
              </a:rPr>
              <a:t>Le prix de demain dépend de l'historique récent, pas d'un seul point</a:t>
            </a:r>
            <a:endParaRPr lang="en-US" sz="1300" dirty="0"/>
          </a:p>
        </p:txBody>
      </p:sp>
      <p:sp>
        <p:nvSpPr>
          <p:cNvPr id="18" name="Shape 15"/>
          <p:cNvSpPr/>
          <p:nvPr/>
        </p:nvSpPr>
        <p:spPr>
          <a:xfrm>
            <a:off x="914400" y="5715000"/>
            <a:ext cx="109728" cy="777240"/>
          </a:xfrm>
          <a:prstGeom prst="rect">
            <a:avLst/>
          </a:prstGeom>
          <a:solidFill>
            <a:srgbClr val="E94560"/>
          </a:solidFill>
          <a:ln/>
        </p:spPr>
      </p:sp>
      <p:sp>
        <p:nvSpPr>
          <p:cNvPr id="19" name="Text 16"/>
          <p:cNvSpPr/>
          <p:nvPr/>
        </p:nvSpPr>
        <p:spPr>
          <a:xfrm>
            <a:off x="1280160" y="5715000"/>
            <a:ext cx="9875520" cy="411480"/>
          </a:xfrm>
          <a:prstGeom prst="rect">
            <a:avLst/>
          </a:prstGeom>
          <a:noFill/>
          <a:ln/>
        </p:spPr>
        <p:txBody>
          <a:bodyPr wrap="square"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Traduction automatique (Google Translate)</a:t>
            </a:r>
            <a:endParaRPr lang="en-US" sz="1400" dirty="0"/>
          </a:p>
        </p:txBody>
      </p:sp>
      <p:sp>
        <p:nvSpPr>
          <p:cNvPr id="20" name="Text 17"/>
          <p:cNvSpPr/>
          <p:nvPr/>
        </p:nvSpPr>
        <p:spPr>
          <a:xfrm>
            <a:off x="1280160" y="6080760"/>
            <a:ext cx="9875520" cy="411480"/>
          </a:xfrm>
          <a:prstGeom prst="rect">
            <a:avLst/>
          </a:prstGeom>
          <a:noFill/>
          <a:ln/>
        </p:spPr>
        <p:txBody>
          <a:bodyPr wrap="square" rtlCol="0" anchor="t"/>
          <a:lstStyle/>
          <a:p>
            <a:pPr marL="0" indent="0">
              <a:buNone/>
            </a:pPr>
            <a:r>
              <a:rPr lang="en-US" sz="1300" dirty="0">
                <a:solidFill>
                  <a:srgbClr val="666666"/>
                </a:solidFill>
                <a:latin typeface="Calibri" pitchFamily="34" charset="0"/>
                <a:ea typeface="Calibri" pitchFamily="34" charset="-122"/>
                <a:cs typeface="Calibri" pitchFamily="34" charset="-120"/>
              </a:rPr>
              <a:t>On doit comprendre la phrase entière avant de traduire</a:t>
            </a:r>
            <a:endParaRPr lang="en-US" sz="1300" dirty="0"/>
          </a:p>
        </p:txBody>
      </p:sp>
      <p:sp>
        <p:nvSpPr>
          <p:cNvPr id="25" name="Slide Number Placeholder 0"/>
          <p:cNvSpPr>
            <a:spLocks noGrp="1"/>
          </p:cNvSpPr>
          <p:nvPr>
            <p:ph type="sldNum" sz="quarter" idx="4294967295"/>
          </p:nvPr>
        </p:nvSpPr>
        <p:spPr>
          <a:xfrm>
            <a:off x="109728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A1A2E"/>
          </a:solidFill>
          <a:ln/>
        </p:spPr>
      </p:sp>
      <p:sp>
        <p:nvSpPr>
          <p:cNvPr id="3" name="Shape 1"/>
          <p:cNvSpPr/>
          <p:nvPr/>
        </p:nvSpPr>
        <p:spPr>
          <a:xfrm>
            <a:off x="0" y="960120"/>
            <a:ext cx="12188952" cy="54864"/>
          </a:xfrm>
          <a:prstGeom prst="rect">
            <a:avLst/>
          </a:prstGeom>
          <a:solidFill>
            <a:srgbClr val="E94560"/>
          </a:solidFill>
          <a:ln/>
        </p:spPr>
      </p:sp>
      <p:pic>
        <p:nvPicPr>
          <p:cNvPr id="4" name="Image 0" descr="/sessions/happy-hopeful-thompson/pptx-work/icons/sync-white.png"/>
          <p:cNvPicPr>
            <a:picLocks noChangeAspect="1"/>
          </p:cNvPicPr>
          <p:nvPr/>
        </p:nvPicPr>
        <p:blipFill>
          <a:blip r:embed="rId3"/>
          <a:stretch>
            <a:fillRect/>
          </a:stretch>
        </p:blipFill>
        <p:spPr>
          <a:xfrm>
            <a:off x="365760" y="164592"/>
            <a:ext cx="594360" cy="594360"/>
          </a:xfrm>
          <a:prstGeom prst="rect">
            <a:avLst/>
          </a:prstGeom>
        </p:spPr>
      </p:pic>
      <p:sp>
        <p:nvSpPr>
          <p:cNvPr id="5" name="Text 2"/>
          <p:cNvSpPr/>
          <p:nvPr/>
        </p:nvSpPr>
        <p:spPr>
          <a:xfrm>
            <a:off x="1097280" y="91440"/>
            <a:ext cx="10515600" cy="8229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Le RNN Simple : Un Réseau avec de la Mémoire</a:t>
            </a:r>
            <a:endParaRPr lang="en-US" sz="2800" dirty="0"/>
          </a:p>
        </p:txBody>
      </p:sp>
      <p:sp>
        <p:nvSpPr>
          <p:cNvPr id="6" name="Shape 3"/>
          <p:cNvSpPr/>
          <p:nvPr/>
        </p:nvSpPr>
        <p:spPr>
          <a:xfrm>
            <a:off x="457200" y="1280160"/>
            <a:ext cx="6858000" cy="5120640"/>
          </a:xfrm>
          <a:prstGeom prst="rect">
            <a:avLst/>
          </a:prstGeom>
          <a:solidFill>
            <a:srgbClr val="FFFFFF"/>
          </a:solidFill>
          <a:ln/>
          <a:effectLst>
            <a:outerShdw blurRad="50800" dist="25400" dir="2700000" algn="bl" rotWithShape="0">
              <a:srgbClr val="000000">
                <a:alpha val="15000"/>
              </a:srgbClr>
            </a:outerShdw>
          </a:effectLst>
        </p:spPr>
      </p:sp>
      <p:sp>
        <p:nvSpPr>
          <p:cNvPr id="7" name="Text 4"/>
          <p:cNvSpPr/>
          <p:nvPr/>
        </p:nvSpPr>
        <p:spPr>
          <a:xfrm>
            <a:off x="731520" y="1371600"/>
            <a:ext cx="6400800" cy="457200"/>
          </a:xfrm>
          <a:prstGeom prst="rect">
            <a:avLst/>
          </a:prstGeom>
          <a:noFill/>
          <a:ln/>
        </p:spPr>
        <p:txBody>
          <a:bodyPr wrap="square" rtlCol="0" anchor="ctr"/>
          <a:lstStyle/>
          <a:p>
            <a:pPr marL="0" indent="0">
              <a:buNone/>
            </a:pPr>
            <a:r>
              <a:rPr lang="en-US" sz="1800" b="1" dirty="0">
                <a:solidFill>
                  <a:srgbClr val="1A1A2E"/>
                </a:solidFill>
                <a:latin typeface="Trebuchet MS" pitchFamily="34" charset="0"/>
                <a:ea typeface="Trebuchet MS" pitchFamily="34" charset="-122"/>
                <a:cs typeface="Trebuchet MS" pitchFamily="34" charset="-120"/>
              </a:rPr>
              <a:t>Principe du RNN</a:t>
            </a:r>
            <a:endParaRPr lang="en-US" sz="1800" dirty="0"/>
          </a:p>
        </p:txBody>
      </p:sp>
      <p:sp>
        <p:nvSpPr>
          <p:cNvPr id="8" name="Text 5"/>
          <p:cNvSpPr/>
          <p:nvPr/>
        </p:nvSpPr>
        <p:spPr>
          <a:xfrm>
            <a:off x="731520" y="1920240"/>
            <a:ext cx="6309360" cy="640080"/>
          </a:xfrm>
          <a:prstGeom prst="rect">
            <a:avLst/>
          </a:prstGeom>
          <a:noFill/>
          <a:ln/>
        </p:spPr>
        <p:txBody>
          <a:bodyPr wrap="square" rtlCol="0" anchor="t"/>
          <a:lstStyle/>
          <a:p>
            <a:pPr marL="0" indent="0">
              <a:lnSpc>
                <a:spcPct val="115000"/>
              </a:lnSpc>
              <a:buNone/>
            </a:pPr>
            <a:r>
              <a:rPr lang="en-US" sz="1500" dirty="0">
                <a:solidFill>
                  <a:srgbClr val="333333"/>
                </a:solidFill>
                <a:latin typeface="Calibri" pitchFamily="34" charset="0"/>
                <a:ea typeface="Calibri" pitchFamily="34" charset="-122"/>
                <a:cs typeface="Calibri" pitchFamily="34" charset="-120"/>
              </a:rPr>
              <a:t>Un RNN (Recurrent Neural Network) est un réseau qui possède une « mémoire » : il se souvient de ce qu'il a vu avant.</a:t>
            </a:r>
            <a:endParaRPr lang="en-US" sz="1500" dirty="0"/>
          </a:p>
        </p:txBody>
      </p:sp>
      <p:sp>
        <p:nvSpPr>
          <p:cNvPr id="9" name="Text 6"/>
          <p:cNvSpPr/>
          <p:nvPr/>
        </p:nvSpPr>
        <p:spPr>
          <a:xfrm>
            <a:off x="731520" y="2560320"/>
            <a:ext cx="6309360" cy="3200400"/>
          </a:xfrm>
          <a:prstGeom prst="rect">
            <a:avLst/>
          </a:prstGeom>
          <a:noFill/>
          <a:ln/>
        </p:spPr>
        <p:txBody>
          <a:bodyPr wrap="square" rtlCol="0" anchor="t"/>
          <a:lstStyle/>
          <a:p>
            <a:pPr marL="0" indent="0">
              <a:spcBef>
                <a:spcPts val="800"/>
              </a:spcBef>
              <a:buNone/>
            </a:pPr>
            <a:r>
              <a:rPr lang="en-US" sz="1500" b="1" dirty="0">
                <a:solidFill>
                  <a:srgbClr val="333333"/>
                </a:solidFill>
                <a:latin typeface="Calibri" pitchFamily="34" charset="0"/>
                <a:ea typeface="Calibri" pitchFamily="34" charset="-122"/>
                <a:cs typeface="Calibri" pitchFamily="34" charset="-120"/>
              </a:rPr>
              <a:t>À chaque pas de temps, il reçoit :</a:t>
            </a:r>
            <a:endParaRPr lang="en-US" sz="1500" dirty="0"/>
          </a:p>
          <a:p>
            <a:pPr marL="0" indent="0">
              <a:spcBef>
                <a:spcPts val="400"/>
              </a:spcBef>
              <a:buNone/>
            </a:pPr>
            <a:r>
              <a:rPr lang="en-US" sz="1500" dirty="0">
                <a:solidFill>
                  <a:srgbClr val="333333"/>
                </a:solidFill>
                <a:latin typeface="Calibri" pitchFamily="34" charset="0"/>
                <a:ea typeface="Calibri" pitchFamily="34" charset="-122"/>
                <a:cs typeface="Calibri" pitchFamily="34" charset="-120"/>
              </a:rPr>
              <a:t>• L'entrée actuelle (le mot courant)</a:t>
            </a:r>
            <a:endParaRPr lang="en-US" sz="1500" dirty="0"/>
          </a:p>
          <a:p>
            <a:pPr marL="0" indent="0">
              <a:spcBef>
                <a:spcPts val="400"/>
              </a:spcBef>
              <a:buNone/>
            </a:pPr>
            <a:r>
              <a:rPr lang="en-US" sz="1500" dirty="0">
                <a:solidFill>
                  <a:srgbClr val="333333"/>
                </a:solidFill>
                <a:latin typeface="Calibri" pitchFamily="34" charset="0"/>
                <a:ea typeface="Calibri" pitchFamily="34" charset="-122"/>
                <a:cs typeface="Calibri" pitchFamily="34" charset="-120"/>
              </a:rPr>
              <a:t>• Sa mémoire du pas précédent (hidden state)</a:t>
            </a:r>
            <a:endParaRPr lang="en-US" sz="1500" dirty="0"/>
          </a:p>
          <a:p>
            <a:pPr marL="0" indent="0">
              <a:buNone/>
            </a:pPr>
            <a:endParaRPr lang="en-US" sz="1500" dirty="0"/>
          </a:p>
          <a:p>
            <a:pPr marL="0" indent="0">
              <a:spcBef>
                <a:spcPts val="800"/>
              </a:spcBef>
              <a:buNone/>
            </a:pPr>
            <a:r>
              <a:rPr lang="en-US" sz="1500" b="1" dirty="0">
                <a:solidFill>
                  <a:srgbClr val="333333"/>
                </a:solidFill>
                <a:latin typeface="Calibri" pitchFamily="34" charset="0"/>
                <a:ea typeface="Calibri" pitchFamily="34" charset="-122"/>
                <a:cs typeface="Calibri" pitchFamily="34" charset="-120"/>
              </a:rPr>
              <a:t>Il combine les deux pour produire :</a:t>
            </a:r>
            <a:endParaRPr lang="en-US" sz="1500" dirty="0"/>
          </a:p>
          <a:p>
            <a:pPr marL="0" indent="0">
              <a:spcBef>
                <a:spcPts val="400"/>
              </a:spcBef>
              <a:buNone/>
            </a:pPr>
            <a:r>
              <a:rPr lang="en-US" sz="1500" dirty="0">
                <a:solidFill>
                  <a:srgbClr val="333333"/>
                </a:solidFill>
                <a:latin typeface="Calibri" pitchFamily="34" charset="0"/>
                <a:ea typeface="Calibri" pitchFamily="34" charset="-122"/>
                <a:cs typeface="Calibri" pitchFamily="34" charset="-120"/>
              </a:rPr>
              <a:t>• Une sortie (prédiction)</a:t>
            </a:r>
            <a:endParaRPr lang="en-US" sz="1500" dirty="0"/>
          </a:p>
          <a:p>
            <a:pPr marL="0" indent="0">
              <a:spcBef>
                <a:spcPts val="400"/>
              </a:spcBef>
              <a:buNone/>
            </a:pPr>
            <a:r>
              <a:rPr lang="en-US" sz="1500" dirty="0">
                <a:solidFill>
                  <a:srgbClr val="333333"/>
                </a:solidFill>
                <a:latin typeface="Calibri" pitchFamily="34" charset="0"/>
                <a:ea typeface="Calibri" pitchFamily="34" charset="-122"/>
                <a:cs typeface="Calibri" pitchFamily="34" charset="-120"/>
              </a:rPr>
              <a:t>• Une mémoire mise à jour (pour le prochain pas)</a:t>
            </a:r>
            <a:endParaRPr lang="en-US" sz="1500" dirty="0"/>
          </a:p>
        </p:txBody>
      </p:sp>
      <p:sp>
        <p:nvSpPr>
          <p:cNvPr id="10" name="Shape 7"/>
          <p:cNvSpPr/>
          <p:nvPr/>
        </p:nvSpPr>
        <p:spPr>
          <a:xfrm>
            <a:off x="7589520" y="1280160"/>
            <a:ext cx="4114800" cy="5120640"/>
          </a:xfrm>
          <a:prstGeom prst="rect">
            <a:avLst/>
          </a:prstGeom>
          <a:solidFill>
            <a:srgbClr val="1A1A2E"/>
          </a:solidFill>
          <a:ln/>
          <a:effectLst>
            <a:outerShdw blurRad="50800" dist="25400" dir="2700000" algn="bl" rotWithShape="0">
              <a:srgbClr val="000000">
                <a:alpha val="15000"/>
              </a:srgbClr>
            </a:outerShdw>
          </a:effectLst>
        </p:spPr>
      </p:sp>
      <p:sp>
        <p:nvSpPr>
          <p:cNvPr id="11" name="Text 8"/>
          <p:cNvSpPr/>
          <p:nvPr/>
        </p:nvSpPr>
        <p:spPr>
          <a:xfrm>
            <a:off x="7772400" y="1463040"/>
            <a:ext cx="3749040" cy="457200"/>
          </a:xfrm>
          <a:prstGeom prst="rect">
            <a:avLst/>
          </a:prstGeom>
          <a:noFill/>
          <a:ln/>
        </p:spPr>
        <p:txBody>
          <a:bodyPr wrap="square" rtlCol="0" anchor="ctr"/>
          <a:lstStyle/>
          <a:p>
            <a:pPr marL="0" indent="0">
              <a:buNone/>
            </a:pPr>
            <a:r>
              <a:rPr lang="en-US" sz="1700" b="1" dirty="0">
                <a:solidFill>
                  <a:srgbClr val="E94560"/>
                </a:solidFill>
                <a:latin typeface="Trebuchet MS" pitchFamily="34" charset="0"/>
                <a:ea typeface="Trebuchet MS" pitchFamily="34" charset="-122"/>
                <a:cs typeface="Trebuchet MS" pitchFamily="34" charset="-120"/>
              </a:rPr>
              <a:t>Le problème du RNN</a:t>
            </a:r>
            <a:endParaRPr lang="en-US" sz="1700" dirty="0"/>
          </a:p>
        </p:txBody>
      </p:sp>
      <p:sp>
        <p:nvSpPr>
          <p:cNvPr id="12" name="Text 9"/>
          <p:cNvSpPr/>
          <p:nvPr/>
        </p:nvSpPr>
        <p:spPr>
          <a:xfrm>
            <a:off x="7772400" y="2011680"/>
            <a:ext cx="3749040" cy="4114800"/>
          </a:xfrm>
          <a:prstGeom prst="rect">
            <a:avLst/>
          </a:prstGeom>
          <a:noFill/>
          <a:ln/>
        </p:spPr>
        <p:txBody>
          <a:bodyPr wrap="square" rtlCol="0" anchor="t"/>
          <a:lstStyle/>
          <a:p>
            <a:pPr marL="0" indent="0">
              <a:lnSpc>
                <a:spcPct val="120000"/>
              </a:lnSpc>
              <a:buNone/>
            </a:pPr>
            <a:r>
              <a:rPr lang="en-US" sz="1500" dirty="0">
                <a:solidFill>
                  <a:srgbClr val="F0F0F0"/>
                </a:solidFill>
                <a:latin typeface="Calibri" pitchFamily="34" charset="0"/>
                <a:ea typeface="Calibri" pitchFamily="34" charset="-122"/>
                <a:cs typeface="Calibri" pitchFamily="34" charset="-120"/>
              </a:rPr>
              <a:t>Le RNN simple oublie vite !</a:t>
            </a:r>
            <a:endParaRPr lang="en-US" sz="1500" dirty="0"/>
          </a:p>
          <a:p>
            <a:pPr marL="0" indent="0">
              <a:lnSpc>
                <a:spcPct val="120000"/>
              </a:lnSpc>
              <a:buNone/>
            </a:pPr>
            <a:endParaRPr lang="en-US" sz="1500" dirty="0"/>
          </a:p>
          <a:p>
            <a:pPr marL="0" indent="0">
              <a:lnSpc>
                <a:spcPct val="120000"/>
              </a:lnSpc>
              <a:buNone/>
            </a:pPr>
            <a:r>
              <a:rPr lang="en-US" sz="1500" dirty="0">
                <a:solidFill>
                  <a:srgbClr val="F0F0F0"/>
                </a:solidFill>
                <a:latin typeface="Calibri" pitchFamily="34" charset="0"/>
                <a:ea typeface="Calibri" pitchFamily="34" charset="-122"/>
                <a:cs typeface="Calibri" pitchFamily="34" charset="-120"/>
              </a:rPr>
              <a:t>Après quelques mots, il « perd le fil ». C'est le problème du vanishing gradient : les informations anciennes disparaissent.</a:t>
            </a:r>
            <a:endParaRPr lang="en-US" sz="1500" dirty="0"/>
          </a:p>
          <a:p>
            <a:pPr marL="0" indent="0">
              <a:lnSpc>
                <a:spcPct val="120000"/>
              </a:lnSpc>
              <a:buNone/>
            </a:pPr>
            <a:endParaRPr lang="en-US" sz="1500" dirty="0"/>
          </a:p>
          <a:p>
            <a:pPr marL="0" indent="0">
              <a:lnSpc>
                <a:spcPct val="120000"/>
              </a:lnSpc>
              <a:buNone/>
            </a:pPr>
            <a:r>
              <a:rPr lang="en-US" sz="1500" dirty="0">
                <a:solidFill>
                  <a:srgbClr val="F0F0F0"/>
                </a:solidFill>
                <a:latin typeface="Calibri" pitchFamily="34" charset="0"/>
                <a:ea typeface="Calibri" pitchFamily="34" charset="-122"/>
                <a:cs typeface="Calibri" pitchFamily="34" charset="-120"/>
              </a:rPr>
              <a:t>Exemple : dans une phrase longue, il oublie le début quand il arrive à la fin.</a:t>
            </a:r>
            <a:endParaRPr lang="en-US" sz="1500" dirty="0"/>
          </a:p>
          <a:p>
            <a:pPr marL="0" indent="0">
              <a:lnSpc>
                <a:spcPct val="120000"/>
              </a:lnSpc>
              <a:buNone/>
            </a:pPr>
            <a:endParaRPr lang="en-US" sz="1500" dirty="0"/>
          </a:p>
          <a:p>
            <a:pPr marL="0" indent="0">
              <a:lnSpc>
                <a:spcPct val="120000"/>
              </a:lnSpc>
              <a:buNone/>
            </a:pPr>
            <a:r>
              <a:rPr lang="en-US" sz="1500" dirty="0">
                <a:solidFill>
                  <a:srgbClr val="F0F0F0"/>
                </a:solidFill>
                <a:latin typeface="Calibri" pitchFamily="34" charset="0"/>
                <a:ea typeface="Calibri" pitchFamily="34" charset="-122"/>
                <a:cs typeface="Calibri" pitchFamily="34" charset="-120"/>
              </a:rPr>
              <a:t>→ Solution : le LSTM !</a:t>
            </a:r>
            <a:endParaRPr lang="en-US" sz="1500" dirty="0"/>
          </a:p>
        </p:txBody>
      </p:sp>
      <p:sp>
        <p:nvSpPr>
          <p:cNvPr id="25" name="Slide Number Placeholder 0"/>
          <p:cNvSpPr>
            <a:spLocks noGrp="1"/>
          </p:cNvSpPr>
          <p:nvPr>
            <p:ph type="sldNum" sz="quarter" idx="4294967295"/>
          </p:nvPr>
        </p:nvSpPr>
        <p:spPr>
          <a:xfrm>
            <a:off x="109728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A1A2E"/>
          </a:solidFill>
          <a:ln/>
        </p:spPr>
      </p:sp>
      <p:sp>
        <p:nvSpPr>
          <p:cNvPr id="3" name="Shape 1"/>
          <p:cNvSpPr/>
          <p:nvPr/>
        </p:nvSpPr>
        <p:spPr>
          <a:xfrm>
            <a:off x="0" y="960120"/>
            <a:ext cx="12188952" cy="54864"/>
          </a:xfrm>
          <a:prstGeom prst="rect">
            <a:avLst/>
          </a:prstGeom>
          <a:solidFill>
            <a:srgbClr val="E94560"/>
          </a:solidFill>
          <a:ln/>
        </p:spPr>
      </p:sp>
      <p:pic>
        <p:nvPicPr>
          <p:cNvPr id="4" name="Image 0" descr="/sessions/happy-hopeful-thompson/pptx-work/icons/brain-white.png"/>
          <p:cNvPicPr>
            <a:picLocks noChangeAspect="1"/>
          </p:cNvPicPr>
          <p:nvPr/>
        </p:nvPicPr>
        <p:blipFill>
          <a:blip r:embed="rId3"/>
          <a:stretch>
            <a:fillRect/>
          </a:stretch>
        </p:blipFill>
        <p:spPr>
          <a:xfrm>
            <a:off x="365760" y="164592"/>
            <a:ext cx="594360" cy="594360"/>
          </a:xfrm>
          <a:prstGeom prst="rect">
            <a:avLst/>
          </a:prstGeom>
        </p:spPr>
      </p:pic>
      <p:sp>
        <p:nvSpPr>
          <p:cNvPr id="5" name="Text 2"/>
          <p:cNvSpPr/>
          <p:nvPr/>
        </p:nvSpPr>
        <p:spPr>
          <a:xfrm>
            <a:off x="1097280" y="91440"/>
            <a:ext cx="10515600" cy="8229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LSTM : La Mémoire Longue Durée</a:t>
            </a:r>
            <a:endParaRPr lang="en-US" sz="2800" dirty="0"/>
          </a:p>
        </p:txBody>
      </p:sp>
      <p:sp>
        <p:nvSpPr>
          <p:cNvPr id="6" name="Shape 3"/>
          <p:cNvSpPr/>
          <p:nvPr/>
        </p:nvSpPr>
        <p:spPr>
          <a:xfrm>
            <a:off x="457200" y="1280160"/>
            <a:ext cx="11274552" cy="1280160"/>
          </a:xfrm>
          <a:prstGeom prst="rect">
            <a:avLst/>
          </a:prstGeom>
          <a:solidFill>
            <a:srgbClr val="FFFFFF"/>
          </a:solidFill>
          <a:ln/>
          <a:effectLst>
            <a:outerShdw blurRad="50800" dist="25400" dir="2700000" algn="bl" rotWithShape="0">
              <a:srgbClr val="000000">
                <a:alpha val="15000"/>
              </a:srgbClr>
            </a:outerShdw>
          </a:effectLst>
        </p:spPr>
      </p:sp>
      <p:sp>
        <p:nvSpPr>
          <p:cNvPr id="7" name="Text 4"/>
          <p:cNvSpPr/>
          <p:nvPr/>
        </p:nvSpPr>
        <p:spPr>
          <a:xfrm>
            <a:off x="731520" y="1371600"/>
            <a:ext cx="10698480" cy="1097280"/>
          </a:xfrm>
          <a:prstGeom prst="rect">
            <a:avLst/>
          </a:prstGeom>
          <a:noFill/>
          <a:ln/>
        </p:spPr>
        <p:txBody>
          <a:bodyPr wrap="square" rtlCol="0" anchor="ctr"/>
          <a:lstStyle/>
          <a:p>
            <a:pPr marL="0" indent="0">
              <a:lnSpc>
                <a:spcPct val="115000"/>
              </a:lnSpc>
              <a:buNone/>
            </a:pPr>
            <a:r>
              <a:rPr lang="en-US" sz="1600" dirty="0">
                <a:solidFill>
                  <a:srgbClr val="333333"/>
                </a:solidFill>
                <a:latin typeface="Calibri" pitchFamily="34" charset="0"/>
                <a:ea typeface="Calibri" pitchFamily="34" charset="-122"/>
                <a:cs typeface="Calibri" pitchFamily="34" charset="-120"/>
              </a:rPr>
              <a:t>LSTM = Long Short-Term Memory. C'est un RNN amélioré qui sait quoi retenir et quoi oublier grâce à un système de « portes » (gates). Pensez à un assistant qui trie votre boîte mail : il garde les messages importants et supprime le spam.</a:t>
            </a:r>
            <a:endParaRPr lang="en-US" sz="1600" dirty="0"/>
          </a:p>
        </p:txBody>
      </p:sp>
      <p:sp>
        <p:nvSpPr>
          <p:cNvPr id="8" name="Shape 5"/>
          <p:cNvSpPr/>
          <p:nvPr/>
        </p:nvSpPr>
        <p:spPr>
          <a:xfrm>
            <a:off x="457200" y="2834640"/>
            <a:ext cx="3566160" cy="3291840"/>
          </a:xfrm>
          <a:prstGeom prst="rect">
            <a:avLst/>
          </a:prstGeom>
          <a:solidFill>
            <a:srgbClr val="FFFFFF"/>
          </a:solidFill>
          <a:ln w="19050">
            <a:solidFill>
              <a:srgbClr val="E94560"/>
            </a:solidFill>
            <a:prstDash val="solid"/>
          </a:ln>
          <a:effectLst>
            <a:outerShdw blurRad="50800" dist="25400" dir="2700000" algn="bl" rotWithShape="0">
              <a:srgbClr val="000000">
                <a:alpha val="15000"/>
              </a:srgbClr>
            </a:outerShdw>
          </a:effectLst>
        </p:spPr>
      </p:sp>
      <p:sp>
        <p:nvSpPr>
          <p:cNvPr id="9" name="Shape 6"/>
          <p:cNvSpPr/>
          <p:nvPr/>
        </p:nvSpPr>
        <p:spPr>
          <a:xfrm>
            <a:off x="457200" y="2834640"/>
            <a:ext cx="3566160" cy="685800"/>
          </a:xfrm>
          <a:prstGeom prst="rect">
            <a:avLst/>
          </a:prstGeom>
          <a:solidFill>
            <a:srgbClr val="E94560"/>
          </a:solidFill>
          <a:ln/>
        </p:spPr>
      </p:sp>
      <p:sp>
        <p:nvSpPr>
          <p:cNvPr id="10" name="Text 7"/>
          <p:cNvSpPr/>
          <p:nvPr/>
        </p:nvSpPr>
        <p:spPr>
          <a:xfrm>
            <a:off x="457200" y="2834640"/>
            <a:ext cx="3566160" cy="685800"/>
          </a:xfrm>
          <a:prstGeom prst="rect">
            <a:avLst/>
          </a:prstGeom>
          <a:noFill/>
          <a:ln/>
        </p:spPr>
        <p:txBody>
          <a:bodyPr wrap="square"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Porte d'oubli</a:t>
            </a:r>
            <a:endParaRPr lang="en-US" sz="1500" dirty="0"/>
          </a:p>
          <a:p>
            <a:pPr marL="0" indent="0" algn="ctr">
              <a:buNone/>
            </a:pPr>
            <a:r>
              <a:rPr lang="en-US" sz="1500" b="1" dirty="0">
                <a:solidFill>
                  <a:srgbClr val="FFFFFF"/>
                </a:solidFill>
                <a:latin typeface="Trebuchet MS" pitchFamily="34" charset="0"/>
                <a:ea typeface="Trebuchet MS" pitchFamily="34" charset="-122"/>
                <a:cs typeface="Trebuchet MS" pitchFamily="34" charset="-120"/>
              </a:rPr>
              <a:t>(Forget Gate)</a:t>
            </a:r>
            <a:endParaRPr lang="en-US" sz="1500" dirty="0"/>
          </a:p>
        </p:txBody>
      </p:sp>
      <p:sp>
        <p:nvSpPr>
          <p:cNvPr id="11" name="Text 8"/>
          <p:cNvSpPr/>
          <p:nvPr/>
        </p:nvSpPr>
        <p:spPr>
          <a:xfrm>
            <a:off x="640080" y="3657600"/>
            <a:ext cx="3200400" cy="2286000"/>
          </a:xfrm>
          <a:prstGeom prst="rect">
            <a:avLst/>
          </a:prstGeom>
          <a:noFill/>
          <a:ln/>
        </p:spPr>
        <p:txBody>
          <a:bodyPr wrap="square" rtlCol="0" anchor="t"/>
          <a:lstStyle/>
          <a:p>
            <a:pPr marL="0" indent="0">
              <a:lnSpc>
                <a:spcPct val="120000"/>
              </a:lnSpc>
              <a:buNone/>
            </a:pPr>
            <a:r>
              <a:rPr lang="en-US" sz="1400" dirty="0">
                <a:solidFill>
                  <a:srgbClr val="333333"/>
                </a:solidFill>
                <a:latin typeface="Calibri" pitchFamily="34" charset="0"/>
                <a:ea typeface="Calibri" pitchFamily="34" charset="-122"/>
                <a:cs typeface="Calibri" pitchFamily="34" charset="-120"/>
              </a:rPr>
              <a:t>Décide quelles informations de la mémoire on jette. Comme vider les vieux Post-it de votre bureau.</a:t>
            </a:r>
            <a:endParaRPr lang="en-US" sz="1400" dirty="0"/>
          </a:p>
        </p:txBody>
      </p:sp>
      <p:sp>
        <p:nvSpPr>
          <p:cNvPr id="12" name="Shape 9"/>
          <p:cNvSpPr/>
          <p:nvPr/>
        </p:nvSpPr>
        <p:spPr>
          <a:xfrm>
            <a:off x="4297680" y="2834640"/>
            <a:ext cx="3566160" cy="3291840"/>
          </a:xfrm>
          <a:prstGeom prst="rect">
            <a:avLst/>
          </a:prstGeom>
          <a:solidFill>
            <a:srgbClr val="FFFFFF"/>
          </a:solidFill>
          <a:ln w="19050">
            <a:solidFill>
              <a:srgbClr val="2980B9"/>
            </a:solidFill>
            <a:prstDash val="solid"/>
          </a:ln>
          <a:effectLst>
            <a:outerShdw blurRad="50800" dist="25400" dir="2700000" algn="bl" rotWithShape="0">
              <a:srgbClr val="000000">
                <a:alpha val="15000"/>
              </a:srgbClr>
            </a:outerShdw>
          </a:effectLst>
        </p:spPr>
      </p:sp>
      <p:sp>
        <p:nvSpPr>
          <p:cNvPr id="13" name="Shape 10"/>
          <p:cNvSpPr/>
          <p:nvPr/>
        </p:nvSpPr>
        <p:spPr>
          <a:xfrm>
            <a:off x="4297680" y="2834640"/>
            <a:ext cx="3566160" cy="685800"/>
          </a:xfrm>
          <a:prstGeom prst="rect">
            <a:avLst/>
          </a:prstGeom>
          <a:solidFill>
            <a:srgbClr val="2980B9"/>
          </a:solidFill>
          <a:ln/>
        </p:spPr>
      </p:sp>
      <p:sp>
        <p:nvSpPr>
          <p:cNvPr id="14" name="Text 11"/>
          <p:cNvSpPr/>
          <p:nvPr/>
        </p:nvSpPr>
        <p:spPr>
          <a:xfrm>
            <a:off x="4297680" y="2834640"/>
            <a:ext cx="3566160" cy="685800"/>
          </a:xfrm>
          <a:prstGeom prst="rect">
            <a:avLst/>
          </a:prstGeom>
          <a:noFill/>
          <a:ln/>
        </p:spPr>
        <p:txBody>
          <a:bodyPr wrap="square"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Porte d'entrée</a:t>
            </a:r>
            <a:endParaRPr lang="en-US" sz="1500" dirty="0"/>
          </a:p>
          <a:p>
            <a:pPr marL="0" indent="0" algn="ctr">
              <a:buNone/>
            </a:pPr>
            <a:r>
              <a:rPr lang="en-US" sz="1500" b="1" dirty="0">
                <a:solidFill>
                  <a:srgbClr val="FFFFFF"/>
                </a:solidFill>
                <a:latin typeface="Trebuchet MS" pitchFamily="34" charset="0"/>
                <a:ea typeface="Trebuchet MS" pitchFamily="34" charset="-122"/>
                <a:cs typeface="Trebuchet MS" pitchFamily="34" charset="-120"/>
              </a:rPr>
              <a:t>(Input Gate)</a:t>
            </a:r>
            <a:endParaRPr lang="en-US" sz="1500" dirty="0"/>
          </a:p>
        </p:txBody>
      </p:sp>
      <p:sp>
        <p:nvSpPr>
          <p:cNvPr id="15" name="Text 12"/>
          <p:cNvSpPr/>
          <p:nvPr/>
        </p:nvSpPr>
        <p:spPr>
          <a:xfrm>
            <a:off x="4480560" y="3657600"/>
            <a:ext cx="3200400" cy="2286000"/>
          </a:xfrm>
          <a:prstGeom prst="rect">
            <a:avLst/>
          </a:prstGeom>
          <a:noFill/>
          <a:ln/>
        </p:spPr>
        <p:txBody>
          <a:bodyPr wrap="square" rtlCol="0" anchor="t"/>
          <a:lstStyle/>
          <a:p>
            <a:pPr marL="0" indent="0">
              <a:lnSpc>
                <a:spcPct val="120000"/>
              </a:lnSpc>
              <a:buNone/>
            </a:pPr>
            <a:r>
              <a:rPr lang="en-US" sz="1400" dirty="0">
                <a:solidFill>
                  <a:srgbClr val="333333"/>
                </a:solidFill>
                <a:latin typeface="Calibri" pitchFamily="34" charset="0"/>
                <a:ea typeface="Calibri" pitchFamily="34" charset="-122"/>
                <a:cs typeface="Calibri" pitchFamily="34" charset="-120"/>
              </a:rPr>
              <a:t>Décide quelles nouvelles informations on ajoute à la mémoire. Comme noter un nouveau Post-it.</a:t>
            </a:r>
            <a:endParaRPr lang="en-US" sz="1400" dirty="0"/>
          </a:p>
        </p:txBody>
      </p:sp>
      <p:sp>
        <p:nvSpPr>
          <p:cNvPr id="16" name="Shape 13"/>
          <p:cNvSpPr/>
          <p:nvPr/>
        </p:nvSpPr>
        <p:spPr>
          <a:xfrm>
            <a:off x="8138160" y="2834640"/>
            <a:ext cx="3566160" cy="3291840"/>
          </a:xfrm>
          <a:prstGeom prst="rect">
            <a:avLst/>
          </a:prstGeom>
          <a:solidFill>
            <a:srgbClr val="FFFFFF"/>
          </a:solidFill>
          <a:ln w="19050">
            <a:solidFill>
              <a:srgbClr val="27AE60"/>
            </a:solidFill>
            <a:prstDash val="solid"/>
          </a:ln>
          <a:effectLst>
            <a:outerShdw blurRad="50800" dist="25400" dir="2700000" algn="bl" rotWithShape="0">
              <a:srgbClr val="000000">
                <a:alpha val="15000"/>
              </a:srgbClr>
            </a:outerShdw>
          </a:effectLst>
        </p:spPr>
      </p:sp>
      <p:sp>
        <p:nvSpPr>
          <p:cNvPr id="17" name="Shape 14"/>
          <p:cNvSpPr/>
          <p:nvPr/>
        </p:nvSpPr>
        <p:spPr>
          <a:xfrm>
            <a:off x="8138160" y="2834640"/>
            <a:ext cx="3566160" cy="685800"/>
          </a:xfrm>
          <a:prstGeom prst="rect">
            <a:avLst/>
          </a:prstGeom>
          <a:solidFill>
            <a:srgbClr val="27AE60"/>
          </a:solidFill>
          <a:ln/>
        </p:spPr>
      </p:sp>
      <p:sp>
        <p:nvSpPr>
          <p:cNvPr id="18" name="Text 15"/>
          <p:cNvSpPr/>
          <p:nvPr/>
        </p:nvSpPr>
        <p:spPr>
          <a:xfrm>
            <a:off x="8138160" y="2834640"/>
            <a:ext cx="3566160" cy="685800"/>
          </a:xfrm>
          <a:prstGeom prst="rect">
            <a:avLst/>
          </a:prstGeom>
          <a:noFill/>
          <a:ln/>
        </p:spPr>
        <p:txBody>
          <a:bodyPr wrap="square"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Porte de sortie</a:t>
            </a:r>
            <a:endParaRPr lang="en-US" sz="1500" dirty="0"/>
          </a:p>
          <a:p>
            <a:pPr marL="0" indent="0" algn="ctr">
              <a:buNone/>
            </a:pPr>
            <a:r>
              <a:rPr lang="en-US" sz="1500" b="1" dirty="0">
                <a:solidFill>
                  <a:srgbClr val="FFFFFF"/>
                </a:solidFill>
                <a:latin typeface="Trebuchet MS" pitchFamily="34" charset="0"/>
                <a:ea typeface="Trebuchet MS" pitchFamily="34" charset="-122"/>
                <a:cs typeface="Trebuchet MS" pitchFamily="34" charset="-120"/>
              </a:rPr>
              <a:t>(Output Gate)</a:t>
            </a:r>
            <a:endParaRPr lang="en-US" sz="1500" dirty="0"/>
          </a:p>
        </p:txBody>
      </p:sp>
      <p:sp>
        <p:nvSpPr>
          <p:cNvPr id="19" name="Text 16"/>
          <p:cNvSpPr/>
          <p:nvPr/>
        </p:nvSpPr>
        <p:spPr>
          <a:xfrm>
            <a:off x="8321040" y="3657600"/>
            <a:ext cx="3200400" cy="2286000"/>
          </a:xfrm>
          <a:prstGeom prst="rect">
            <a:avLst/>
          </a:prstGeom>
          <a:noFill/>
          <a:ln/>
        </p:spPr>
        <p:txBody>
          <a:bodyPr wrap="square" rtlCol="0" anchor="t"/>
          <a:lstStyle/>
          <a:p>
            <a:pPr marL="0" indent="0">
              <a:lnSpc>
                <a:spcPct val="120000"/>
              </a:lnSpc>
              <a:buNone/>
            </a:pPr>
            <a:r>
              <a:rPr lang="en-US" sz="1400" dirty="0">
                <a:solidFill>
                  <a:srgbClr val="333333"/>
                </a:solidFill>
                <a:latin typeface="Calibri" pitchFamily="34" charset="0"/>
                <a:ea typeface="Calibri" pitchFamily="34" charset="-122"/>
                <a:cs typeface="Calibri" pitchFamily="34" charset="-120"/>
              </a:rPr>
              <a:t>Décide quelle partie de la mémoire on utilise pour répondre maintenant.</a:t>
            </a:r>
            <a:endParaRPr lang="en-US" sz="1400" dirty="0"/>
          </a:p>
        </p:txBody>
      </p:sp>
      <p:sp>
        <p:nvSpPr>
          <p:cNvPr id="25" name="Slide Number Placeholder 0"/>
          <p:cNvSpPr>
            <a:spLocks noGrp="1"/>
          </p:cNvSpPr>
          <p:nvPr>
            <p:ph type="sldNum" sz="quarter" idx="4294967295"/>
          </p:nvPr>
        </p:nvSpPr>
        <p:spPr>
          <a:xfrm>
            <a:off x="109728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A1A2E"/>
          </a:solidFill>
          <a:ln/>
        </p:spPr>
      </p:sp>
      <p:sp>
        <p:nvSpPr>
          <p:cNvPr id="3" name="Shape 1"/>
          <p:cNvSpPr/>
          <p:nvPr/>
        </p:nvSpPr>
        <p:spPr>
          <a:xfrm>
            <a:off x="0" y="960120"/>
            <a:ext cx="12188952" cy="54864"/>
          </a:xfrm>
          <a:prstGeom prst="rect">
            <a:avLst/>
          </a:prstGeom>
          <a:solidFill>
            <a:srgbClr val="E94560"/>
          </a:solidFill>
          <a:ln/>
        </p:spPr>
      </p:sp>
      <p:pic>
        <p:nvPicPr>
          <p:cNvPr id="4" name="Image 0" descr="/sessions/happy-hopeful-thompson/pptx-work/icons/exchange-white.png"/>
          <p:cNvPicPr>
            <a:picLocks noChangeAspect="1"/>
          </p:cNvPicPr>
          <p:nvPr/>
        </p:nvPicPr>
        <p:blipFill>
          <a:blip r:embed="rId3"/>
          <a:stretch>
            <a:fillRect/>
          </a:stretch>
        </p:blipFill>
        <p:spPr>
          <a:xfrm>
            <a:off x="365760" y="164592"/>
            <a:ext cx="594360" cy="594360"/>
          </a:xfrm>
          <a:prstGeom prst="rect">
            <a:avLst/>
          </a:prstGeom>
        </p:spPr>
      </p:pic>
      <p:sp>
        <p:nvSpPr>
          <p:cNvPr id="5" name="Text 2"/>
          <p:cNvSpPr/>
          <p:nvPr/>
        </p:nvSpPr>
        <p:spPr>
          <a:xfrm>
            <a:off x="1097280" y="91440"/>
            <a:ext cx="10515600" cy="8229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GRU et Comparaison des Architectures Séquentielles</a:t>
            </a:r>
            <a:endParaRPr lang="en-US" sz="2800" dirty="0"/>
          </a:p>
        </p:txBody>
      </p:sp>
      <p:sp>
        <p:nvSpPr>
          <p:cNvPr id="6" name="Shape 3"/>
          <p:cNvSpPr/>
          <p:nvPr/>
        </p:nvSpPr>
        <p:spPr>
          <a:xfrm>
            <a:off x="457200" y="1280160"/>
            <a:ext cx="5303520" cy="2743200"/>
          </a:xfrm>
          <a:prstGeom prst="rect">
            <a:avLst/>
          </a:prstGeom>
          <a:solidFill>
            <a:srgbClr val="FFFFFF"/>
          </a:solidFill>
          <a:ln/>
          <a:effectLst>
            <a:outerShdw blurRad="50800" dist="25400" dir="2700000" algn="bl" rotWithShape="0">
              <a:srgbClr val="000000">
                <a:alpha val="15000"/>
              </a:srgbClr>
            </a:outerShdw>
          </a:effectLst>
        </p:spPr>
      </p:sp>
      <p:sp>
        <p:nvSpPr>
          <p:cNvPr id="7" name="Text 4"/>
          <p:cNvSpPr/>
          <p:nvPr/>
        </p:nvSpPr>
        <p:spPr>
          <a:xfrm>
            <a:off x="731520" y="1371600"/>
            <a:ext cx="4754880" cy="457200"/>
          </a:xfrm>
          <a:prstGeom prst="rect">
            <a:avLst/>
          </a:prstGeom>
          <a:noFill/>
          <a:ln/>
        </p:spPr>
        <p:txBody>
          <a:bodyPr wrap="square" rtlCol="0" anchor="ctr"/>
          <a:lstStyle/>
          <a:p>
            <a:pPr marL="0" indent="0">
              <a:buNone/>
            </a:pPr>
            <a:r>
              <a:rPr lang="en-US" sz="1600" b="1" dirty="0">
                <a:solidFill>
                  <a:srgbClr val="1A1A2E"/>
                </a:solidFill>
                <a:latin typeface="Trebuchet MS" pitchFamily="34" charset="0"/>
                <a:ea typeface="Trebuchet MS" pitchFamily="34" charset="-122"/>
                <a:cs typeface="Trebuchet MS" pitchFamily="34" charset="-120"/>
              </a:rPr>
              <a:t>GRU : Une version simplifiée du LSTM</a:t>
            </a:r>
            <a:endParaRPr lang="en-US" sz="1600" dirty="0"/>
          </a:p>
        </p:txBody>
      </p:sp>
      <p:sp>
        <p:nvSpPr>
          <p:cNvPr id="8" name="Text 5"/>
          <p:cNvSpPr/>
          <p:nvPr/>
        </p:nvSpPr>
        <p:spPr>
          <a:xfrm>
            <a:off x="731520" y="1920240"/>
            <a:ext cx="4754880" cy="1828800"/>
          </a:xfrm>
          <a:prstGeom prst="rect">
            <a:avLst/>
          </a:prstGeom>
          <a:noFill/>
          <a:ln/>
        </p:spPr>
        <p:txBody>
          <a:bodyPr wrap="square" rtlCol="0" anchor="t"/>
          <a:lstStyle/>
          <a:p>
            <a:pPr marL="0" indent="0">
              <a:lnSpc>
                <a:spcPct val="120000"/>
              </a:lnSpc>
              <a:buNone/>
            </a:pPr>
            <a:r>
              <a:rPr lang="en-US" sz="1400" dirty="0">
                <a:solidFill>
                  <a:srgbClr val="333333"/>
                </a:solidFill>
                <a:latin typeface="Calibri" pitchFamily="34" charset="0"/>
                <a:ea typeface="Calibri" pitchFamily="34" charset="-122"/>
                <a:cs typeface="Calibri" pitchFamily="34" charset="-120"/>
              </a:rPr>
              <a:t>Le GRU (Gated Recurrent Unit) fait la même chose que le LSTM mais avec seulement 2 portes au lieu de 3. Il est plus rapide à entraîner et donne souvent des résultats similaires. C'est un bon choix quand vous avez moins de données ou de puissance de calcul.</a:t>
            </a:r>
            <a:endParaRPr lang="en-US" sz="1400" dirty="0"/>
          </a:p>
        </p:txBody>
      </p:sp>
      <p:sp>
        <p:nvSpPr>
          <p:cNvPr id="9" name="Shape 6"/>
          <p:cNvSpPr/>
          <p:nvPr/>
        </p:nvSpPr>
        <p:spPr>
          <a:xfrm>
            <a:off x="6035040" y="1280160"/>
            <a:ext cx="5669280" cy="2743200"/>
          </a:xfrm>
          <a:prstGeom prst="rect">
            <a:avLst/>
          </a:prstGeom>
          <a:solidFill>
            <a:srgbClr val="FFFFFF"/>
          </a:solidFill>
          <a:ln/>
          <a:effectLst>
            <a:outerShdw blurRad="50800" dist="25400" dir="2700000" algn="bl" rotWithShape="0">
              <a:srgbClr val="000000">
                <a:alpha val="15000"/>
              </a:srgbClr>
            </a:outerShdw>
          </a:effectLst>
        </p:spPr>
      </p:sp>
      <p:sp>
        <p:nvSpPr>
          <p:cNvPr id="10" name="Text 7"/>
          <p:cNvSpPr/>
          <p:nvPr/>
        </p:nvSpPr>
        <p:spPr>
          <a:xfrm>
            <a:off x="6309360" y="1371600"/>
            <a:ext cx="5120640" cy="457200"/>
          </a:xfrm>
          <a:prstGeom prst="rect">
            <a:avLst/>
          </a:prstGeom>
          <a:noFill/>
          <a:ln/>
        </p:spPr>
        <p:txBody>
          <a:bodyPr wrap="square" rtlCol="0" anchor="ctr"/>
          <a:lstStyle/>
          <a:p>
            <a:pPr marL="0" indent="0">
              <a:buNone/>
            </a:pPr>
            <a:r>
              <a:rPr lang="en-US" sz="1600" b="1" dirty="0">
                <a:solidFill>
                  <a:srgbClr val="1A1A2E"/>
                </a:solidFill>
                <a:latin typeface="Trebuchet MS" pitchFamily="34" charset="0"/>
                <a:ea typeface="Trebuchet MS" pitchFamily="34" charset="-122"/>
                <a:cs typeface="Trebuchet MS" pitchFamily="34" charset="-120"/>
              </a:rPr>
              <a:t>Comparaison rapide</a:t>
            </a:r>
            <a:endParaRPr lang="en-US" sz="1600" dirty="0"/>
          </a:p>
        </p:txBody>
      </p:sp>
      <p:sp>
        <p:nvSpPr>
          <p:cNvPr id="11" name="Text 8"/>
          <p:cNvSpPr/>
          <p:nvPr/>
        </p:nvSpPr>
        <p:spPr>
          <a:xfrm>
            <a:off x="6309360" y="1920240"/>
            <a:ext cx="1280160" cy="411480"/>
          </a:xfrm>
          <a:prstGeom prst="rect">
            <a:avLst/>
          </a:prstGeom>
          <a:solidFill>
            <a:srgbClr val="0F3460"/>
          </a:solidFill>
          <a:ln/>
        </p:spPr>
        <p:txBody>
          <a:bodyPr wrap="square" rtlCol="0" anchor="ctr"/>
          <a:lstStyle/>
          <a:p>
            <a:pPr marL="0" indent="0" algn="ctr">
              <a:buNone/>
            </a:pPr>
            <a:endParaRPr lang="en-US" sz="1200" dirty="0"/>
          </a:p>
        </p:txBody>
      </p:sp>
      <p:sp>
        <p:nvSpPr>
          <p:cNvPr id="12" name="Text 9"/>
          <p:cNvSpPr/>
          <p:nvPr/>
        </p:nvSpPr>
        <p:spPr>
          <a:xfrm>
            <a:off x="7589520" y="1920240"/>
            <a:ext cx="1280160" cy="411480"/>
          </a:xfrm>
          <a:prstGeom prst="rect">
            <a:avLst/>
          </a:prstGeom>
          <a:solidFill>
            <a:srgbClr val="0F3460"/>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RNN</a:t>
            </a:r>
            <a:endParaRPr lang="en-US" sz="1200" dirty="0"/>
          </a:p>
        </p:txBody>
      </p:sp>
      <p:sp>
        <p:nvSpPr>
          <p:cNvPr id="13" name="Text 10"/>
          <p:cNvSpPr/>
          <p:nvPr/>
        </p:nvSpPr>
        <p:spPr>
          <a:xfrm>
            <a:off x="8869680" y="1920240"/>
            <a:ext cx="1280160" cy="411480"/>
          </a:xfrm>
          <a:prstGeom prst="rect">
            <a:avLst/>
          </a:prstGeom>
          <a:solidFill>
            <a:srgbClr val="0F3460"/>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LSTM</a:t>
            </a:r>
            <a:endParaRPr lang="en-US" sz="1200" dirty="0"/>
          </a:p>
        </p:txBody>
      </p:sp>
      <p:sp>
        <p:nvSpPr>
          <p:cNvPr id="14" name="Text 11"/>
          <p:cNvSpPr/>
          <p:nvPr/>
        </p:nvSpPr>
        <p:spPr>
          <a:xfrm>
            <a:off x="10149840" y="1920240"/>
            <a:ext cx="1280160" cy="411480"/>
          </a:xfrm>
          <a:prstGeom prst="rect">
            <a:avLst/>
          </a:prstGeom>
          <a:solidFill>
            <a:srgbClr val="0F3460"/>
          </a:solid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GRU</a:t>
            </a:r>
            <a:endParaRPr lang="en-US" sz="1200" dirty="0"/>
          </a:p>
        </p:txBody>
      </p:sp>
      <p:sp>
        <p:nvSpPr>
          <p:cNvPr id="15" name="Text 12"/>
          <p:cNvSpPr/>
          <p:nvPr/>
        </p:nvSpPr>
        <p:spPr>
          <a:xfrm>
            <a:off x="6309360" y="2331720"/>
            <a:ext cx="1280160" cy="411480"/>
          </a:xfrm>
          <a:prstGeom prst="rect">
            <a:avLst/>
          </a:prstGeom>
          <a:noFill/>
          <a:ln/>
        </p:spPr>
        <p:txBody>
          <a:bodyPr wrap="square" rtlCol="0" anchor="ctr"/>
          <a:lstStyle/>
          <a:p>
            <a:pPr marL="0" indent="0" algn="ctr">
              <a:buNone/>
            </a:pPr>
            <a:r>
              <a:rPr lang="en-US" sz="1200" b="1" dirty="0">
                <a:solidFill>
                  <a:srgbClr val="333333"/>
                </a:solidFill>
                <a:latin typeface="Calibri" pitchFamily="34" charset="0"/>
                <a:ea typeface="Calibri" pitchFamily="34" charset="-122"/>
                <a:cs typeface="Calibri" pitchFamily="34" charset="-120"/>
              </a:rPr>
              <a:t>Mémoire</a:t>
            </a:r>
            <a:endParaRPr lang="en-US" sz="1200" dirty="0"/>
          </a:p>
        </p:txBody>
      </p:sp>
      <p:sp>
        <p:nvSpPr>
          <p:cNvPr id="16" name="Text 13"/>
          <p:cNvSpPr/>
          <p:nvPr/>
        </p:nvSpPr>
        <p:spPr>
          <a:xfrm>
            <a:off x="7589520" y="2331720"/>
            <a:ext cx="1280160" cy="411480"/>
          </a:xfrm>
          <a:prstGeom prst="rect">
            <a:avLst/>
          </a:prstGeom>
          <a:noFill/>
          <a:ln/>
        </p:spPr>
        <p:txBody>
          <a:bodyPr wrap="square"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Courte</a:t>
            </a:r>
            <a:endParaRPr lang="en-US" sz="1200" dirty="0"/>
          </a:p>
        </p:txBody>
      </p:sp>
      <p:sp>
        <p:nvSpPr>
          <p:cNvPr id="17" name="Text 14"/>
          <p:cNvSpPr/>
          <p:nvPr/>
        </p:nvSpPr>
        <p:spPr>
          <a:xfrm>
            <a:off x="8869680" y="2331720"/>
            <a:ext cx="1280160" cy="411480"/>
          </a:xfrm>
          <a:prstGeom prst="rect">
            <a:avLst/>
          </a:prstGeom>
          <a:noFill/>
          <a:ln/>
        </p:spPr>
        <p:txBody>
          <a:bodyPr wrap="square"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Longue</a:t>
            </a:r>
            <a:endParaRPr lang="en-US" sz="1200" dirty="0"/>
          </a:p>
        </p:txBody>
      </p:sp>
      <p:sp>
        <p:nvSpPr>
          <p:cNvPr id="18" name="Text 15"/>
          <p:cNvSpPr/>
          <p:nvPr/>
        </p:nvSpPr>
        <p:spPr>
          <a:xfrm>
            <a:off x="10149840" y="2331720"/>
            <a:ext cx="1280160" cy="411480"/>
          </a:xfrm>
          <a:prstGeom prst="rect">
            <a:avLst/>
          </a:prstGeom>
          <a:noFill/>
          <a:ln/>
        </p:spPr>
        <p:txBody>
          <a:bodyPr wrap="square"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Longue</a:t>
            </a:r>
            <a:endParaRPr lang="en-US" sz="1200" dirty="0"/>
          </a:p>
        </p:txBody>
      </p:sp>
      <p:sp>
        <p:nvSpPr>
          <p:cNvPr id="19" name="Text 16"/>
          <p:cNvSpPr/>
          <p:nvPr/>
        </p:nvSpPr>
        <p:spPr>
          <a:xfrm>
            <a:off x="6309360" y="2743200"/>
            <a:ext cx="1280160" cy="411480"/>
          </a:xfrm>
          <a:prstGeom prst="rect">
            <a:avLst/>
          </a:prstGeom>
          <a:solidFill>
            <a:srgbClr val="EAEAEA"/>
          </a:solidFill>
          <a:ln/>
        </p:spPr>
        <p:txBody>
          <a:bodyPr wrap="square" rtlCol="0" anchor="ctr"/>
          <a:lstStyle/>
          <a:p>
            <a:pPr marL="0" indent="0" algn="ctr">
              <a:buNone/>
            </a:pPr>
            <a:r>
              <a:rPr lang="en-US" sz="1200" b="1" dirty="0">
                <a:solidFill>
                  <a:srgbClr val="333333"/>
                </a:solidFill>
                <a:latin typeface="Calibri" pitchFamily="34" charset="0"/>
                <a:ea typeface="Calibri" pitchFamily="34" charset="-122"/>
                <a:cs typeface="Calibri" pitchFamily="34" charset="-120"/>
              </a:rPr>
              <a:t>Portes</a:t>
            </a:r>
            <a:endParaRPr lang="en-US" sz="1200" dirty="0"/>
          </a:p>
        </p:txBody>
      </p:sp>
      <p:sp>
        <p:nvSpPr>
          <p:cNvPr id="20" name="Text 17"/>
          <p:cNvSpPr/>
          <p:nvPr/>
        </p:nvSpPr>
        <p:spPr>
          <a:xfrm>
            <a:off x="7589520" y="2743200"/>
            <a:ext cx="1280160" cy="411480"/>
          </a:xfrm>
          <a:prstGeom prst="rect">
            <a:avLst/>
          </a:prstGeom>
          <a:solidFill>
            <a:srgbClr val="EAEAEA"/>
          </a:solidFill>
          <a:ln/>
        </p:spPr>
        <p:txBody>
          <a:bodyPr wrap="square"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0</a:t>
            </a:r>
            <a:endParaRPr lang="en-US" sz="1200" dirty="0"/>
          </a:p>
        </p:txBody>
      </p:sp>
      <p:sp>
        <p:nvSpPr>
          <p:cNvPr id="21" name="Text 18"/>
          <p:cNvSpPr/>
          <p:nvPr/>
        </p:nvSpPr>
        <p:spPr>
          <a:xfrm>
            <a:off x="8869680" y="2743200"/>
            <a:ext cx="1280160" cy="411480"/>
          </a:xfrm>
          <a:prstGeom prst="rect">
            <a:avLst/>
          </a:prstGeom>
          <a:solidFill>
            <a:srgbClr val="EAEAEA"/>
          </a:solidFill>
          <a:ln/>
        </p:spPr>
        <p:txBody>
          <a:bodyPr wrap="square"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3</a:t>
            </a:r>
            <a:endParaRPr lang="en-US" sz="1200" dirty="0"/>
          </a:p>
        </p:txBody>
      </p:sp>
      <p:sp>
        <p:nvSpPr>
          <p:cNvPr id="22" name="Text 19"/>
          <p:cNvSpPr/>
          <p:nvPr/>
        </p:nvSpPr>
        <p:spPr>
          <a:xfrm>
            <a:off x="10149840" y="2743200"/>
            <a:ext cx="1280160" cy="411480"/>
          </a:xfrm>
          <a:prstGeom prst="rect">
            <a:avLst/>
          </a:prstGeom>
          <a:solidFill>
            <a:srgbClr val="EAEAEA"/>
          </a:solidFill>
          <a:ln/>
        </p:spPr>
        <p:txBody>
          <a:bodyPr wrap="square"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2</a:t>
            </a:r>
            <a:endParaRPr lang="en-US" sz="1200" dirty="0"/>
          </a:p>
        </p:txBody>
      </p:sp>
      <p:sp>
        <p:nvSpPr>
          <p:cNvPr id="23" name="Text 20"/>
          <p:cNvSpPr/>
          <p:nvPr/>
        </p:nvSpPr>
        <p:spPr>
          <a:xfrm>
            <a:off x="6309360" y="3154680"/>
            <a:ext cx="1280160" cy="411480"/>
          </a:xfrm>
          <a:prstGeom prst="rect">
            <a:avLst/>
          </a:prstGeom>
          <a:noFill/>
          <a:ln/>
        </p:spPr>
        <p:txBody>
          <a:bodyPr wrap="square" rtlCol="0" anchor="ctr"/>
          <a:lstStyle/>
          <a:p>
            <a:pPr marL="0" indent="0" algn="ctr">
              <a:buNone/>
            </a:pPr>
            <a:r>
              <a:rPr lang="en-US" sz="1200" b="1" dirty="0">
                <a:solidFill>
                  <a:srgbClr val="333333"/>
                </a:solidFill>
                <a:latin typeface="Calibri" pitchFamily="34" charset="0"/>
                <a:ea typeface="Calibri" pitchFamily="34" charset="-122"/>
                <a:cs typeface="Calibri" pitchFamily="34" charset="-120"/>
              </a:rPr>
              <a:t>Vitesse</a:t>
            </a:r>
            <a:endParaRPr lang="en-US" sz="1200" dirty="0"/>
          </a:p>
        </p:txBody>
      </p:sp>
      <p:sp>
        <p:nvSpPr>
          <p:cNvPr id="24" name="Text 21"/>
          <p:cNvSpPr/>
          <p:nvPr/>
        </p:nvSpPr>
        <p:spPr>
          <a:xfrm>
            <a:off x="7589520" y="3154680"/>
            <a:ext cx="1280160" cy="411480"/>
          </a:xfrm>
          <a:prstGeom prst="rect">
            <a:avLst/>
          </a:prstGeom>
          <a:noFill/>
          <a:ln/>
        </p:spPr>
        <p:txBody>
          <a:bodyPr wrap="square"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Rapide</a:t>
            </a:r>
            <a:endParaRPr lang="en-US" sz="1200" dirty="0"/>
          </a:p>
        </p:txBody>
      </p:sp>
      <p:sp>
        <p:nvSpPr>
          <p:cNvPr id="25" name="Text 22"/>
          <p:cNvSpPr/>
          <p:nvPr/>
        </p:nvSpPr>
        <p:spPr>
          <a:xfrm>
            <a:off x="8869680" y="3154680"/>
            <a:ext cx="1280160" cy="411480"/>
          </a:xfrm>
          <a:prstGeom prst="rect">
            <a:avLst/>
          </a:prstGeom>
          <a:noFill/>
          <a:ln/>
        </p:spPr>
        <p:txBody>
          <a:bodyPr wrap="square"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Lent</a:t>
            </a:r>
            <a:endParaRPr lang="en-US" sz="1200" dirty="0"/>
          </a:p>
        </p:txBody>
      </p:sp>
      <p:sp>
        <p:nvSpPr>
          <p:cNvPr id="26" name="Text 23"/>
          <p:cNvSpPr/>
          <p:nvPr/>
        </p:nvSpPr>
        <p:spPr>
          <a:xfrm>
            <a:off x="10149840" y="3154680"/>
            <a:ext cx="1280160" cy="411480"/>
          </a:xfrm>
          <a:prstGeom prst="rect">
            <a:avLst/>
          </a:prstGeom>
          <a:noFill/>
          <a:ln/>
        </p:spPr>
        <p:txBody>
          <a:bodyPr wrap="square"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Moyen</a:t>
            </a:r>
            <a:endParaRPr lang="en-US" sz="1200" dirty="0"/>
          </a:p>
        </p:txBody>
      </p:sp>
      <p:sp>
        <p:nvSpPr>
          <p:cNvPr id="27" name="Text 24"/>
          <p:cNvSpPr/>
          <p:nvPr/>
        </p:nvSpPr>
        <p:spPr>
          <a:xfrm>
            <a:off x="6309360" y="3566160"/>
            <a:ext cx="1280160" cy="411480"/>
          </a:xfrm>
          <a:prstGeom prst="rect">
            <a:avLst/>
          </a:prstGeom>
          <a:solidFill>
            <a:srgbClr val="EAEAEA"/>
          </a:solidFill>
          <a:ln/>
        </p:spPr>
        <p:txBody>
          <a:bodyPr wrap="square" rtlCol="0" anchor="ctr"/>
          <a:lstStyle/>
          <a:p>
            <a:pPr marL="0" indent="0" algn="ctr">
              <a:buNone/>
            </a:pPr>
            <a:r>
              <a:rPr lang="en-US" sz="1200" b="1" dirty="0">
                <a:solidFill>
                  <a:srgbClr val="333333"/>
                </a:solidFill>
                <a:latin typeface="Calibri" pitchFamily="34" charset="0"/>
                <a:ea typeface="Calibri" pitchFamily="34" charset="-122"/>
                <a:cs typeface="Calibri" pitchFamily="34" charset="-120"/>
              </a:rPr>
              <a:t>Usage</a:t>
            </a:r>
            <a:endParaRPr lang="en-US" sz="1200" dirty="0"/>
          </a:p>
        </p:txBody>
      </p:sp>
      <p:sp>
        <p:nvSpPr>
          <p:cNvPr id="28" name="Text 25"/>
          <p:cNvSpPr/>
          <p:nvPr/>
        </p:nvSpPr>
        <p:spPr>
          <a:xfrm>
            <a:off x="7589520" y="3566160"/>
            <a:ext cx="1280160" cy="411480"/>
          </a:xfrm>
          <a:prstGeom prst="rect">
            <a:avLst/>
          </a:prstGeom>
          <a:solidFill>
            <a:srgbClr val="EAEAEA"/>
          </a:solidFill>
          <a:ln/>
        </p:spPr>
        <p:txBody>
          <a:bodyPr wrap="square"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Simple</a:t>
            </a:r>
            <a:endParaRPr lang="en-US" sz="1200" dirty="0"/>
          </a:p>
        </p:txBody>
      </p:sp>
      <p:sp>
        <p:nvSpPr>
          <p:cNvPr id="29" name="Text 26"/>
          <p:cNvSpPr/>
          <p:nvPr/>
        </p:nvSpPr>
        <p:spPr>
          <a:xfrm>
            <a:off x="8869680" y="3566160"/>
            <a:ext cx="1280160" cy="411480"/>
          </a:xfrm>
          <a:prstGeom prst="rect">
            <a:avLst/>
          </a:prstGeom>
          <a:solidFill>
            <a:srgbClr val="EAEAEA"/>
          </a:solidFill>
          <a:ln/>
        </p:spPr>
        <p:txBody>
          <a:bodyPr wrap="square"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Texte long</a:t>
            </a:r>
            <a:endParaRPr lang="en-US" sz="1200" dirty="0"/>
          </a:p>
        </p:txBody>
      </p:sp>
      <p:sp>
        <p:nvSpPr>
          <p:cNvPr id="30" name="Text 27"/>
          <p:cNvSpPr/>
          <p:nvPr/>
        </p:nvSpPr>
        <p:spPr>
          <a:xfrm>
            <a:off x="10149840" y="3566160"/>
            <a:ext cx="1280160" cy="411480"/>
          </a:xfrm>
          <a:prstGeom prst="rect">
            <a:avLst/>
          </a:prstGeom>
          <a:solidFill>
            <a:srgbClr val="EAEAEA"/>
          </a:solidFill>
          <a:ln/>
        </p:spPr>
        <p:txBody>
          <a:bodyPr wrap="square" rtlCol="0" anchor="ctr"/>
          <a:lstStyle/>
          <a:p>
            <a:pPr marL="0" indent="0" algn="ctr">
              <a:buNone/>
            </a:pPr>
            <a:r>
              <a:rPr lang="en-US" sz="1200" dirty="0">
                <a:solidFill>
                  <a:srgbClr val="333333"/>
                </a:solidFill>
                <a:latin typeface="Calibri" pitchFamily="34" charset="0"/>
                <a:ea typeface="Calibri" pitchFamily="34" charset="-122"/>
                <a:cs typeface="Calibri" pitchFamily="34" charset="-120"/>
              </a:rPr>
              <a:t>Compromis</a:t>
            </a:r>
            <a:endParaRPr lang="en-US" sz="1200" dirty="0"/>
          </a:p>
        </p:txBody>
      </p:sp>
      <p:sp>
        <p:nvSpPr>
          <p:cNvPr id="31" name="Shape 28"/>
          <p:cNvSpPr/>
          <p:nvPr/>
        </p:nvSpPr>
        <p:spPr>
          <a:xfrm>
            <a:off x="457200" y="4297680"/>
            <a:ext cx="11274552" cy="2286000"/>
          </a:xfrm>
          <a:prstGeom prst="rect">
            <a:avLst/>
          </a:prstGeom>
          <a:solidFill>
            <a:srgbClr val="1A1A2E"/>
          </a:solidFill>
          <a:ln/>
          <a:effectLst>
            <a:outerShdw blurRad="50800" dist="25400" dir="2700000" algn="bl" rotWithShape="0">
              <a:srgbClr val="000000">
                <a:alpha val="15000"/>
              </a:srgbClr>
            </a:outerShdw>
          </a:effectLst>
        </p:spPr>
      </p:sp>
      <p:sp>
        <p:nvSpPr>
          <p:cNvPr id="32" name="Text 29"/>
          <p:cNvSpPr/>
          <p:nvPr/>
        </p:nvSpPr>
        <p:spPr>
          <a:xfrm>
            <a:off x="731520" y="4389120"/>
            <a:ext cx="10698480" cy="457200"/>
          </a:xfrm>
          <a:prstGeom prst="rect">
            <a:avLst/>
          </a:prstGeom>
          <a:noFill/>
          <a:ln/>
        </p:spPr>
        <p:txBody>
          <a:bodyPr wrap="square" rtlCol="0" anchor="ctr"/>
          <a:lstStyle/>
          <a:p>
            <a:pPr marL="0" indent="0">
              <a:buNone/>
            </a:pPr>
            <a:r>
              <a:rPr lang="en-US" sz="1700" b="1" dirty="0">
                <a:solidFill>
                  <a:srgbClr val="E94560"/>
                </a:solidFill>
                <a:latin typeface="Trebuchet MS" pitchFamily="34" charset="0"/>
                <a:ea typeface="Trebuchet MS" pitchFamily="34" charset="-122"/>
                <a:cs typeface="Trebuchet MS" pitchFamily="34" charset="-120"/>
              </a:rPr>
              <a:t>Et aujourd'hui ? Les Transformers ont remplacé les RNN/LSTM</a:t>
            </a:r>
            <a:endParaRPr lang="en-US" sz="1700" dirty="0"/>
          </a:p>
        </p:txBody>
      </p:sp>
      <p:sp>
        <p:nvSpPr>
          <p:cNvPr id="33" name="Text 30"/>
          <p:cNvSpPr/>
          <p:nvPr/>
        </p:nvSpPr>
        <p:spPr>
          <a:xfrm>
            <a:off x="731520" y="4846320"/>
            <a:ext cx="10698480" cy="1645920"/>
          </a:xfrm>
          <a:prstGeom prst="rect">
            <a:avLst/>
          </a:prstGeom>
          <a:noFill/>
          <a:ln/>
        </p:spPr>
        <p:txBody>
          <a:bodyPr wrap="square" rtlCol="0" anchor="t"/>
          <a:lstStyle/>
          <a:p>
            <a:pPr marL="0" indent="0">
              <a:lnSpc>
                <a:spcPct val="115000"/>
              </a:lnSpc>
              <a:buNone/>
            </a:pPr>
            <a:r>
              <a:rPr lang="en-US" sz="1400" dirty="0">
                <a:solidFill>
                  <a:srgbClr val="F0F0F0"/>
                </a:solidFill>
                <a:latin typeface="Calibri" pitchFamily="34" charset="0"/>
                <a:ea typeface="Calibri" pitchFamily="34" charset="-122"/>
                <a:cs typeface="Calibri" pitchFamily="34" charset="-120"/>
              </a:rPr>
              <a:t>Les Transformers (2017) ont révolutionné le NLP. Au lieu de traiter les mots un par un (comme les RNN), ils regardent tous les mots en même temps grâce au mécanisme d'attention. GPT, BERT, Claude, Gemini — tous sont basés sur les Transformers.</a:t>
            </a:r>
            <a:endParaRPr lang="en-US" sz="1400" dirty="0"/>
          </a:p>
          <a:p>
            <a:pPr marL="0" indent="0">
              <a:lnSpc>
                <a:spcPct val="115000"/>
              </a:lnSpc>
              <a:buNone/>
            </a:pPr>
            <a:endParaRPr lang="en-US" sz="1400" dirty="0"/>
          </a:p>
          <a:p>
            <a:pPr marL="0" indent="0">
              <a:lnSpc>
                <a:spcPct val="115000"/>
              </a:lnSpc>
              <a:buNone/>
            </a:pPr>
            <a:r>
              <a:rPr lang="en-US" sz="1400" dirty="0">
                <a:solidFill>
                  <a:srgbClr val="F0F0F0"/>
                </a:solidFill>
                <a:latin typeface="Calibri" pitchFamily="34" charset="0"/>
                <a:ea typeface="Calibri" pitchFamily="34" charset="-122"/>
                <a:cs typeface="Calibri" pitchFamily="34" charset="-120"/>
              </a:rPr>
              <a:t>Mais comprendre les RNN/LSTM reste important car : c'est la base conceptuelle, certains cas d'usage en temps réel les utilisent encore, et les Transformers empruntent des concepts similaires.</a:t>
            </a:r>
            <a:endParaRPr lang="en-US" sz="1400" dirty="0"/>
          </a:p>
        </p:txBody>
      </p:sp>
      <p:sp>
        <p:nvSpPr>
          <p:cNvPr id="34" name="Slide Number Placeholder 0"/>
          <p:cNvSpPr>
            <a:spLocks noGrp="1"/>
          </p:cNvSpPr>
          <p:nvPr>
            <p:ph type="sldNum" sz="quarter" idx="4294967295"/>
          </p:nvPr>
        </p:nvSpPr>
        <p:spPr>
          <a:xfrm>
            <a:off x="109728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914400" y="1371600"/>
            <a:ext cx="10360152" cy="548640"/>
          </a:xfrm>
          <a:prstGeom prst="rect">
            <a:avLst/>
          </a:prstGeom>
          <a:noFill/>
          <a:ln/>
        </p:spPr>
        <p:txBody>
          <a:bodyPr wrap="square" rtlCol="0" anchor="ctr"/>
          <a:lstStyle/>
          <a:p>
            <a:pPr marL="0" indent="0" algn="ctr">
              <a:buNone/>
            </a:pPr>
            <a:r>
              <a:rPr lang="en-US" sz="2000" dirty="0">
                <a:solidFill>
                  <a:srgbClr val="E94560"/>
                </a:solidFill>
                <a:latin typeface="Calibri" pitchFamily="34" charset="0"/>
                <a:ea typeface="Calibri" pitchFamily="34" charset="-122"/>
                <a:cs typeface="Calibri" pitchFamily="34" charset="-120"/>
              </a:rPr>
              <a:t>Partie 4</a:t>
            </a:r>
            <a:endParaRPr lang="en-US" sz="2000" dirty="0"/>
          </a:p>
        </p:txBody>
      </p:sp>
      <p:sp>
        <p:nvSpPr>
          <p:cNvPr id="3" name="Text 1"/>
          <p:cNvSpPr/>
          <p:nvPr/>
        </p:nvSpPr>
        <p:spPr>
          <a:xfrm>
            <a:off x="914400" y="2286000"/>
            <a:ext cx="10360152" cy="914400"/>
          </a:xfrm>
          <a:prstGeom prst="rect">
            <a:avLst/>
          </a:prstGeom>
          <a:noFill/>
          <a:ln/>
        </p:spPr>
        <p:txBody>
          <a:bodyPr wrap="square" rtlCol="0" anchor="ctr"/>
          <a:lstStyle/>
          <a:p>
            <a:pPr marL="0" indent="0" algn="ctr">
              <a:buNone/>
            </a:pPr>
            <a:r>
              <a:rPr lang="en-US" sz="4000" b="1" dirty="0">
                <a:solidFill>
                  <a:srgbClr val="FFFFFF"/>
                </a:solidFill>
                <a:latin typeface="Trebuchet MS" pitchFamily="34" charset="0"/>
                <a:ea typeface="Trebuchet MS" pitchFamily="34" charset="-122"/>
                <a:cs typeface="Trebuchet MS" pitchFamily="34" charset="-120"/>
              </a:rPr>
              <a:t>Le NLP (Natural Language Processing)</a:t>
            </a:r>
            <a:endParaRPr lang="en-US" sz="4000" dirty="0"/>
          </a:p>
        </p:txBody>
      </p:sp>
      <p:sp>
        <p:nvSpPr>
          <p:cNvPr id="4" name="Text 2"/>
          <p:cNvSpPr/>
          <p:nvPr/>
        </p:nvSpPr>
        <p:spPr>
          <a:xfrm>
            <a:off x="914400" y="3291840"/>
            <a:ext cx="10360152" cy="548640"/>
          </a:xfrm>
          <a:prstGeom prst="rect">
            <a:avLst/>
          </a:prstGeom>
          <a:noFill/>
          <a:ln/>
        </p:spPr>
        <p:txBody>
          <a:bodyPr wrap="square" rtlCol="0" anchor="ctr"/>
          <a:lstStyle/>
          <a:p>
            <a:pPr marL="0" indent="0" algn="ctr">
              <a:buNone/>
            </a:pPr>
            <a:r>
              <a:rPr lang="en-US" sz="2200" dirty="0">
                <a:solidFill>
                  <a:srgbClr val="F0F0F0"/>
                </a:solidFill>
                <a:latin typeface="Calibri" pitchFamily="34" charset="0"/>
                <a:ea typeface="Calibri" pitchFamily="34" charset="-122"/>
                <a:cs typeface="Calibri" pitchFamily="34" charset="-120"/>
              </a:rPr>
              <a:t>Comment un ordinateur comprend le langage humain</a:t>
            </a:r>
            <a:endParaRPr lang="en-US" sz="2200" dirty="0"/>
          </a:p>
        </p:txBody>
      </p:sp>
      <p:sp>
        <p:nvSpPr>
          <p:cNvPr id="5" name="Shape 3"/>
          <p:cNvSpPr/>
          <p:nvPr/>
        </p:nvSpPr>
        <p:spPr>
          <a:xfrm>
            <a:off x="3657600" y="4114800"/>
            <a:ext cx="4873752" cy="36576"/>
          </a:xfrm>
          <a:prstGeom prst="rect">
            <a:avLst/>
          </a:prstGeom>
          <a:solidFill>
            <a:srgbClr val="E94560"/>
          </a:solidFill>
          <a:ln/>
        </p:spPr>
      </p:sp>
      <p:pic>
        <p:nvPicPr>
          <p:cNvPr id="6" name="Image 0" descr="/sessions/happy-hopeful-thompson/pptx-work/icons/book-white.png"/>
          <p:cNvPicPr>
            <a:picLocks noChangeAspect="1"/>
          </p:cNvPicPr>
          <p:nvPr/>
        </p:nvPicPr>
        <p:blipFill>
          <a:blip r:embed="rId3"/>
          <a:stretch>
            <a:fillRect/>
          </a:stretch>
        </p:blipFill>
        <p:spPr>
          <a:xfrm>
            <a:off x="5486400" y="4572000"/>
            <a:ext cx="1188720" cy="11887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A1A2E"/>
          </a:solidFill>
          <a:ln/>
        </p:spPr>
      </p:sp>
      <p:sp>
        <p:nvSpPr>
          <p:cNvPr id="3" name="Shape 1"/>
          <p:cNvSpPr/>
          <p:nvPr/>
        </p:nvSpPr>
        <p:spPr>
          <a:xfrm>
            <a:off x="0" y="960120"/>
            <a:ext cx="12188952" cy="54864"/>
          </a:xfrm>
          <a:prstGeom prst="rect">
            <a:avLst/>
          </a:prstGeom>
          <a:solidFill>
            <a:srgbClr val="E94560"/>
          </a:solidFill>
          <a:ln/>
        </p:spPr>
      </p:sp>
      <p:pic>
        <p:nvPicPr>
          <p:cNvPr id="4" name="Image 0" descr="/sessions/happy-hopeful-thompson/pptx-work/icons/book-white.png"/>
          <p:cNvPicPr>
            <a:picLocks noChangeAspect="1"/>
          </p:cNvPicPr>
          <p:nvPr/>
        </p:nvPicPr>
        <p:blipFill>
          <a:blip r:embed="rId3"/>
          <a:stretch>
            <a:fillRect/>
          </a:stretch>
        </p:blipFill>
        <p:spPr>
          <a:xfrm>
            <a:off x="365760" y="164592"/>
            <a:ext cx="594360" cy="594360"/>
          </a:xfrm>
          <a:prstGeom prst="rect">
            <a:avLst/>
          </a:prstGeom>
        </p:spPr>
      </p:pic>
      <p:sp>
        <p:nvSpPr>
          <p:cNvPr id="5" name="Text 2"/>
          <p:cNvSpPr/>
          <p:nvPr/>
        </p:nvSpPr>
        <p:spPr>
          <a:xfrm>
            <a:off x="1097280" y="91440"/>
            <a:ext cx="10515600" cy="8229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Le Défi du NLP : Transformer du Texte en Nombres</a:t>
            </a:r>
            <a:endParaRPr lang="en-US" sz="2800" dirty="0"/>
          </a:p>
        </p:txBody>
      </p:sp>
      <p:sp>
        <p:nvSpPr>
          <p:cNvPr id="6" name="Shape 3"/>
          <p:cNvSpPr/>
          <p:nvPr/>
        </p:nvSpPr>
        <p:spPr>
          <a:xfrm>
            <a:off x="457200" y="1280160"/>
            <a:ext cx="11274552" cy="5303520"/>
          </a:xfrm>
          <a:prstGeom prst="rect">
            <a:avLst/>
          </a:prstGeom>
          <a:solidFill>
            <a:srgbClr val="FFFFFF"/>
          </a:solidFill>
          <a:ln/>
          <a:effectLst>
            <a:outerShdw blurRad="50800" dist="25400" dir="2700000" algn="bl" rotWithShape="0">
              <a:srgbClr val="000000">
                <a:alpha val="15000"/>
              </a:srgbClr>
            </a:outerShdw>
          </a:effectLst>
        </p:spPr>
      </p:sp>
      <p:sp>
        <p:nvSpPr>
          <p:cNvPr id="7" name="Text 4"/>
          <p:cNvSpPr/>
          <p:nvPr/>
        </p:nvSpPr>
        <p:spPr>
          <a:xfrm>
            <a:off x="731520" y="1371600"/>
            <a:ext cx="10698480" cy="640080"/>
          </a:xfrm>
          <a:prstGeom prst="rect">
            <a:avLst/>
          </a:prstGeom>
          <a:noFill/>
          <a:ln/>
        </p:spPr>
        <p:txBody>
          <a:bodyPr wrap="square" rtlCol="0" anchor="t"/>
          <a:lstStyle/>
          <a:p>
            <a:pPr marL="0" indent="0">
              <a:lnSpc>
                <a:spcPct val="115000"/>
              </a:lnSpc>
              <a:buNone/>
            </a:pPr>
            <a:r>
              <a:rPr lang="en-US" sz="1600" dirty="0">
                <a:solidFill>
                  <a:srgbClr val="333333"/>
                </a:solidFill>
                <a:latin typeface="Calibri" pitchFamily="34" charset="0"/>
                <a:ea typeface="Calibri" pitchFamily="34" charset="-122"/>
                <a:cs typeface="Calibri" pitchFamily="34" charset="-120"/>
              </a:rPr>
              <a:t>Un ordinateur ne comprend que des nombres. Le défi du NLP est de transformer du texte en représentations numériques tout en préservant le sens.</a:t>
            </a:r>
            <a:endParaRPr lang="en-US" sz="1600" dirty="0"/>
          </a:p>
        </p:txBody>
      </p:sp>
      <p:sp>
        <p:nvSpPr>
          <p:cNvPr id="8" name="Text 5"/>
          <p:cNvSpPr/>
          <p:nvPr/>
        </p:nvSpPr>
        <p:spPr>
          <a:xfrm>
            <a:off x="731520" y="2103120"/>
            <a:ext cx="10698480" cy="365760"/>
          </a:xfrm>
          <a:prstGeom prst="rect">
            <a:avLst/>
          </a:prstGeom>
          <a:noFill/>
          <a:ln/>
        </p:spPr>
        <p:txBody>
          <a:bodyPr wrap="square" rtlCol="0" anchor="ctr"/>
          <a:lstStyle/>
          <a:p>
            <a:pPr marL="0" indent="0">
              <a:buNone/>
            </a:pPr>
            <a:r>
              <a:rPr lang="en-US" sz="1800" b="1" dirty="0">
                <a:solidFill>
                  <a:srgbClr val="1A1A2E"/>
                </a:solidFill>
                <a:latin typeface="Trebuchet MS" pitchFamily="34" charset="0"/>
                <a:ea typeface="Trebuchet MS" pitchFamily="34" charset="-122"/>
                <a:cs typeface="Trebuchet MS" pitchFamily="34" charset="-120"/>
              </a:rPr>
              <a:t>Les étapes du traitement NLP</a:t>
            </a:r>
            <a:endParaRPr lang="en-US" sz="1800" dirty="0"/>
          </a:p>
        </p:txBody>
      </p:sp>
      <p:sp>
        <p:nvSpPr>
          <p:cNvPr id="9" name="Shape 6"/>
          <p:cNvSpPr/>
          <p:nvPr/>
        </p:nvSpPr>
        <p:spPr>
          <a:xfrm>
            <a:off x="914400" y="2560320"/>
            <a:ext cx="2011680" cy="731520"/>
          </a:xfrm>
          <a:prstGeom prst="roundRect">
            <a:avLst>
              <a:gd name="adj" fmla="val 12500"/>
            </a:avLst>
          </a:prstGeom>
          <a:solidFill>
            <a:srgbClr val="2980B9"/>
          </a:solidFill>
          <a:ln/>
        </p:spPr>
      </p:sp>
      <p:sp>
        <p:nvSpPr>
          <p:cNvPr id="10" name="Text 7"/>
          <p:cNvSpPr/>
          <p:nvPr/>
        </p:nvSpPr>
        <p:spPr>
          <a:xfrm>
            <a:off x="914400" y="2560320"/>
            <a:ext cx="2011680" cy="731520"/>
          </a:xfrm>
          <a:prstGeom prst="rect">
            <a:avLst/>
          </a:prstGeom>
          <a:noFill/>
          <a:ln/>
        </p:spPr>
        <p:txBody>
          <a:bodyPr wrap="square"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Tokenization</a:t>
            </a:r>
            <a:endParaRPr lang="en-US" sz="1500" dirty="0"/>
          </a:p>
        </p:txBody>
      </p:sp>
      <p:sp>
        <p:nvSpPr>
          <p:cNvPr id="11" name="Text 8"/>
          <p:cNvSpPr/>
          <p:nvPr/>
        </p:nvSpPr>
        <p:spPr>
          <a:xfrm>
            <a:off x="3108960" y="2560320"/>
            <a:ext cx="8229600" cy="731520"/>
          </a:xfrm>
          <a:prstGeom prst="rect">
            <a:avLst/>
          </a:prstGeom>
          <a:noFill/>
          <a:ln/>
        </p:spPr>
        <p:txBody>
          <a:bodyPr wrap="square" rtlCol="0" anchor="ctr"/>
          <a:lstStyle/>
          <a:p>
            <a:pPr marL="0" indent="0">
              <a:buNone/>
            </a:pPr>
            <a:r>
              <a:rPr lang="en-US" sz="1400" dirty="0">
                <a:solidFill>
                  <a:srgbClr val="333333"/>
                </a:solidFill>
                <a:latin typeface="Calibri" pitchFamily="34" charset="0"/>
                <a:ea typeface="Calibri" pitchFamily="34" charset="-122"/>
                <a:cs typeface="Calibri" pitchFamily="34" charset="-120"/>
              </a:rPr>
              <a:t>Découper le texte en morceaux (tokens). Ex: « Je mange une pomme » → ["Je", "mange", "une", "pomme"]</a:t>
            </a:r>
            <a:endParaRPr lang="en-US" sz="1400" dirty="0"/>
          </a:p>
        </p:txBody>
      </p:sp>
      <p:sp>
        <p:nvSpPr>
          <p:cNvPr id="12" name="Shape 9"/>
          <p:cNvSpPr/>
          <p:nvPr/>
        </p:nvSpPr>
        <p:spPr>
          <a:xfrm>
            <a:off x="914400" y="3566160"/>
            <a:ext cx="2011680" cy="731520"/>
          </a:xfrm>
          <a:prstGeom prst="roundRect">
            <a:avLst>
              <a:gd name="adj" fmla="val 12500"/>
            </a:avLst>
          </a:prstGeom>
          <a:solidFill>
            <a:srgbClr val="E67E22"/>
          </a:solidFill>
          <a:ln/>
        </p:spPr>
      </p:sp>
      <p:sp>
        <p:nvSpPr>
          <p:cNvPr id="13" name="Text 10"/>
          <p:cNvSpPr/>
          <p:nvPr/>
        </p:nvSpPr>
        <p:spPr>
          <a:xfrm>
            <a:off x="914400" y="3566160"/>
            <a:ext cx="2011680" cy="731520"/>
          </a:xfrm>
          <a:prstGeom prst="rect">
            <a:avLst/>
          </a:prstGeom>
          <a:noFill/>
          <a:ln/>
        </p:spPr>
        <p:txBody>
          <a:bodyPr wrap="square"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Nettoyage</a:t>
            </a:r>
            <a:endParaRPr lang="en-US" sz="1500" dirty="0"/>
          </a:p>
        </p:txBody>
      </p:sp>
      <p:sp>
        <p:nvSpPr>
          <p:cNvPr id="14" name="Text 11"/>
          <p:cNvSpPr/>
          <p:nvPr/>
        </p:nvSpPr>
        <p:spPr>
          <a:xfrm>
            <a:off x="3108960" y="3566160"/>
            <a:ext cx="8229600" cy="731520"/>
          </a:xfrm>
          <a:prstGeom prst="rect">
            <a:avLst/>
          </a:prstGeom>
          <a:noFill/>
          <a:ln/>
        </p:spPr>
        <p:txBody>
          <a:bodyPr wrap="square" rtlCol="0" anchor="ctr"/>
          <a:lstStyle/>
          <a:p>
            <a:pPr marL="0" indent="0">
              <a:buNone/>
            </a:pPr>
            <a:r>
              <a:rPr lang="en-US" sz="1400" dirty="0">
                <a:solidFill>
                  <a:srgbClr val="333333"/>
                </a:solidFill>
                <a:latin typeface="Calibri" pitchFamily="34" charset="0"/>
                <a:ea typeface="Calibri" pitchFamily="34" charset="-122"/>
                <a:cs typeface="Calibri" pitchFamily="34" charset="-120"/>
              </a:rPr>
              <a:t>Retirer les mots inutiles (stop words), mettre en minuscules, lemmatiser. Ex: « mangeait » → « manger »</a:t>
            </a:r>
            <a:endParaRPr lang="en-US" sz="1400" dirty="0"/>
          </a:p>
        </p:txBody>
      </p:sp>
      <p:sp>
        <p:nvSpPr>
          <p:cNvPr id="15" name="Shape 12"/>
          <p:cNvSpPr/>
          <p:nvPr/>
        </p:nvSpPr>
        <p:spPr>
          <a:xfrm>
            <a:off x="914400" y="4572000"/>
            <a:ext cx="2011680" cy="731520"/>
          </a:xfrm>
          <a:prstGeom prst="roundRect">
            <a:avLst>
              <a:gd name="adj" fmla="val 12500"/>
            </a:avLst>
          </a:prstGeom>
          <a:solidFill>
            <a:srgbClr val="27AE60"/>
          </a:solidFill>
          <a:ln/>
        </p:spPr>
      </p:sp>
      <p:sp>
        <p:nvSpPr>
          <p:cNvPr id="16" name="Text 13"/>
          <p:cNvSpPr/>
          <p:nvPr/>
        </p:nvSpPr>
        <p:spPr>
          <a:xfrm>
            <a:off x="914400" y="4572000"/>
            <a:ext cx="2011680" cy="731520"/>
          </a:xfrm>
          <a:prstGeom prst="rect">
            <a:avLst/>
          </a:prstGeom>
          <a:noFill/>
          <a:ln/>
        </p:spPr>
        <p:txBody>
          <a:bodyPr wrap="square"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Vectorisation</a:t>
            </a:r>
            <a:endParaRPr lang="en-US" sz="1500" dirty="0"/>
          </a:p>
        </p:txBody>
      </p:sp>
      <p:sp>
        <p:nvSpPr>
          <p:cNvPr id="17" name="Text 14"/>
          <p:cNvSpPr/>
          <p:nvPr/>
        </p:nvSpPr>
        <p:spPr>
          <a:xfrm>
            <a:off x="3108960" y="4572000"/>
            <a:ext cx="8229600" cy="731520"/>
          </a:xfrm>
          <a:prstGeom prst="rect">
            <a:avLst/>
          </a:prstGeom>
          <a:noFill/>
          <a:ln/>
        </p:spPr>
        <p:txBody>
          <a:bodyPr wrap="square" rtlCol="0" anchor="ctr"/>
          <a:lstStyle/>
          <a:p>
            <a:pPr marL="0" indent="0">
              <a:buNone/>
            </a:pPr>
            <a:r>
              <a:rPr lang="en-US" sz="1400" dirty="0">
                <a:solidFill>
                  <a:srgbClr val="333333"/>
                </a:solidFill>
                <a:latin typeface="Calibri" pitchFamily="34" charset="0"/>
                <a:ea typeface="Calibri" pitchFamily="34" charset="-122"/>
                <a:cs typeface="Calibri" pitchFamily="34" charset="-120"/>
              </a:rPr>
              <a:t>Transformer chaque token en un vecteur de nombres. Plusieurs méthodes existent (Bag of Words, TF-IDF, Embeddings)</a:t>
            </a:r>
            <a:endParaRPr lang="en-US" sz="1400" dirty="0"/>
          </a:p>
        </p:txBody>
      </p:sp>
      <p:sp>
        <p:nvSpPr>
          <p:cNvPr id="18" name="Shape 15"/>
          <p:cNvSpPr/>
          <p:nvPr/>
        </p:nvSpPr>
        <p:spPr>
          <a:xfrm>
            <a:off x="914400" y="5577840"/>
            <a:ext cx="2011680" cy="731520"/>
          </a:xfrm>
          <a:prstGeom prst="roundRect">
            <a:avLst>
              <a:gd name="adj" fmla="val 12500"/>
            </a:avLst>
          </a:prstGeom>
          <a:solidFill>
            <a:srgbClr val="E94560"/>
          </a:solidFill>
          <a:ln/>
        </p:spPr>
      </p:sp>
      <p:sp>
        <p:nvSpPr>
          <p:cNvPr id="19" name="Text 16"/>
          <p:cNvSpPr/>
          <p:nvPr/>
        </p:nvSpPr>
        <p:spPr>
          <a:xfrm>
            <a:off x="914400" y="5577840"/>
            <a:ext cx="2011680" cy="731520"/>
          </a:xfrm>
          <a:prstGeom prst="rect">
            <a:avLst/>
          </a:prstGeom>
          <a:noFill/>
          <a:ln/>
        </p:spPr>
        <p:txBody>
          <a:bodyPr wrap="square"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Modèle</a:t>
            </a:r>
            <a:endParaRPr lang="en-US" sz="1500" dirty="0"/>
          </a:p>
        </p:txBody>
      </p:sp>
      <p:sp>
        <p:nvSpPr>
          <p:cNvPr id="20" name="Text 17"/>
          <p:cNvSpPr/>
          <p:nvPr/>
        </p:nvSpPr>
        <p:spPr>
          <a:xfrm>
            <a:off x="3108960" y="5577840"/>
            <a:ext cx="8229600" cy="731520"/>
          </a:xfrm>
          <a:prstGeom prst="rect">
            <a:avLst/>
          </a:prstGeom>
          <a:noFill/>
          <a:ln/>
        </p:spPr>
        <p:txBody>
          <a:bodyPr wrap="square" rtlCol="0" anchor="ctr"/>
          <a:lstStyle/>
          <a:p>
            <a:pPr marL="0" indent="0">
              <a:buNone/>
            </a:pPr>
            <a:r>
              <a:rPr lang="en-US" sz="1400" dirty="0">
                <a:solidFill>
                  <a:srgbClr val="333333"/>
                </a:solidFill>
                <a:latin typeface="Calibri" pitchFamily="34" charset="0"/>
                <a:ea typeface="Calibri" pitchFamily="34" charset="-122"/>
                <a:cs typeface="Calibri" pitchFamily="34" charset="-120"/>
              </a:rPr>
              <a:t>Envoyer ces vecteurs dans un réseau de neurones pour la tâche voulue (classification, traduction, génération)</a:t>
            </a:r>
            <a:endParaRPr lang="en-US" sz="1400" dirty="0"/>
          </a:p>
        </p:txBody>
      </p:sp>
      <p:sp>
        <p:nvSpPr>
          <p:cNvPr id="25" name="Slide Number Placeholder 0"/>
          <p:cNvSpPr>
            <a:spLocks noGrp="1"/>
          </p:cNvSpPr>
          <p:nvPr>
            <p:ph type="sldNum" sz="quarter" idx="4294967295"/>
          </p:nvPr>
        </p:nvSpPr>
        <p:spPr>
          <a:xfrm>
            <a:off x="109728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A1A2E"/>
          </a:solidFill>
          <a:ln/>
        </p:spPr>
      </p:sp>
      <p:sp>
        <p:nvSpPr>
          <p:cNvPr id="3" name="Shape 1"/>
          <p:cNvSpPr/>
          <p:nvPr/>
        </p:nvSpPr>
        <p:spPr>
          <a:xfrm>
            <a:off x="0" y="960120"/>
            <a:ext cx="12188952" cy="54864"/>
          </a:xfrm>
          <a:prstGeom prst="rect">
            <a:avLst/>
          </a:prstGeom>
          <a:solidFill>
            <a:srgbClr val="E94560"/>
          </a:solidFill>
          <a:ln/>
        </p:spPr>
      </p:sp>
      <p:pic>
        <p:nvPicPr>
          <p:cNvPr id="4" name="Image 0" descr="/sessions/happy-hopeful-thompson/pptx-work/icons/puzzle-white.png"/>
          <p:cNvPicPr>
            <a:picLocks noChangeAspect="1"/>
          </p:cNvPicPr>
          <p:nvPr/>
        </p:nvPicPr>
        <p:blipFill>
          <a:blip r:embed="rId3"/>
          <a:stretch>
            <a:fillRect/>
          </a:stretch>
        </p:blipFill>
        <p:spPr>
          <a:xfrm>
            <a:off x="365760" y="164592"/>
            <a:ext cx="594360" cy="594360"/>
          </a:xfrm>
          <a:prstGeom prst="rect">
            <a:avLst/>
          </a:prstGeom>
        </p:spPr>
      </p:pic>
      <p:sp>
        <p:nvSpPr>
          <p:cNvPr id="5" name="Text 2"/>
          <p:cNvSpPr/>
          <p:nvPr/>
        </p:nvSpPr>
        <p:spPr>
          <a:xfrm>
            <a:off x="1097280" y="91440"/>
            <a:ext cx="10515600" cy="8229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Les Embeddings : Donner du Sens aux Mots</a:t>
            </a:r>
            <a:endParaRPr lang="en-US" sz="2800" dirty="0"/>
          </a:p>
        </p:txBody>
      </p:sp>
      <p:sp>
        <p:nvSpPr>
          <p:cNvPr id="6" name="Shape 3"/>
          <p:cNvSpPr/>
          <p:nvPr/>
        </p:nvSpPr>
        <p:spPr>
          <a:xfrm>
            <a:off x="457200" y="1280160"/>
            <a:ext cx="5486400" cy="5303520"/>
          </a:xfrm>
          <a:prstGeom prst="rect">
            <a:avLst/>
          </a:prstGeom>
          <a:solidFill>
            <a:srgbClr val="FFFFFF"/>
          </a:solidFill>
          <a:ln/>
          <a:effectLst>
            <a:outerShdw blurRad="50800" dist="25400" dir="2700000" algn="bl" rotWithShape="0">
              <a:srgbClr val="000000">
                <a:alpha val="15000"/>
              </a:srgbClr>
            </a:outerShdw>
          </a:effectLst>
        </p:spPr>
      </p:sp>
      <p:sp>
        <p:nvSpPr>
          <p:cNvPr id="7" name="Text 4"/>
          <p:cNvSpPr/>
          <p:nvPr/>
        </p:nvSpPr>
        <p:spPr>
          <a:xfrm>
            <a:off x="731520" y="1371600"/>
            <a:ext cx="5029200" cy="457200"/>
          </a:xfrm>
          <a:prstGeom prst="rect">
            <a:avLst/>
          </a:prstGeom>
          <a:noFill/>
          <a:ln/>
        </p:spPr>
        <p:txBody>
          <a:bodyPr wrap="square" rtlCol="0" anchor="ctr"/>
          <a:lstStyle/>
          <a:p>
            <a:pPr marL="0" indent="0">
              <a:buNone/>
            </a:pPr>
            <a:r>
              <a:rPr lang="en-US" sz="1800" b="1" dirty="0">
                <a:solidFill>
                  <a:srgbClr val="1A1A2E"/>
                </a:solidFill>
                <a:latin typeface="Trebuchet MS" pitchFamily="34" charset="0"/>
                <a:ea typeface="Trebuchet MS" pitchFamily="34" charset="-122"/>
                <a:cs typeface="Trebuchet MS" pitchFamily="34" charset="-120"/>
              </a:rPr>
              <a:t>Qu'est-ce qu'un embedding ?</a:t>
            </a:r>
            <a:endParaRPr lang="en-US" sz="1800" dirty="0"/>
          </a:p>
        </p:txBody>
      </p:sp>
      <p:sp>
        <p:nvSpPr>
          <p:cNvPr id="8" name="Text 5"/>
          <p:cNvSpPr/>
          <p:nvPr/>
        </p:nvSpPr>
        <p:spPr>
          <a:xfrm>
            <a:off x="731520" y="1920240"/>
            <a:ext cx="4937760" cy="4114800"/>
          </a:xfrm>
          <a:prstGeom prst="rect">
            <a:avLst/>
          </a:prstGeom>
          <a:noFill/>
          <a:ln/>
        </p:spPr>
        <p:txBody>
          <a:bodyPr wrap="square" rtlCol="0" anchor="t"/>
          <a:lstStyle/>
          <a:p>
            <a:pPr marL="0" indent="0">
              <a:lnSpc>
                <a:spcPct val="120000"/>
              </a:lnSpc>
              <a:buNone/>
            </a:pPr>
            <a:r>
              <a:rPr lang="en-US" sz="1500" dirty="0">
                <a:solidFill>
                  <a:srgbClr val="333333"/>
                </a:solidFill>
                <a:latin typeface="Calibri" pitchFamily="34" charset="0"/>
                <a:ea typeface="Calibri" pitchFamily="34" charset="-122"/>
                <a:cs typeface="Calibri" pitchFamily="34" charset="-120"/>
              </a:rPr>
              <a:t>Un embedding est un vecteur (liste de nombres) qui capture le sens d'un mot. Les mots similaires ont des vecteurs proches.</a:t>
            </a:r>
            <a:endParaRPr lang="en-US" sz="1500" dirty="0"/>
          </a:p>
          <a:p>
            <a:pPr marL="0" indent="0">
              <a:lnSpc>
                <a:spcPct val="120000"/>
              </a:lnSpc>
              <a:buNone/>
            </a:pPr>
            <a:endParaRPr lang="en-US" sz="1500" dirty="0"/>
          </a:p>
          <a:p>
            <a:pPr marL="0" indent="0">
              <a:lnSpc>
                <a:spcPct val="120000"/>
              </a:lnSpc>
              <a:buNone/>
            </a:pPr>
            <a:r>
              <a:rPr lang="en-US" sz="1500" dirty="0">
                <a:solidFill>
                  <a:srgbClr val="333333"/>
                </a:solidFill>
                <a:latin typeface="Calibri" pitchFamily="34" charset="0"/>
                <a:ea typeface="Calibri" pitchFamily="34" charset="-122"/>
                <a:cs typeface="Calibri" pitchFamily="34" charset="-120"/>
              </a:rPr>
              <a:t>Exemple simplifié :</a:t>
            </a:r>
            <a:endParaRPr lang="en-US" sz="1500" dirty="0"/>
          </a:p>
          <a:p>
            <a:pPr marL="0" indent="0">
              <a:lnSpc>
                <a:spcPct val="120000"/>
              </a:lnSpc>
              <a:buNone/>
            </a:pPr>
            <a:r>
              <a:rPr lang="en-US" sz="1500" dirty="0">
                <a:solidFill>
                  <a:srgbClr val="333333"/>
                </a:solidFill>
                <a:latin typeface="Calibri" pitchFamily="34" charset="0"/>
                <a:ea typeface="Calibri" pitchFamily="34" charset="-122"/>
                <a:cs typeface="Calibri" pitchFamily="34" charset="-120"/>
              </a:rPr>
              <a:t>  roi   → [0.9, 0.2, 0.8, 0.1]</a:t>
            </a:r>
            <a:endParaRPr lang="en-US" sz="1500" dirty="0"/>
          </a:p>
          <a:p>
            <a:pPr marL="0" indent="0">
              <a:lnSpc>
                <a:spcPct val="120000"/>
              </a:lnSpc>
              <a:buNone/>
            </a:pPr>
            <a:r>
              <a:rPr lang="en-US" sz="1500" dirty="0">
                <a:solidFill>
                  <a:srgbClr val="333333"/>
                </a:solidFill>
                <a:latin typeface="Calibri" pitchFamily="34" charset="0"/>
                <a:ea typeface="Calibri" pitchFamily="34" charset="-122"/>
                <a:cs typeface="Calibri" pitchFamily="34" charset="-120"/>
              </a:rPr>
              <a:t>  reine → [0.9, 0.2, 0.3, 0.8]</a:t>
            </a:r>
            <a:endParaRPr lang="en-US" sz="1500" dirty="0"/>
          </a:p>
          <a:p>
            <a:pPr marL="0" indent="0">
              <a:lnSpc>
                <a:spcPct val="120000"/>
              </a:lnSpc>
              <a:buNone/>
            </a:pPr>
            <a:r>
              <a:rPr lang="en-US" sz="1500" dirty="0">
                <a:solidFill>
                  <a:srgbClr val="333333"/>
                </a:solidFill>
                <a:latin typeface="Calibri" pitchFamily="34" charset="0"/>
                <a:ea typeface="Calibri" pitchFamily="34" charset="-122"/>
                <a:cs typeface="Calibri" pitchFamily="34" charset="-120"/>
              </a:rPr>
              <a:t>  chat  → [0.1, 0.9, 0.4, 0.5]</a:t>
            </a:r>
            <a:endParaRPr lang="en-US" sz="1500" dirty="0"/>
          </a:p>
          <a:p>
            <a:pPr marL="0" indent="0">
              <a:lnSpc>
                <a:spcPct val="120000"/>
              </a:lnSpc>
              <a:buNone/>
            </a:pPr>
            <a:endParaRPr lang="en-US" sz="1500" dirty="0"/>
          </a:p>
          <a:p>
            <a:pPr marL="0" indent="0">
              <a:lnSpc>
                <a:spcPct val="120000"/>
              </a:lnSpc>
              <a:buNone/>
            </a:pPr>
            <a:r>
              <a:rPr lang="en-US" sz="1500" dirty="0">
                <a:solidFill>
                  <a:srgbClr val="333333"/>
                </a:solidFill>
                <a:latin typeface="Calibri" pitchFamily="34" charset="0"/>
                <a:ea typeface="Calibri" pitchFamily="34" charset="-122"/>
                <a:cs typeface="Calibri" pitchFamily="34" charset="-120"/>
              </a:rPr>
              <a:t>« roi » et « reine » sont proches car ils partagent le concept de royauté. « chat » est distant car c'est un concept différent.</a:t>
            </a:r>
            <a:endParaRPr lang="en-US" sz="1500" dirty="0"/>
          </a:p>
        </p:txBody>
      </p:sp>
      <p:sp>
        <p:nvSpPr>
          <p:cNvPr id="9" name="Shape 6"/>
          <p:cNvSpPr/>
          <p:nvPr/>
        </p:nvSpPr>
        <p:spPr>
          <a:xfrm>
            <a:off x="6217920" y="1280160"/>
            <a:ext cx="5486400" cy="5303520"/>
          </a:xfrm>
          <a:prstGeom prst="rect">
            <a:avLst/>
          </a:prstGeom>
          <a:solidFill>
            <a:srgbClr val="16213E"/>
          </a:solidFill>
          <a:ln/>
          <a:effectLst>
            <a:outerShdw blurRad="50800" dist="25400" dir="2700000" algn="bl" rotWithShape="0">
              <a:srgbClr val="000000">
                <a:alpha val="15000"/>
              </a:srgbClr>
            </a:outerShdw>
          </a:effectLst>
        </p:spPr>
      </p:sp>
      <p:sp>
        <p:nvSpPr>
          <p:cNvPr id="10" name="Text 7"/>
          <p:cNvSpPr/>
          <p:nvPr/>
        </p:nvSpPr>
        <p:spPr>
          <a:xfrm>
            <a:off x="6492240" y="1463040"/>
            <a:ext cx="4937760" cy="457200"/>
          </a:xfrm>
          <a:prstGeom prst="rect">
            <a:avLst/>
          </a:prstGeom>
          <a:noFill/>
          <a:ln/>
        </p:spPr>
        <p:txBody>
          <a:bodyPr wrap="square" rtlCol="0" anchor="ctr"/>
          <a:lstStyle/>
          <a:p>
            <a:pPr marL="0" indent="0">
              <a:buNone/>
            </a:pPr>
            <a:r>
              <a:rPr lang="en-US" sz="1800" b="1" dirty="0">
                <a:solidFill>
                  <a:srgbClr val="E94560"/>
                </a:solidFill>
                <a:latin typeface="Trebuchet MS" pitchFamily="34" charset="0"/>
                <a:ea typeface="Trebuchet MS" pitchFamily="34" charset="-122"/>
                <a:cs typeface="Trebuchet MS" pitchFamily="34" charset="-120"/>
              </a:rPr>
              <a:t>Propriétés étonnantes</a:t>
            </a:r>
            <a:endParaRPr lang="en-US" sz="1800" dirty="0"/>
          </a:p>
        </p:txBody>
      </p:sp>
      <p:sp>
        <p:nvSpPr>
          <p:cNvPr id="11" name="Text 8"/>
          <p:cNvSpPr/>
          <p:nvPr/>
        </p:nvSpPr>
        <p:spPr>
          <a:xfrm>
            <a:off x="6492240" y="2011680"/>
            <a:ext cx="4937760" cy="4297680"/>
          </a:xfrm>
          <a:prstGeom prst="rect">
            <a:avLst/>
          </a:prstGeom>
          <a:noFill/>
          <a:ln/>
        </p:spPr>
        <p:txBody>
          <a:bodyPr wrap="square" rtlCol="0" anchor="t"/>
          <a:lstStyle/>
          <a:p>
            <a:pPr marL="0" indent="0">
              <a:lnSpc>
                <a:spcPct val="120000"/>
              </a:lnSpc>
              <a:buNone/>
            </a:pPr>
            <a:r>
              <a:rPr lang="en-US" sz="1400" dirty="0">
                <a:solidFill>
                  <a:srgbClr val="F0F0F0"/>
                </a:solidFill>
                <a:latin typeface="Calibri" pitchFamily="34" charset="0"/>
                <a:ea typeface="Calibri" pitchFamily="34" charset="-122"/>
                <a:cs typeface="Calibri" pitchFamily="34" charset="-120"/>
              </a:rPr>
              <a:t>Les embeddings capturent des relations sémantiques. La célèbre équation :</a:t>
            </a:r>
            <a:endParaRPr lang="en-US" sz="1400" dirty="0"/>
          </a:p>
          <a:p>
            <a:pPr marL="0" indent="0">
              <a:lnSpc>
                <a:spcPct val="120000"/>
              </a:lnSpc>
              <a:buNone/>
            </a:pPr>
            <a:endParaRPr lang="en-US" sz="1400" dirty="0"/>
          </a:p>
          <a:p>
            <a:pPr marL="0" indent="0">
              <a:lnSpc>
                <a:spcPct val="120000"/>
              </a:lnSpc>
              <a:buNone/>
            </a:pPr>
            <a:r>
              <a:rPr lang="en-US" sz="1400" dirty="0">
                <a:solidFill>
                  <a:srgbClr val="F0F0F0"/>
                </a:solidFill>
                <a:latin typeface="Calibri" pitchFamily="34" charset="0"/>
                <a:ea typeface="Calibri" pitchFamily="34" charset="-122"/>
                <a:cs typeface="Calibri" pitchFamily="34" charset="-120"/>
              </a:rPr>
              <a:t>  roi - homme + femme ≈ reine</a:t>
            </a:r>
            <a:endParaRPr lang="en-US" sz="1400" dirty="0"/>
          </a:p>
          <a:p>
            <a:pPr marL="0" indent="0">
              <a:lnSpc>
                <a:spcPct val="120000"/>
              </a:lnSpc>
              <a:buNone/>
            </a:pPr>
            <a:endParaRPr lang="en-US" sz="1400" dirty="0"/>
          </a:p>
          <a:p>
            <a:pPr marL="0" indent="0">
              <a:lnSpc>
                <a:spcPct val="120000"/>
              </a:lnSpc>
              <a:buNone/>
            </a:pPr>
            <a:r>
              <a:rPr lang="en-US" sz="1400" dirty="0">
                <a:solidFill>
                  <a:srgbClr val="F0F0F0"/>
                </a:solidFill>
                <a:latin typeface="Calibri" pitchFamily="34" charset="0"/>
                <a:ea typeface="Calibri" pitchFamily="34" charset="-122"/>
                <a:cs typeface="Calibri" pitchFamily="34" charset="-120"/>
              </a:rPr>
              <a:t>Les opérations mathématiques sur les vecteurs correspondent à des opérations sur le sens !</a:t>
            </a:r>
            <a:endParaRPr lang="en-US" sz="1400" dirty="0"/>
          </a:p>
          <a:p>
            <a:pPr marL="0" indent="0">
              <a:lnSpc>
                <a:spcPct val="120000"/>
              </a:lnSpc>
              <a:buNone/>
            </a:pPr>
            <a:endParaRPr lang="en-US" sz="1400" dirty="0"/>
          </a:p>
          <a:p>
            <a:pPr marL="0" indent="0">
              <a:lnSpc>
                <a:spcPct val="120000"/>
              </a:lnSpc>
              <a:buNone/>
            </a:pPr>
            <a:r>
              <a:rPr lang="en-US" sz="1400" dirty="0">
                <a:solidFill>
                  <a:srgbClr val="F0F0F0"/>
                </a:solidFill>
                <a:latin typeface="Calibri" pitchFamily="34" charset="0"/>
                <a:ea typeface="Calibri" pitchFamily="34" charset="-122"/>
                <a:cs typeface="Calibri" pitchFamily="34" charset="-120"/>
              </a:rPr>
              <a:t>Modèles populaires :</a:t>
            </a:r>
            <a:endParaRPr lang="en-US" sz="1400" dirty="0"/>
          </a:p>
          <a:p>
            <a:pPr marL="0" indent="0">
              <a:lnSpc>
                <a:spcPct val="120000"/>
              </a:lnSpc>
              <a:buNone/>
            </a:pPr>
            <a:r>
              <a:rPr lang="en-US" sz="1400" dirty="0">
                <a:solidFill>
                  <a:srgbClr val="F0F0F0"/>
                </a:solidFill>
                <a:latin typeface="Calibri" pitchFamily="34" charset="0"/>
                <a:ea typeface="Calibri" pitchFamily="34" charset="-122"/>
                <a:cs typeface="Calibri" pitchFamily="34" charset="-120"/>
              </a:rPr>
              <a:t>• Word2Vec (Google, 2013)</a:t>
            </a:r>
            <a:endParaRPr lang="en-US" sz="1400" dirty="0"/>
          </a:p>
          <a:p>
            <a:pPr marL="0" indent="0">
              <a:lnSpc>
                <a:spcPct val="120000"/>
              </a:lnSpc>
              <a:buNone/>
            </a:pPr>
            <a:r>
              <a:rPr lang="en-US" sz="1400" dirty="0">
                <a:solidFill>
                  <a:srgbClr val="F0F0F0"/>
                </a:solidFill>
                <a:latin typeface="Calibri" pitchFamily="34" charset="0"/>
                <a:ea typeface="Calibri" pitchFamily="34" charset="-122"/>
                <a:cs typeface="Calibri" pitchFamily="34" charset="-120"/>
              </a:rPr>
              <a:t>• GloVe (Stanford)</a:t>
            </a:r>
            <a:endParaRPr lang="en-US" sz="1400" dirty="0"/>
          </a:p>
          <a:p>
            <a:pPr marL="0" indent="0">
              <a:lnSpc>
                <a:spcPct val="120000"/>
              </a:lnSpc>
              <a:buNone/>
            </a:pPr>
            <a:r>
              <a:rPr lang="en-US" sz="1400" dirty="0">
                <a:solidFill>
                  <a:srgbClr val="F0F0F0"/>
                </a:solidFill>
                <a:latin typeface="Calibri" pitchFamily="34" charset="0"/>
                <a:ea typeface="Calibri" pitchFamily="34" charset="-122"/>
                <a:cs typeface="Calibri" pitchFamily="34" charset="-120"/>
              </a:rPr>
              <a:t>• FastText (Facebook)</a:t>
            </a:r>
            <a:endParaRPr lang="en-US" sz="1400" dirty="0"/>
          </a:p>
          <a:p>
            <a:pPr marL="0" indent="0">
              <a:lnSpc>
                <a:spcPct val="120000"/>
              </a:lnSpc>
              <a:buNone/>
            </a:pPr>
            <a:r>
              <a:rPr lang="en-US" sz="1400" dirty="0">
                <a:solidFill>
                  <a:srgbClr val="F0F0F0"/>
                </a:solidFill>
                <a:latin typeface="Calibri" pitchFamily="34" charset="0"/>
                <a:ea typeface="Calibri" pitchFamily="34" charset="-122"/>
                <a:cs typeface="Calibri" pitchFamily="34" charset="-120"/>
              </a:rPr>
              <a:t>• BERT embeddings (Google, 2018)</a:t>
            </a:r>
            <a:endParaRPr lang="en-US" sz="1400" dirty="0"/>
          </a:p>
          <a:p>
            <a:pPr marL="0" indent="0">
              <a:lnSpc>
                <a:spcPct val="120000"/>
              </a:lnSpc>
              <a:buNone/>
            </a:pPr>
            <a:endParaRPr lang="en-US" sz="1400" dirty="0"/>
          </a:p>
          <a:p>
            <a:pPr marL="0" indent="0">
              <a:lnSpc>
                <a:spcPct val="120000"/>
              </a:lnSpc>
              <a:buNone/>
            </a:pPr>
            <a:r>
              <a:rPr lang="en-US" sz="1400" dirty="0">
                <a:solidFill>
                  <a:srgbClr val="F0F0F0"/>
                </a:solidFill>
                <a:latin typeface="Calibri" pitchFamily="34" charset="0"/>
                <a:ea typeface="Calibri" pitchFamily="34" charset="-122"/>
                <a:cs typeface="Calibri" pitchFamily="34" charset="-120"/>
              </a:rPr>
              <a:t>En pratique, vous ne créez pas vos embeddings : vous utilisez des modèles pré-entraînés qui les fournissent.</a:t>
            </a:r>
            <a:endParaRPr lang="en-US" sz="1400" dirty="0"/>
          </a:p>
        </p:txBody>
      </p:sp>
      <p:sp>
        <p:nvSpPr>
          <p:cNvPr id="25" name="Slide Number Placeholder 0"/>
          <p:cNvSpPr>
            <a:spLocks noGrp="1"/>
          </p:cNvSpPr>
          <p:nvPr>
            <p:ph type="sldNum" sz="quarter" idx="4294967295"/>
          </p:nvPr>
        </p:nvSpPr>
        <p:spPr>
          <a:xfrm>
            <a:off x="109728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A1A2E"/>
          </a:solidFill>
          <a:ln/>
        </p:spPr>
      </p:sp>
      <p:sp>
        <p:nvSpPr>
          <p:cNvPr id="3" name="Shape 1"/>
          <p:cNvSpPr/>
          <p:nvPr/>
        </p:nvSpPr>
        <p:spPr>
          <a:xfrm>
            <a:off x="0" y="960120"/>
            <a:ext cx="12188952" cy="54864"/>
          </a:xfrm>
          <a:prstGeom prst="rect">
            <a:avLst/>
          </a:prstGeom>
          <a:solidFill>
            <a:srgbClr val="E94560"/>
          </a:solidFill>
          <a:ln/>
        </p:spPr>
      </p:sp>
      <p:pic>
        <p:nvPicPr>
          <p:cNvPr id="4" name="Image 0" descr="/sessions/happy-hopeful-thompson/pptx-work/icons/rocket-white.png"/>
          <p:cNvPicPr>
            <a:picLocks noChangeAspect="1"/>
          </p:cNvPicPr>
          <p:nvPr/>
        </p:nvPicPr>
        <p:blipFill>
          <a:blip r:embed="rId3"/>
          <a:stretch>
            <a:fillRect/>
          </a:stretch>
        </p:blipFill>
        <p:spPr>
          <a:xfrm>
            <a:off x="365760" y="164592"/>
            <a:ext cx="594360" cy="594360"/>
          </a:xfrm>
          <a:prstGeom prst="rect">
            <a:avLst/>
          </a:prstGeom>
        </p:spPr>
      </p:pic>
      <p:sp>
        <p:nvSpPr>
          <p:cNvPr id="5" name="Text 2"/>
          <p:cNvSpPr/>
          <p:nvPr/>
        </p:nvSpPr>
        <p:spPr>
          <a:xfrm>
            <a:off x="1097280" y="91440"/>
            <a:ext cx="10515600" cy="8229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Applications Concrètes du NLP</a:t>
            </a:r>
            <a:endParaRPr lang="en-US" sz="2800" dirty="0"/>
          </a:p>
        </p:txBody>
      </p:sp>
      <p:sp>
        <p:nvSpPr>
          <p:cNvPr id="6" name="Shape 3"/>
          <p:cNvSpPr/>
          <p:nvPr/>
        </p:nvSpPr>
        <p:spPr>
          <a:xfrm>
            <a:off x="457200" y="1280160"/>
            <a:ext cx="11274552" cy="5303520"/>
          </a:xfrm>
          <a:prstGeom prst="rect">
            <a:avLst/>
          </a:prstGeom>
          <a:solidFill>
            <a:srgbClr val="FFFFFF"/>
          </a:solidFill>
          <a:ln/>
          <a:effectLst>
            <a:outerShdw blurRad="50800" dist="25400" dir="2700000" algn="bl" rotWithShape="0">
              <a:srgbClr val="000000">
                <a:alpha val="15000"/>
              </a:srgbClr>
            </a:outerShdw>
          </a:effectLst>
        </p:spPr>
      </p:sp>
      <p:sp>
        <p:nvSpPr>
          <p:cNvPr id="7" name="Shape 4"/>
          <p:cNvSpPr/>
          <p:nvPr/>
        </p:nvSpPr>
        <p:spPr>
          <a:xfrm>
            <a:off x="640080" y="1463040"/>
            <a:ext cx="109728" cy="822960"/>
          </a:xfrm>
          <a:prstGeom prst="rect">
            <a:avLst/>
          </a:prstGeom>
          <a:solidFill>
            <a:srgbClr val="27AE60"/>
          </a:solidFill>
          <a:ln/>
        </p:spPr>
      </p:sp>
      <p:sp>
        <p:nvSpPr>
          <p:cNvPr id="8" name="Text 5"/>
          <p:cNvSpPr/>
          <p:nvPr/>
        </p:nvSpPr>
        <p:spPr>
          <a:xfrm>
            <a:off x="914400" y="1463040"/>
            <a:ext cx="2560320" cy="411480"/>
          </a:xfrm>
          <a:prstGeom prst="rect">
            <a:avLst/>
          </a:prstGeom>
          <a:noFill/>
          <a:ln/>
        </p:spPr>
        <p:txBody>
          <a:bodyPr wrap="square" rtlCol="0" anchor="ctr"/>
          <a:lstStyle/>
          <a:p>
            <a:pPr marL="0" indent="0">
              <a:buNone/>
            </a:pPr>
            <a:r>
              <a:rPr lang="en-US" sz="1400" b="1" dirty="0">
                <a:solidFill>
                  <a:srgbClr val="27AE60"/>
                </a:solidFill>
                <a:latin typeface="Trebuchet MS" pitchFamily="34" charset="0"/>
                <a:ea typeface="Trebuchet MS" pitchFamily="34" charset="-122"/>
                <a:cs typeface="Trebuchet MS" pitchFamily="34" charset="-120"/>
              </a:rPr>
              <a:t>Analyse de sentiments</a:t>
            </a:r>
            <a:endParaRPr lang="en-US" sz="1400" dirty="0"/>
          </a:p>
        </p:txBody>
      </p:sp>
      <p:sp>
        <p:nvSpPr>
          <p:cNvPr id="9" name="Text 6"/>
          <p:cNvSpPr/>
          <p:nvPr/>
        </p:nvSpPr>
        <p:spPr>
          <a:xfrm>
            <a:off x="3474720" y="1463040"/>
            <a:ext cx="5029200" cy="41148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Déterminer si un avis client est positif, négatif ou neutre. Utilisé par les entreprises pour surveiller leur e-réputation.</a:t>
            </a:r>
            <a:endParaRPr lang="en-US" sz="1300" dirty="0"/>
          </a:p>
        </p:txBody>
      </p:sp>
      <p:sp>
        <p:nvSpPr>
          <p:cNvPr id="10" name="Text 7"/>
          <p:cNvSpPr/>
          <p:nvPr/>
        </p:nvSpPr>
        <p:spPr>
          <a:xfrm>
            <a:off x="8503920" y="1463040"/>
            <a:ext cx="3017520" cy="411480"/>
          </a:xfrm>
          <a:prstGeom prst="rect">
            <a:avLst/>
          </a:prstGeom>
          <a:noFill/>
          <a:ln/>
        </p:spPr>
        <p:txBody>
          <a:bodyPr wrap="square"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Ex: « Ce restaurant est incroyable ! » → Positif (0.95)</a:t>
            </a:r>
            <a:endParaRPr lang="en-US" sz="1200" dirty="0"/>
          </a:p>
        </p:txBody>
      </p:sp>
      <p:sp>
        <p:nvSpPr>
          <p:cNvPr id="11" name="Shape 8"/>
          <p:cNvSpPr/>
          <p:nvPr/>
        </p:nvSpPr>
        <p:spPr>
          <a:xfrm>
            <a:off x="640080" y="2468880"/>
            <a:ext cx="109728" cy="822960"/>
          </a:xfrm>
          <a:prstGeom prst="rect">
            <a:avLst/>
          </a:prstGeom>
          <a:solidFill>
            <a:srgbClr val="2980B9"/>
          </a:solidFill>
          <a:ln/>
        </p:spPr>
      </p:sp>
      <p:sp>
        <p:nvSpPr>
          <p:cNvPr id="12" name="Text 9"/>
          <p:cNvSpPr/>
          <p:nvPr/>
        </p:nvSpPr>
        <p:spPr>
          <a:xfrm>
            <a:off x="914400" y="2468880"/>
            <a:ext cx="2560320" cy="411480"/>
          </a:xfrm>
          <a:prstGeom prst="rect">
            <a:avLst/>
          </a:prstGeom>
          <a:noFill/>
          <a:ln/>
        </p:spPr>
        <p:txBody>
          <a:bodyPr wrap="square" rtlCol="0" anchor="ctr"/>
          <a:lstStyle/>
          <a:p>
            <a:pPr marL="0" indent="0">
              <a:buNone/>
            </a:pPr>
            <a:r>
              <a:rPr lang="en-US" sz="1400" b="1" dirty="0">
                <a:solidFill>
                  <a:srgbClr val="2980B9"/>
                </a:solidFill>
                <a:latin typeface="Trebuchet MS" pitchFamily="34" charset="0"/>
                <a:ea typeface="Trebuchet MS" pitchFamily="34" charset="-122"/>
                <a:cs typeface="Trebuchet MS" pitchFamily="34" charset="-120"/>
              </a:rPr>
              <a:t>Chatbots &amp; Assistants</a:t>
            </a:r>
            <a:endParaRPr lang="en-US" sz="1400" dirty="0"/>
          </a:p>
        </p:txBody>
      </p:sp>
      <p:sp>
        <p:nvSpPr>
          <p:cNvPr id="13" name="Text 10"/>
          <p:cNvSpPr/>
          <p:nvPr/>
        </p:nvSpPr>
        <p:spPr>
          <a:xfrm>
            <a:off x="3474720" y="2468880"/>
            <a:ext cx="5029200" cy="41148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Comprendre les questions des utilisateurs et générer des réponses pertinentes. ChatGPT, Claude, Siri…</a:t>
            </a:r>
            <a:endParaRPr lang="en-US" sz="1300" dirty="0"/>
          </a:p>
        </p:txBody>
      </p:sp>
      <p:sp>
        <p:nvSpPr>
          <p:cNvPr id="14" name="Text 11"/>
          <p:cNvSpPr/>
          <p:nvPr/>
        </p:nvSpPr>
        <p:spPr>
          <a:xfrm>
            <a:off x="8503920" y="2468880"/>
            <a:ext cx="3017520" cy="411480"/>
          </a:xfrm>
          <a:prstGeom prst="rect">
            <a:avLst/>
          </a:prstGeom>
          <a:noFill/>
          <a:ln/>
        </p:spPr>
        <p:txBody>
          <a:bodyPr wrap="square"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L'IA qui change le monde en ce moment</a:t>
            </a:r>
            <a:endParaRPr lang="en-US" sz="1200" dirty="0"/>
          </a:p>
        </p:txBody>
      </p:sp>
      <p:sp>
        <p:nvSpPr>
          <p:cNvPr id="15" name="Shape 12"/>
          <p:cNvSpPr/>
          <p:nvPr/>
        </p:nvSpPr>
        <p:spPr>
          <a:xfrm>
            <a:off x="640080" y="3474720"/>
            <a:ext cx="109728" cy="822960"/>
          </a:xfrm>
          <a:prstGeom prst="rect">
            <a:avLst/>
          </a:prstGeom>
          <a:solidFill>
            <a:srgbClr val="E67E22"/>
          </a:solidFill>
          <a:ln/>
        </p:spPr>
      </p:sp>
      <p:sp>
        <p:nvSpPr>
          <p:cNvPr id="16" name="Text 13"/>
          <p:cNvSpPr/>
          <p:nvPr/>
        </p:nvSpPr>
        <p:spPr>
          <a:xfrm>
            <a:off x="914400" y="3474720"/>
            <a:ext cx="2560320" cy="411480"/>
          </a:xfrm>
          <a:prstGeom prst="rect">
            <a:avLst/>
          </a:prstGeom>
          <a:noFill/>
          <a:ln/>
        </p:spPr>
        <p:txBody>
          <a:bodyPr wrap="square" rtlCol="0" anchor="ctr"/>
          <a:lstStyle/>
          <a:p>
            <a:pPr marL="0" indent="0">
              <a:buNone/>
            </a:pPr>
            <a:r>
              <a:rPr lang="en-US" sz="1400" b="1" dirty="0">
                <a:solidFill>
                  <a:srgbClr val="E67E22"/>
                </a:solidFill>
                <a:latin typeface="Trebuchet MS" pitchFamily="34" charset="0"/>
                <a:ea typeface="Trebuchet MS" pitchFamily="34" charset="-122"/>
                <a:cs typeface="Trebuchet MS" pitchFamily="34" charset="-120"/>
              </a:rPr>
              <a:t>Traduction automatique</a:t>
            </a:r>
            <a:endParaRPr lang="en-US" sz="1400" dirty="0"/>
          </a:p>
        </p:txBody>
      </p:sp>
      <p:sp>
        <p:nvSpPr>
          <p:cNvPr id="17" name="Text 14"/>
          <p:cNvSpPr/>
          <p:nvPr/>
        </p:nvSpPr>
        <p:spPr>
          <a:xfrm>
            <a:off x="3474720" y="3474720"/>
            <a:ext cx="5029200" cy="41148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Traduire du texte d'une langue à une autre en comprenant le contexte, pas mot à mot.</a:t>
            </a:r>
            <a:endParaRPr lang="en-US" sz="1300" dirty="0"/>
          </a:p>
        </p:txBody>
      </p:sp>
      <p:sp>
        <p:nvSpPr>
          <p:cNvPr id="18" name="Text 15"/>
          <p:cNvSpPr/>
          <p:nvPr/>
        </p:nvSpPr>
        <p:spPr>
          <a:xfrm>
            <a:off x="8503920" y="3474720"/>
            <a:ext cx="3017520" cy="411480"/>
          </a:xfrm>
          <a:prstGeom prst="rect">
            <a:avLst/>
          </a:prstGeom>
          <a:noFill/>
          <a:ln/>
        </p:spPr>
        <p:txBody>
          <a:bodyPr wrap="square"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Google Translate, DeepL</a:t>
            </a:r>
            <a:endParaRPr lang="en-US" sz="1200" dirty="0"/>
          </a:p>
        </p:txBody>
      </p:sp>
      <p:sp>
        <p:nvSpPr>
          <p:cNvPr id="19" name="Shape 16"/>
          <p:cNvSpPr/>
          <p:nvPr/>
        </p:nvSpPr>
        <p:spPr>
          <a:xfrm>
            <a:off x="640080" y="4480560"/>
            <a:ext cx="109728" cy="822960"/>
          </a:xfrm>
          <a:prstGeom prst="rect">
            <a:avLst/>
          </a:prstGeom>
          <a:solidFill>
            <a:srgbClr val="8E44AD"/>
          </a:solidFill>
          <a:ln/>
        </p:spPr>
      </p:sp>
      <p:sp>
        <p:nvSpPr>
          <p:cNvPr id="20" name="Text 17"/>
          <p:cNvSpPr/>
          <p:nvPr/>
        </p:nvSpPr>
        <p:spPr>
          <a:xfrm>
            <a:off x="914400" y="4480560"/>
            <a:ext cx="2560320" cy="411480"/>
          </a:xfrm>
          <a:prstGeom prst="rect">
            <a:avLst/>
          </a:prstGeom>
          <a:noFill/>
          <a:ln/>
        </p:spPr>
        <p:txBody>
          <a:bodyPr wrap="square" rtlCol="0" anchor="ctr"/>
          <a:lstStyle/>
          <a:p>
            <a:pPr marL="0" indent="0">
              <a:buNone/>
            </a:pPr>
            <a:r>
              <a:rPr lang="en-US" sz="1400" b="1" dirty="0">
                <a:solidFill>
                  <a:srgbClr val="8E44AD"/>
                </a:solidFill>
                <a:latin typeface="Trebuchet MS" pitchFamily="34" charset="0"/>
                <a:ea typeface="Trebuchet MS" pitchFamily="34" charset="-122"/>
                <a:cs typeface="Trebuchet MS" pitchFamily="34" charset="-120"/>
              </a:rPr>
              <a:t>Résumé automatique</a:t>
            </a:r>
            <a:endParaRPr lang="en-US" sz="1400" dirty="0"/>
          </a:p>
        </p:txBody>
      </p:sp>
      <p:sp>
        <p:nvSpPr>
          <p:cNvPr id="21" name="Text 18"/>
          <p:cNvSpPr/>
          <p:nvPr/>
        </p:nvSpPr>
        <p:spPr>
          <a:xfrm>
            <a:off x="3474720" y="4480560"/>
            <a:ext cx="5029200" cy="41148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Condenser un long document en quelques phrases tout en gardant les informations clés.</a:t>
            </a:r>
            <a:endParaRPr lang="en-US" sz="1300" dirty="0"/>
          </a:p>
        </p:txBody>
      </p:sp>
      <p:sp>
        <p:nvSpPr>
          <p:cNvPr id="22" name="Text 19"/>
          <p:cNvSpPr/>
          <p:nvPr/>
        </p:nvSpPr>
        <p:spPr>
          <a:xfrm>
            <a:off x="8503920" y="4480560"/>
            <a:ext cx="3017520" cy="411480"/>
          </a:xfrm>
          <a:prstGeom prst="rect">
            <a:avLst/>
          </a:prstGeom>
          <a:noFill/>
          <a:ln/>
        </p:spPr>
        <p:txBody>
          <a:bodyPr wrap="square"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Résumer un rapport de 50 pages en 5 points</a:t>
            </a:r>
            <a:endParaRPr lang="en-US" sz="1200" dirty="0"/>
          </a:p>
        </p:txBody>
      </p:sp>
      <p:sp>
        <p:nvSpPr>
          <p:cNvPr id="23" name="Shape 20"/>
          <p:cNvSpPr/>
          <p:nvPr/>
        </p:nvSpPr>
        <p:spPr>
          <a:xfrm>
            <a:off x="640080" y="5486400"/>
            <a:ext cx="109728" cy="822960"/>
          </a:xfrm>
          <a:prstGeom prst="rect">
            <a:avLst/>
          </a:prstGeom>
          <a:solidFill>
            <a:srgbClr val="E94560"/>
          </a:solidFill>
          <a:ln/>
        </p:spPr>
      </p:sp>
      <p:sp>
        <p:nvSpPr>
          <p:cNvPr id="24" name="Text 21"/>
          <p:cNvSpPr/>
          <p:nvPr/>
        </p:nvSpPr>
        <p:spPr>
          <a:xfrm>
            <a:off x="914400" y="5486400"/>
            <a:ext cx="2560320" cy="411480"/>
          </a:xfrm>
          <a:prstGeom prst="rect">
            <a:avLst/>
          </a:prstGeom>
          <a:noFill/>
          <a:ln/>
        </p:spPr>
        <p:txBody>
          <a:bodyPr wrap="square" rtlCol="0" anchor="ctr"/>
          <a:lstStyle/>
          <a:p>
            <a:pPr marL="0" indent="0">
              <a:buNone/>
            </a:pPr>
            <a:r>
              <a:rPr lang="en-US" sz="1400" b="1" dirty="0">
                <a:solidFill>
                  <a:srgbClr val="E94560"/>
                </a:solidFill>
                <a:latin typeface="Trebuchet MS" pitchFamily="34" charset="0"/>
                <a:ea typeface="Trebuchet MS" pitchFamily="34" charset="-122"/>
                <a:cs typeface="Trebuchet MS" pitchFamily="34" charset="-120"/>
              </a:rPr>
              <a:t>Classification de texte</a:t>
            </a:r>
            <a:endParaRPr lang="en-US" sz="1400" dirty="0"/>
          </a:p>
        </p:txBody>
      </p:sp>
      <p:sp>
        <p:nvSpPr>
          <p:cNvPr id="25" name="Text 22"/>
          <p:cNvSpPr/>
          <p:nvPr/>
        </p:nvSpPr>
        <p:spPr>
          <a:xfrm>
            <a:off x="3474720" y="5486400"/>
            <a:ext cx="5029200" cy="41148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Trier automatiquement des emails (spam/pas spam), des tickets support, des documents.</a:t>
            </a:r>
            <a:endParaRPr lang="en-US" sz="1300" dirty="0"/>
          </a:p>
        </p:txBody>
      </p:sp>
      <p:sp>
        <p:nvSpPr>
          <p:cNvPr id="26" name="Text 23"/>
          <p:cNvSpPr/>
          <p:nvPr/>
        </p:nvSpPr>
        <p:spPr>
          <a:xfrm>
            <a:off x="8503920" y="5486400"/>
            <a:ext cx="3017520" cy="411480"/>
          </a:xfrm>
          <a:prstGeom prst="rect">
            <a:avLst/>
          </a:prstGeom>
          <a:noFill/>
          <a:ln/>
        </p:spPr>
        <p:txBody>
          <a:bodyPr wrap="square"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Gmail filtre 99.9% du spam grâce au NLP</a:t>
            </a:r>
            <a:endParaRPr lang="en-US" sz="1200" dirty="0"/>
          </a:p>
        </p:txBody>
      </p:sp>
      <p:sp>
        <p:nvSpPr>
          <p:cNvPr id="27" name="Slide Number Placeholder 0"/>
          <p:cNvSpPr>
            <a:spLocks noGrp="1"/>
          </p:cNvSpPr>
          <p:nvPr>
            <p:ph type="sldNum" sz="quarter" idx="4294967295"/>
          </p:nvPr>
        </p:nvSpPr>
        <p:spPr>
          <a:xfrm>
            <a:off x="109728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914400" y="1371600"/>
            <a:ext cx="10360152" cy="548640"/>
          </a:xfrm>
          <a:prstGeom prst="rect">
            <a:avLst/>
          </a:prstGeom>
          <a:noFill/>
          <a:ln/>
        </p:spPr>
        <p:txBody>
          <a:bodyPr wrap="square" rtlCol="0" anchor="ctr"/>
          <a:lstStyle/>
          <a:p>
            <a:pPr marL="0" indent="0" algn="ctr">
              <a:buNone/>
            </a:pPr>
            <a:r>
              <a:rPr lang="en-US" sz="2000" dirty="0">
                <a:solidFill>
                  <a:srgbClr val="E94560"/>
                </a:solidFill>
                <a:latin typeface="Calibri" pitchFamily="34" charset="0"/>
                <a:ea typeface="Calibri" pitchFamily="34" charset="-122"/>
                <a:cs typeface="Calibri" pitchFamily="34" charset="-120"/>
              </a:rPr>
              <a:t>Partie 5</a:t>
            </a:r>
            <a:endParaRPr lang="en-US" sz="2000" dirty="0"/>
          </a:p>
        </p:txBody>
      </p:sp>
      <p:sp>
        <p:nvSpPr>
          <p:cNvPr id="3" name="Text 1"/>
          <p:cNvSpPr/>
          <p:nvPr/>
        </p:nvSpPr>
        <p:spPr>
          <a:xfrm>
            <a:off x="914400" y="2286000"/>
            <a:ext cx="10360152" cy="914400"/>
          </a:xfrm>
          <a:prstGeom prst="rect">
            <a:avLst/>
          </a:prstGeom>
          <a:noFill/>
          <a:ln/>
        </p:spPr>
        <p:txBody>
          <a:bodyPr wrap="square" rtlCol="0" anchor="ctr"/>
          <a:lstStyle/>
          <a:p>
            <a:pPr marL="0" indent="0" algn="ctr">
              <a:buNone/>
            </a:pPr>
            <a:r>
              <a:rPr lang="en-US" sz="4000" b="1" dirty="0">
                <a:solidFill>
                  <a:srgbClr val="FFFFFF"/>
                </a:solidFill>
                <a:latin typeface="Trebuchet MS" pitchFamily="34" charset="0"/>
                <a:ea typeface="Trebuchet MS" pitchFamily="34" charset="-122"/>
                <a:cs typeface="Trebuchet MS" pitchFamily="34" charset="-120"/>
              </a:rPr>
              <a:t>Les Frameworks de Deep Learning</a:t>
            </a:r>
            <a:endParaRPr lang="en-US" sz="4000" dirty="0"/>
          </a:p>
        </p:txBody>
      </p:sp>
      <p:sp>
        <p:nvSpPr>
          <p:cNvPr id="4" name="Text 2"/>
          <p:cNvSpPr/>
          <p:nvPr/>
        </p:nvSpPr>
        <p:spPr>
          <a:xfrm>
            <a:off x="914400" y="3291840"/>
            <a:ext cx="10360152" cy="548640"/>
          </a:xfrm>
          <a:prstGeom prst="rect">
            <a:avLst/>
          </a:prstGeom>
          <a:noFill/>
          <a:ln/>
        </p:spPr>
        <p:txBody>
          <a:bodyPr wrap="square" rtlCol="0" anchor="ctr"/>
          <a:lstStyle/>
          <a:p>
            <a:pPr marL="0" indent="0" algn="ctr">
              <a:buNone/>
            </a:pPr>
            <a:r>
              <a:rPr lang="en-US" sz="2200" dirty="0">
                <a:solidFill>
                  <a:srgbClr val="F0F0F0"/>
                </a:solidFill>
                <a:latin typeface="Calibri" pitchFamily="34" charset="0"/>
                <a:ea typeface="Calibri" pitchFamily="34" charset="-122"/>
                <a:cs typeface="Calibri" pitchFamily="34" charset="-120"/>
              </a:rPr>
              <a:t>Les outils du développeur IA</a:t>
            </a:r>
            <a:endParaRPr lang="en-US" sz="2200" dirty="0"/>
          </a:p>
        </p:txBody>
      </p:sp>
      <p:sp>
        <p:nvSpPr>
          <p:cNvPr id="5" name="Shape 3"/>
          <p:cNvSpPr/>
          <p:nvPr/>
        </p:nvSpPr>
        <p:spPr>
          <a:xfrm>
            <a:off x="3657600" y="4114800"/>
            <a:ext cx="4873752" cy="36576"/>
          </a:xfrm>
          <a:prstGeom prst="rect">
            <a:avLst/>
          </a:prstGeom>
          <a:solidFill>
            <a:srgbClr val="E94560"/>
          </a:solidFill>
          <a:ln/>
        </p:spPr>
      </p:sp>
      <p:pic>
        <p:nvPicPr>
          <p:cNvPr id="6" name="Image 0" descr="/sessions/happy-hopeful-thompson/pptx-work/icons/code-white.png"/>
          <p:cNvPicPr>
            <a:picLocks noChangeAspect="1"/>
          </p:cNvPicPr>
          <p:nvPr/>
        </p:nvPicPr>
        <p:blipFill>
          <a:blip r:embed="rId3"/>
          <a:stretch>
            <a:fillRect/>
          </a:stretch>
        </p:blipFill>
        <p:spPr>
          <a:xfrm>
            <a:off x="5486400" y="4572000"/>
            <a:ext cx="1188720" cy="11887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A1A2E"/>
          </a:solidFill>
          <a:ln/>
        </p:spPr>
      </p:sp>
      <p:sp>
        <p:nvSpPr>
          <p:cNvPr id="3" name="Shape 1"/>
          <p:cNvSpPr/>
          <p:nvPr/>
        </p:nvSpPr>
        <p:spPr>
          <a:xfrm>
            <a:off x="0" y="960120"/>
            <a:ext cx="12188952" cy="54864"/>
          </a:xfrm>
          <a:prstGeom prst="rect">
            <a:avLst/>
          </a:prstGeom>
          <a:solidFill>
            <a:srgbClr val="E94560"/>
          </a:solidFill>
          <a:ln/>
        </p:spPr>
      </p:sp>
      <p:pic>
        <p:nvPicPr>
          <p:cNvPr id="4" name="Image 0" descr="/sessions/happy-hopeful-thompson/pptx-work/icons/code-white.png"/>
          <p:cNvPicPr>
            <a:picLocks noChangeAspect="1"/>
          </p:cNvPicPr>
          <p:nvPr/>
        </p:nvPicPr>
        <p:blipFill>
          <a:blip r:embed="rId3"/>
          <a:stretch>
            <a:fillRect/>
          </a:stretch>
        </p:blipFill>
        <p:spPr>
          <a:xfrm>
            <a:off x="365760" y="164592"/>
            <a:ext cx="594360" cy="594360"/>
          </a:xfrm>
          <a:prstGeom prst="rect">
            <a:avLst/>
          </a:prstGeom>
        </p:spPr>
      </p:pic>
      <p:sp>
        <p:nvSpPr>
          <p:cNvPr id="5" name="Text 2"/>
          <p:cNvSpPr/>
          <p:nvPr/>
        </p:nvSpPr>
        <p:spPr>
          <a:xfrm>
            <a:off x="1097280" y="91440"/>
            <a:ext cx="10515600" cy="8229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TensorFlow vs PyTorch : Les Deux Géants</a:t>
            </a:r>
            <a:endParaRPr lang="en-US" sz="2800" dirty="0"/>
          </a:p>
        </p:txBody>
      </p:sp>
      <p:sp>
        <p:nvSpPr>
          <p:cNvPr id="6" name="Shape 3"/>
          <p:cNvSpPr/>
          <p:nvPr/>
        </p:nvSpPr>
        <p:spPr>
          <a:xfrm>
            <a:off x="457200" y="1371600"/>
            <a:ext cx="5303520" cy="5029200"/>
          </a:xfrm>
          <a:prstGeom prst="rect">
            <a:avLst/>
          </a:prstGeom>
          <a:solidFill>
            <a:srgbClr val="FFFFFF"/>
          </a:solidFill>
          <a:ln w="19050">
            <a:solidFill>
              <a:srgbClr val="E67E22"/>
            </a:solidFill>
            <a:prstDash val="solid"/>
          </a:ln>
          <a:effectLst>
            <a:outerShdw blurRad="50800" dist="25400" dir="2700000" algn="bl" rotWithShape="0">
              <a:srgbClr val="000000">
                <a:alpha val="15000"/>
              </a:srgbClr>
            </a:outerShdw>
          </a:effectLst>
        </p:spPr>
      </p:sp>
      <p:sp>
        <p:nvSpPr>
          <p:cNvPr id="7" name="Shape 4"/>
          <p:cNvSpPr/>
          <p:nvPr/>
        </p:nvSpPr>
        <p:spPr>
          <a:xfrm>
            <a:off x="457200" y="1371600"/>
            <a:ext cx="5303520" cy="548640"/>
          </a:xfrm>
          <a:prstGeom prst="rect">
            <a:avLst/>
          </a:prstGeom>
          <a:solidFill>
            <a:srgbClr val="E67E22"/>
          </a:solidFill>
          <a:ln/>
        </p:spPr>
      </p:sp>
      <p:sp>
        <p:nvSpPr>
          <p:cNvPr id="8" name="Text 5"/>
          <p:cNvSpPr/>
          <p:nvPr/>
        </p:nvSpPr>
        <p:spPr>
          <a:xfrm>
            <a:off x="457200" y="1371600"/>
            <a:ext cx="5303520" cy="548640"/>
          </a:xfrm>
          <a:prstGeom prst="rect">
            <a:avLst/>
          </a:prstGeom>
          <a:noFill/>
          <a:ln/>
        </p:spPr>
        <p:txBody>
          <a:bodyPr wrap="square"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TensorFlow (Google)</a:t>
            </a:r>
            <a:endParaRPr lang="en-US" sz="1800" dirty="0"/>
          </a:p>
        </p:txBody>
      </p:sp>
      <p:sp>
        <p:nvSpPr>
          <p:cNvPr id="9" name="Text 6"/>
          <p:cNvSpPr/>
          <p:nvPr/>
        </p:nvSpPr>
        <p:spPr>
          <a:xfrm>
            <a:off x="731520" y="2103120"/>
            <a:ext cx="4754880" cy="4114800"/>
          </a:xfrm>
          <a:prstGeom prst="rect">
            <a:avLst/>
          </a:prstGeom>
          <a:noFill/>
          <a:ln/>
        </p:spPr>
        <p:txBody>
          <a:bodyPr wrap="square" rtlCol="0" anchor="t"/>
          <a:lstStyle/>
          <a:p>
            <a:pPr marL="0" indent="0">
              <a:spcBef>
                <a:spcPts val="800"/>
              </a:spcBef>
              <a:buNone/>
            </a:pPr>
            <a:r>
              <a:rPr lang="en-US" sz="1400" b="1" dirty="0">
                <a:solidFill>
                  <a:srgbClr val="333333"/>
                </a:solidFill>
                <a:latin typeface="Calibri" pitchFamily="34" charset="0"/>
                <a:ea typeface="Calibri" pitchFamily="34" charset="-122"/>
                <a:cs typeface="Calibri" pitchFamily="34" charset="-120"/>
              </a:rPr>
              <a:t>Idéal pour : la production et le déploiement</a:t>
            </a:r>
            <a:endParaRPr lang="en-US" sz="1400" dirty="0"/>
          </a:p>
          <a:p>
            <a:pPr marL="0" indent="0">
              <a:buNone/>
            </a:pPr>
            <a:endParaRPr lang="en-US" sz="1400" dirty="0"/>
          </a:p>
          <a:p>
            <a:pPr marL="0" indent="0">
              <a:spcBef>
                <a:spcPts val="400"/>
              </a:spcBef>
              <a:buNone/>
            </a:pPr>
            <a:r>
              <a:rPr lang="en-US" sz="1300" dirty="0">
                <a:solidFill>
                  <a:srgbClr val="333333"/>
                </a:solidFill>
                <a:latin typeface="Calibri" pitchFamily="34" charset="0"/>
                <a:ea typeface="Calibri" pitchFamily="34" charset="-122"/>
                <a:cs typeface="Calibri" pitchFamily="34" charset="-120"/>
              </a:rPr>
              <a:t>• Écosystème complet : TF Lite (mobile), TF.js (web), TF Serving (serveur)</a:t>
            </a:r>
            <a:endParaRPr lang="en-US" sz="1400" dirty="0"/>
          </a:p>
          <a:p>
            <a:pPr marL="0" indent="0">
              <a:spcBef>
                <a:spcPts val="400"/>
              </a:spcBef>
              <a:buNone/>
            </a:pPr>
            <a:r>
              <a:rPr lang="en-US" sz="1300" dirty="0">
                <a:solidFill>
                  <a:srgbClr val="333333"/>
                </a:solidFill>
                <a:latin typeface="Calibri" pitchFamily="34" charset="0"/>
                <a:ea typeface="Calibri" pitchFamily="34" charset="-122"/>
                <a:cs typeface="Calibri" pitchFamily="34" charset="-120"/>
              </a:rPr>
              <a:t>• Keras intégré : API simple et intuitive pour prototyper</a:t>
            </a:r>
            <a:endParaRPr lang="en-US" sz="1400" dirty="0"/>
          </a:p>
          <a:p>
            <a:pPr marL="0" indent="0">
              <a:spcBef>
                <a:spcPts val="400"/>
              </a:spcBef>
              <a:buNone/>
            </a:pPr>
            <a:r>
              <a:rPr lang="en-US" sz="1300" dirty="0">
                <a:solidFill>
                  <a:srgbClr val="333333"/>
                </a:solidFill>
                <a:latin typeface="Calibri" pitchFamily="34" charset="0"/>
                <a:ea typeface="Calibri" pitchFamily="34" charset="-122"/>
                <a:cs typeface="Calibri" pitchFamily="34" charset="-120"/>
              </a:rPr>
              <a:t>• TensorBoard : visualisation de l'entraînement</a:t>
            </a:r>
            <a:endParaRPr lang="en-US" sz="1400" dirty="0"/>
          </a:p>
          <a:p>
            <a:pPr marL="0" indent="0">
              <a:spcBef>
                <a:spcPts val="400"/>
              </a:spcBef>
              <a:buNone/>
            </a:pPr>
            <a:r>
              <a:rPr lang="en-US" sz="1300" dirty="0">
                <a:solidFill>
                  <a:srgbClr val="333333"/>
                </a:solidFill>
                <a:latin typeface="Calibri" pitchFamily="34" charset="0"/>
                <a:ea typeface="Calibri" pitchFamily="34" charset="-122"/>
                <a:cs typeface="Calibri" pitchFamily="34" charset="-120"/>
              </a:rPr>
              <a:t>• Très utilisé en entreprise</a:t>
            </a:r>
            <a:endParaRPr lang="en-US" sz="1400" dirty="0"/>
          </a:p>
          <a:p>
            <a:pPr marL="0" indent="0">
              <a:spcBef>
                <a:spcPts val="400"/>
              </a:spcBef>
              <a:buNone/>
            </a:pPr>
            <a:r>
              <a:rPr lang="en-US" sz="1300" dirty="0">
                <a:solidFill>
                  <a:srgbClr val="333333"/>
                </a:solidFill>
                <a:latin typeface="Calibri" pitchFamily="34" charset="0"/>
                <a:ea typeface="Calibri" pitchFamily="34" charset="-122"/>
                <a:cs typeface="Calibri" pitchFamily="34" charset="-120"/>
              </a:rPr>
              <a:t>• Support Google Cloud TPU natif</a:t>
            </a:r>
            <a:endParaRPr lang="en-US" sz="1400" dirty="0"/>
          </a:p>
          <a:p>
            <a:pPr marL="0" indent="0">
              <a:buNone/>
            </a:pPr>
            <a:endParaRPr lang="en-US" sz="1400" dirty="0"/>
          </a:p>
          <a:p>
            <a:pPr marL="0" indent="0">
              <a:spcBef>
                <a:spcPts val="800"/>
              </a:spcBef>
              <a:buNone/>
            </a:pPr>
            <a:r>
              <a:rPr lang="en-US" sz="1300" i="1" dirty="0">
                <a:solidFill>
                  <a:srgbClr val="999999"/>
                </a:solidFill>
                <a:latin typeface="Calibri" pitchFamily="34" charset="0"/>
                <a:ea typeface="Calibri" pitchFamily="34" charset="-122"/>
                <a:cs typeface="Calibri" pitchFamily="34" charset="-120"/>
              </a:rPr>
              <a:t>Inconvénient : courbe d'apprentissage, API parfois complexe</a:t>
            </a:r>
            <a:endParaRPr lang="en-US" sz="1400" dirty="0"/>
          </a:p>
        </p:txBody>
      </p:sp>
      <p:sp>
        <p:nvSpPr>
          <p:cNvPr id="10" name="Shape 7"/>
          <p:cNvSpPr/>
          <p:nvPr/>
        </p:nvSpPr>
        <p:spPr>
          <a:xfrm>
            <a:off x="6400800" y="1371600"/>
            <a:ext cx="5303520" cy="5029200"/>
          </a:xfrm>
          <a:prstGeom prst="rect">
            <a:avLst/>
          </a:prstGeom>
          <a:solidFill>
            <a:srgbClr val="FFFFFF"/>
          </a:solidFill>
          <a:ln w="19050">
            <a:solidFill>
              <a:srgbClr val="E94560"/>
            </a:solidFill>
            <a:prstDash val="solid"/>
          </a:ln>
          <a:effectLst>
            <a:outerShdw blurRad="50800" dist="25400" dir="2700000" algn="bl" rotWithShape="0">
              <a:srgbClr val="000000">
                <a:alpha val="15000"/>
              </a:srgbClr>
            </a:outerShdw>
          </a:effectLst>
        </p:spPr>
      </p:sp>
      <p:sp>
        <p:nvSpPr>
          <p:cNvPr id="11" name="Shape 8"/>
          <p:cNvSpPr/>
          <p:nvPr/>
        </p:nvSpPr>
        <p:spPr>
          <a:xfrm>
            <a:off x="6400800" y="1371600"/>
            <a:ext cx="5303520" cy="548640"/>
          </a:xfrm>
          <a:prstGeom prst="rect">
            <a:avLst/>
          </a:prstGeom>
          <a:solidFill>
            <a:srgbClr val="E94560"/>
          </a:solidFill>
          <a:ln/>
        </p:spPr>
      </p:sp>
      <p:sp>
        <p:nvSpPr>
          <p:cNvPr id="12" name="Text 9"/>
          <p:cNvSpPr/>
          <p:nvPr/>
        </p:nvSpPr>
        <p:spPr>
          <a:xfrm>
            <a:off x="6400800" y="1371600"/>
            <a:ext cx="5303520" cy="548640"/>
          </a:xfrm>
          <a:prstGeom prst="rect">
            <a:avLst/>
          </a:prstGeom>
          <a:noFill/>
          <a:ln/>
        </p:spPr>
        <p:txBody>
          <a:bodyPr wrap="square"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PyTorch (Meta/Facebook)</a:t>
            </a:r>
            <a:endParaRPr lang="en-US" sz="1800" dirty="0"/>
          </a:p>
        </p:txBody>
      </p:sp>
      <p:sp>
        <p:nvSpPr>
          <p:cNvPr id="13" name="Text 10"/>
          <p:cNvSpPr/>
          <p:nvPr/>
        </p:nvSpPr>
        <p:spPr>
          <a:xfrm>
            <a:off x="6675120" y="2103120"/>
            <a:ext cx="4754880" cy="4114800"/>
          </a:xfrm>
          <a:prstGeom prst="rect">
            <a:avLst/>
          </a:prstGeom>
          <a:noFill/>
          <a:ln/>
        </p:spPr>
        <p:txBody>
          <a:bodyPr wrap="square" rtlCol="0" anchor="t"/>
          <a:lstStyle/>
          <a:p>
            <a:pPr marL="0" indent="0">
              <a:spcBef>
                <a:spcPts val="800"/>
              </a:spcBef>
              <a:buNone/>
            </a:pPr>
            <a:r>
              <a:rPr lang="en-US" sz="1400" b="1" dirty="0">
                <a:solidFill>
                  <a:srgbClr val="333333"/>
                </a:solidFill>
                <a:latin typeface="Calibri" pitchFamily="34" charset="0"/>
                <a:ea typeface="Calibri" pitchFamily="34" charset="-122"/>
                <a:cs typeface="Calibri" pitchFamily="34" charset="-120"/>
              </a:rPr>
              <a:t>Idéal pour : la recherche et le prototypage rapide</a:t>
            </a:r>
            <a:endParaRPr lang="en-US" sz="1400" dirty="0"/>
          </a:p>
          <a:p>
            <a:pPr marL="0" indent="0">
              <a:buNone/>
            </a:pPr>
            <a:endParaRPr lang="en-US" sz="1400" dirty="0"/>
          </a:p>
          <a:p>
            <a:pPr marL="0" indent="0">
              <a:spcBef>
                <a:spcPts val="400"/>
              </a:spcBef>
              <a:buNone/>
            </a:pPr>
            <a:r>
              <a:rPr lang="en-US" sz="1300" dirty="0">
                <a:solidFill>
                  <a:srgbClr val="333333"/>
                </a:solidFill>
                <a:latin typeface="Calibri" pitchFamily="34" charset="0"/>
                <a:ea typeface="Calibri" pitchFamily="34" charset="-122"/>
                <a:cs typeface="Calibri" pitchFamily="34" charset="-120"/>
              </a:rPr>
              <a:t>• Pythonique : code naturel, facile à débugger</a:t>
            </a:r>
            <a:endParaRPr lang="en-US" sz="1400" dirty="0"/>
          </a:p>
          <a:p>
            <a:pPr marL="0" indent="0">
              <a:spcBef>
                <a:spcPts val="400"/>
              </a:spcBef>
              <a:buNone/>
            </a:pPr>
            <a:r>
              <a:rPr lang="en-US" sz="1300" dirty="0">
                <a:solidFill>
                  <a:srgbClr val="333333"/>
                </a:solidFill>
                <a:latin typeface="Calibri" pitchFamily="34" charset="0"/>
                <a:ea typeface="Calibri" pitchFamily="34" charset="-122"/>
                <a:cs typeface="Calibri" pitchFamily="34" charset="-120"/>
              </a:rPr>
              <a:t>• Dynamic graphs : on modifie le modèle à la volée</a:t>
            </a:r>
            <a:endParaRPr lang="en-US" sz="1400" dirty="0"/>
          </a:p>
          <a:p>
            <a:pPr marL="0" indent="0">
              <a:spcBef>
                <a:spcPts val="400"/>
              </a:spcBef>
              <a:buNone/>
            </a:pPr>
            <a:r>
              <a:rPr lang="en-US" sz="1300" dirty="0">
                <a:solidFill>
                  <a:srgbClr val="333333"/>
                </a:solidFill>
                <a:latin typeface="Calibri" pitchFamily="34" charset="0"/>
                <a:ea typeface="Calibri" pitchFamily="34" charset="-122"/>
                <a:cs typeface="Calibri" pitchFamily="34" charset="-120"/>
              </a:rPr>
              <a:t>• Dominant en recherche académique</a:t>
            </a:r>
            <a:endParaRPr lang="en-US" sz="1400" dirty="0"/>
          </a:p>
          <a:p>
            <a:pPr marL="0" indent="0">
              <a:spcBef>
                <a:spcPts val="400"/>
              </a:spcBef>
              <a:buNone/>
            </a:pPr>
            <a:r>
              <a:rPr lang="en-US" sz="1300" dirty="0">
                <a:solidFill>
                  <a:srgbClr val="333333"/>
                </a:solidFill>
                <a:latin typeface="Calibri" pitchFamily="34" charset="0"/>
                <a:ea typeface="Calibri" pitchFamily="34" charset="-122"/>
                <a:cs typeface="Calibri" pitchFamily="34" charset="-120"/>
              </a:rPr>
              <a:t>• TorchServe : déploiement en production</a:t>
            </a:r>
            <a:endParaRPr lang="en-US" sz="1400" dirty="0"/>
          </a:p>
          <a:p>
            <a:pPr marL="0" indent="0">
              <a:spcBef>
                <a:spcPts val="400"/>
              </a:spcBef>
              <a:buNone/>
            </a:pPr>
            <a:r>
              <a:rPr lang="en-US" sz="1300" dirty="0">
                <a:solidFill>
                  <a:srgbClr val="333333"/>
                </a:solidFill>
                <a:latin typeface="Calibri" pitchFamily="34" charset="0"/>
                <a:ea typeface="Calibri" pitchFamily="34" charset="-122"/>
                <a:cs typeface="Calibri" pitchFamily="34" charset="-120"/>
              </a:rPr>
              <a:t>• Communauté très active</a:t>
            </a:r>
            <a:endParaRPr lang="en-US" sz="1400" dirty="0"/>
          </a:p>
          <a:p>
            <a:pPr marL="0" indent="0">
              <a:buNone/>
            </a:pPr>
            <a:endParaRPr lang="en-US" sz="1400" dirty="0"/>
          </a:p>
          <a:p>
            <a:pPr marL="0" indent="0">
              <a:spcBef>
                <a:spcPts val="800"/>
              </a:spcBef>
              <a:buNone/>
            </a:pPr>
            <a:r>
              <a:rPr lang="en-US" sz="1300" i="1" dirty="0">
                <a:solidFill>
                  <a:srgbClr val="999999"/>
                </a:solidFill>
                <a:latin typeface="Calibri" pitchFamily="34" charset="0"/>
                <a:ea typeface="Calibri" pitchFamily="34" charset="-122"/>
                <a:cs typeface="Calibri" pitchFamily="34" charset="-120"/>
              </a:rPr>
              <a:t>Inconvénient : écosystème mobile/embarqué moins mature</a:t>
            </a:r>
            <a:endParaRPr lang="en-US" sz="1400" dirty="0"/>
          </a:p>
        </p:txBody>
      </p:sp>
      <p:sp>
        <p:nvSpPr>
          <p:cNvPr id="25" name="Slide Number Placeholder 0"/>
          <p:cNvSpPr>
            <a:spLocks noGrp="1"/>
          </p:cNvSpPr>
          <p:nvPr>
            <p:ph type="sldNum" sz="quarter" idx="4294967295"/>
          </p:nvPr>
        </p:nvSpPr>
        <p:spPr>
          <a:xfrm>
            <a:off x="109728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A1A2E"/>
          </a:solidFill>
          <a:ln/>
        </p:spPr>
      </p:sp>
      <p:sp>
        <p:nvSpPr>
          <p:cNvPr id="3" name="Shape 1"/>
          <p:cNvSpPr/>
          <p:nvPr/>
        </p:nvSpPr>
        <p:spPr>
          <a:xfrm>
            <a:off x="0" y="960120"/>
            <a:ext cx="12188952" cy="54864"/>
          </a:xfrm>
          <a:prstGeom prst="rect">
            <a:avLst/>
          </a:prstGeom>
          <a:solidFill>
            <a:srgbClr val="E94560"/>
          </a:solidFill>
          <a:ln/>
        </p:spPr>
      </p:sp>
      <p:pic>
        <p:nvPicPr>
          <p:cNvPr id="4" name="Image 0" descr="/sessions/happy-hopeful-thompson/pptx-work/icons/cogs-white.png"/>
          <p:cNvPicPr>
            <a:picLocks noChangeAspect="1"/>
          </p:cNvPicPr>
          <p:nvPr/>
        </p:nvPicPr>
        <p:blipFill>
          <a:blip r:embed="rId3"/>
          <a:stretch>
            <a:fillRect/>
          </a:stretch>
        </p:blipFill>
        <p:spPr>
          <a:xfrm>
            <a:off x="365760" y="164592"/>
            <a:ext cx="594360" cy="594360"/>
          </a:xfrm>
          <a:prstGeom prst="rect">
            <a:avLst/>
          </a:prstGeom>
        </p:spPr>
      </p:pic>
      <p:sp>
        <p:nvSpPr>
          <p:cNvPr id="5" name="Text 2"/>
          <p:cNvSpPr/>
          <p:nvPr/>
        </p:nvSpPr>
        <p:spPr>
          <a:xfrm>
            <a:off x="1097280" y="91440"/>
            <a:ext cx="10515600" cy="8229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Keras et Hugging Face : Simplifier le Deep Learning</a:t>
            </a:r>
            <a:endParaRPr lang="en-US" sz="2800" dirty="0"/>
          </a:p>
        </p:txBody>
      </p:sp>
      <p:sp>
        <p:nvSpPr>
          <p:cNvPr id="6" name="Shape 3"/>
          <p:cNvSpPr/>
          <p:nvPr/>
        </p:nvSpPr>
        <p:spPr>
          <a:xfrm>
            <a:off x="457200" y="1371600"/>
            <a:ext cx="5303520" cy="5029200"/>
          </a:xfrm>
          <a:prstGeom prst="rect">
            <a:avLst/>
          </a:prstGeom>
          <a:solidFill>
            <a:srgbClr val="FFFFFF"/>
          </a:solidFill>
          <a:ln w="19050">
            <a:solidFill>
              <a:srgbClr val="2980B9"/>
            </a:solidFill>
            <a:prstDash val="solid"/>
          </a:ln>
          <a:effectLst>
            <a:outerShdw blurRad="50800" dist="25400" dir="2700000" algn="bl" rotWithShape="0">
              <a:srgbClr val="000000">
                <a:alpha val="15000"/>
              </a:srgbClr>
            </a:outerShdw>
          </a:effectLst>
        </p:spPr>
      </p:sp>
      <p:sp>
        <p:nvSpPr>
          <p:cNvPr id="7" name="Shape 4"/>
          <p:cNvSpPr/>
          <p:nvPr/>
        </p:nvSpPr>
        <p:spPr>
          <a:xfrm>
            <a:off x="457200" y="1371600"/>
            <a:ext cx="5303520" cy="548640"/>
          </a:xfrm>
          <a:prstGeom prst="rect">
            <a:avLst/>
          </a:prstGeom>
          <a:solidFill>
            <a:srgbClr val="2980B9"/>
          </a:solidFill>
          <a:ln/>
        </p:spPr>
      </p:sp>
      <p:sp>
        <p:nvSpPr>
          <p:cNvPr id="8" name="Text 5"/>
          <p:cNvSpPr/>
          <p:nvPr/>
        </p:nvSpPr>
        <p:spPr>
          <a:xfrm>
            <a:off x="457200" y="1371600"/>
            <a:ext cx="5303520" cy="548640"/>
          </a:xfrm>
          <a:prstGeom prst="rect">
            <a:avLst/>
          </a:prstGeom>
          <a:noFill/>
          <a:ln/>
        </p:spPr>
        <p:txBody>
          <a:bodyPr wrap="square"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Keras — « Le Deep Learning pour les humains »</a:t>
            </a:r>
            <a:endParaRPr lang="en-US" sz="1500" dirty="0"/>
          </a:p>
        </p:txBody>
      </p:sp>
      <p:sp>
        <p:nvSpPr>
          <p:cNvPr id="9" name="Text 6"/>
          <p:cNvSpPr/>
          <p:nvPr/>
        </p:nvSpPr>
        <p:spPr>
          <a:xfrm>
            <a:off x="731520" y="2103120"/>
            <a:ext cx="4754880" cy="4114800"/>
          </a:xfrm>
          <a:prstGeom prst="rect">
            <a:avLst/>
          </a:prstGeom>
          <a:noFill/>
          <a:ln/>
        </p:spPr>
        <p:txBody>
          <a:bodyPr wrap="square" rtlCol="0" anchor="t"/>
          <a:lstStyle/>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Keras est une API haut niveau intégrée à TensorFlow. Elle permet de construire un réseau en quelques lignes :</a:t>
            </a:r>
            <a:endParaRPr lang="en-US" sz="1400" dirty="0"/>
          </a:p>
          <a:p>
            <a:pPr marL="0" indent="0">
              <a:lnSpc>
                <a:spcPct val="115000"/>
              </a:lnSpc>
              <a:buNone/>
            </a:pPr>
            <a:endParaRPr lang="en-US" sz="1400" dirty="0"/>
          </a:p>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model = Sequential([</a:t>
            </a:r>
            <a:endParaRPr lang="en-US" sz="1400" dirty="0"/>
          </a:p>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  Dense(128, activation='relu'),</a:t>
            </a:r>
            <a:endParaRPr lang="en-US" sz="1400" dirty="0"/>
          </a:p>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  Dropout(0.3),</a:t>
            </a:r>
            <a:endParaRPr lang="en-US" sz="1400" dirty="0"/>
          </a:p>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  Dense(10, activation='softmax')</a:t>
            </a:r>
            <a:endParaRPr lang="en-US" sz="1400" dirty="0"/>
          </a:p>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a:t>
            </a:r>
            <a:endParaRPr lang="en-US" sz="1400" dirty="0"/>
          </a:p>
          <a:p>
            <a:pPr marL="0" indent="0">
              <a:lnSpc>
                <a:spcPct val="115000"/>
              </a:lnSpc>
              <a:buNone/>
            </a:pPr>
            <a:endParaRPr lang="en-US" sz="1400" dirty="0"/>
          </a:p>
          <a:p>
            <a:pPr marL="0" indent="0">
              <a:lnSpc>
                <a:spcPct val="115000"/>
              </a:lnSpc>
              <a:buNone/>
            </a:pPr>
            <a:r>
              <a:rPr lang="en-US" sz="1400" dirty="0">
                <a:solidFill>
                  <a:srgbClr val="333333"/>
                </a:solidFill>
                <a:latin typeface="Calibri" pitchFamily="34" charset="0"/>
                <a:ea typeface="Calibri" pitchFamily="34" charset="-122"/>
                <a:cs typeface="Calibri" pitchFamily="34" charset="-120"/>
              </a:rPr>
              <a:t>En 3 lignes, vous avez un réseau complet ! Keras gère la complexité pour vous.</a:t>
            </a:r>
            <a:endParaRPr lang="en-US" sz="1400" dirty="0"/>
          </a:p>
        </p:txBody>
      </p:sp>
      <p:sp>
        <p:nvSpPr>
          <p:cNvPr id="10" name="Shape 7"/>
          <p:cNvSpPr/>
          <p:nvPr/>
        </p:nvSpPr>
        <p:spPr>
          <a:xfrm>
            <a:off x="6400800" y="1371600"/>
            <a:ext cx="5303520" cy="5029200"/>
          </a:xfrm>
          <a:prstGeom prst="rect">
            <a:avLst/>
          </a:prstGeom>
          <a:solidFill>
            <a:srgbClr val="FFFFFF"/>
          </a:solidFill>
          <a:ln w="19050">
            <a:solidFill>
              <a:srgbClr val="27AE60"/>
            </a:solidFill>
            <a:prstDash val="solid"/>
          </a:ln>
          <a:effectLst>
            <a:outerShdw blurRad="50800" dist="25400" dir="2700000" algn="bl" rotWithShape="0">
              <a:srgbClr val="000000">
                <a:alpha val="15000"/>
              </a:srgbClr>
            </a:outerShdw>
          </a:effectLst>
        </p:spPr>
      </p:sp>
      <p:sp>
        <p:nvSpPr>
          <p:cNvPr id="11" name="Shape 8"/>
          <p:cNvSpPr/>
          <p:nvPr/>
        </p:nvSpPr>
        <p:spPr>
          <a:xfrm>
            <a:off x="6400800" y="1371600"/>
            <a:ext cx="5303520" cy="548640"/>
          </a:xfrm>
          <a:prstGeom prst="rect">
            <a:avLst/>
          </a:prstGeom>
          <a:solidFill>
            <a:srgbClr val="27AE60"/>
          </a:solidFill>
          <a:ln/>
        </p:spPr>
      </p:sp>
      <p:sp>
        <p:nvSpPr>
          <p:cNvPr id="12" name="Text 9"/>
          <p:cNvSpPr/>
          <p:nvPr/>
        </p:nvSpPr>
        <p:spPr>
          <a:xfrm>
            <a:off x="6400800" y="1371600"/>
            <a:ext cx="5303520" cy="548640"/>
          </a:xfrm>
          <a:prstGeom prst="rect">
            <a:avLst/>
          </a:prstGeom>
          <a:noFill/>
          <a:ln/>
        </p:spPr>
        <p:txBody>
          <a:bodyPr wrap="square"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Hugging Face — « Le GitHub de l'IA »</a:t>
            </a:r>
            <a:endParaRPr lang="en-US" sz="1600" dirty="0"/>
          </a:p>
        </p:txBody>
      </p:sp>
      <p:sp>
        <p:nvSpPr>
          <p:cNvPr id="13" name="Text 10"/>
          <p:cNvSpPr/>
          <p:nvPr/>
        </p:nvSpPr>
        <p:spPr>
          <a:xfrm>
            <a:off x="6675120" y="2103120"/>
            <a:ext cx="4754880" cy="4114800"/>
          </a:xfrm>
          <a:prstGeom prst="rect">
            <a:avLst/>
          </a:prstGeom>
          <a:noFill/>
          <a:ln/>
        </p:spPr>
        <p:txBody>
          <a:bodyPr wrap="square" rtlCol="0" anchor="t"/>
          <a:lstStyle/>
          <a:p>
            <a:pPr marL="0" indent="0">
              <a:spcBef>
                <a:spcPts val="800"/>
              </a:spcBef>
              <a:buNone/>
            </a:pPr>
            <a:r>
              <a:rPr lang="en-US" sz="1400" b="1" dirty="0">
                <a:solidFill>
                  <a:srgbClr val="333333"/>
                </a:solidFill>
                <a:latin typeface="Calibri" pitchFamily="34" charset="0"/>
                <a:ea typeface="Calibri" pitchFamily="34" charset="-122"/>
                <a:cs typeface="Calibri" pitchFamily="34" charset="-120"/>
              </a:rPr>
              <a:t>Plateforme de partage de modèles pré-entraînés :</a:t>
            </a:r>
            <a:endParaRPr lang="en-US" sz="1400" dirty="0"/>
          </a:p>
          <a:p>
            <a:pPr marL="0" indent="0">
              <a:buNone/>
            </a:pPr>
            <a:endParaRPr lang="en-US" sz="1400" dirty="0"/>
          </a:p>
          <a:p>
            <a:pPr marL="0" indent="0">
              <a:spcBef>
                <a:spcPts val="600"/>
              </a:spcBef>
              <a:buNone/>
            </a:pPr>
            <a:r>
              <a:rPr lang="en-US" sz="1300" dirty="0">
                <a:solidFill>
                  <a:srgbClr val="333333"/>
                </a:solidFill>
                <a:latin typeface="Calibri" pitchFamily="34" charset="0"/>
                <a:ea typeface="Calibri" pitchFamily="34" charset="-122"/>
                <a:cs typeface="Calibri" pitchFamily="34" charset="-120"/>
              </a:rPr>
              <a:t>• +500 000 modèles gratuits disponibles</a:t>
            </a:r>
            <a:endParaRPr lang="en-US" sz="1400" dirty="0"/>
          </a:p>
          <a:p>
            <a:pPr marL="0" indent="0">
              <a:spcBef>
                <a:spcPts val="600"/>
              </a:spcBef>
              <a:buNone/>
            </a:pPr>
            <a:r>
              <a:rPr lang="en-US" sz="1300" dirty="0">
                <a:solidFill>
                  <a:srgbClr val="333333"/>
                </a:solidFill>
                <a:latin typeface="Calibri" pitchFamily="34" charset="0"/>
                <a:ea typeface="Calibri" pitchFamily="34" charset="-122"/>
                <a:cs typeface="Calibri" pitchFamily="34" charset="-120"/>
              </a:rPr>
              <a:t>• Bibliothèque Transformers : utiliser BERT, GPT, etc. en 3 lignes</a:t>
            </a:r>
            <a:endParaRPr lang="en-US" sz="1400" dirty="0"/>
          </a:p>
          <a:p>
            <a:pPr marL="0" indent="0">
              <a:spcBef>
                <a:spcPts val="600"/>
              </a:spcBef>
              <a:buNone/>
            </a:pPr>
            <a:r>
              <a:rPr lang="en-US" sz="1300" dirty="0">
                <a:solidFill>
                  <a:srgbClr val="333333"/>
                </a:solidFill>
                <a:latin typeface="Calibri" pitchFamily="34" charset="0"/>
                <a:ea typeface="Calibri" pitchFamily="34" charset="-122"/>
                <a:cs typeface="Calibri" pitchFamily="34" charset="-120"/>
              </a:rPr>
              <a:t>• Datasets : des milliers de jeux de données prêts à l'emploi</a:t>
            </a:r>
            <a:endParaRPr lang="en-US" sz="1400" dirty="0"/>
          </a:p>
          <a:p>
            <a:pPr marL="0" indent="0">
              <a:spcBef>
                <a:spcPts val="600"/>
              </a:spcBef>
              <a:buNone/>
            </a:pPr>
            <a:r>
              <a:rPr lang="en-US" sz="1300" dirty="0">
                <a:solidFill>
                  <a:srgbClr val="333333"/>
                </a:solidFill>
                <a:latin typeface="Calibri" pitchFamily="34" charset="0"/>
                <a:ea typeface="Calibri" pitchFamily="34" charset="-122"/>
                <a:cs typeface="Calibri" pitchFamily="34" charset="-120"/>
              </a:rPr>
              <a:t>• Pipeline API : sentiment, résumé, traduction en 1 ligne</a:t>
            </a:r>
            <a:endParaRPr lang="en-US" sz="1400" dirty="0"/>
          </a:p>
          <a:p>
            <a:pPr marL="0" indent="0">
              <a:buNone/>
            </a:pPr>
            <a:endParaRPr lang="en-US" sz="1400" dirty="0"/>
          </a:p>
          <a:p>
            <a:pPr marL="0" indent="0">
              <a:spcBef>
                <a:spcPts val="800"/>
              </a:spcBef>
              <a:buNone/>
            </a:pPr>
            <a:r>
              <a:rPr lang="en-US" sz="1300" b="1" dirty="0">
                <a:solidFill>
                  <a:srgbClr val="333333"/>
                </a:solidFill>
                <a:latin typeface="Calibri" pitchFamily="34" charset="0"/>
                <a:ea typeface="Calibri" pitchFamily="34" charset="-122"/>
                <a:cs typeface="Calibri" pitchFamily="34" charset="-120"/>
              </a:rPr>
              <a:t>Exemple :</a:t>
            </a:r>
            <a:endParaRPr lang="en-US" sz="1400" dirty="0"/>
          </a:p>
          <a:p>
            <a:pPr marL="0" indent="0">
              <a:spcBef>
                <a:spcPts val="400"/>
              </a:spcBef>
              <a:buNone/>
            </a:pPr>
            <a:r>
              <a:rPr lang="en-US" sz="1200" dirty="0">
                <a:solidFill>
                  <a:srgbClr val="333333"/>
                </a:solidFill>
                <a:latin typeface="Calibri" pitchFamily="34" charset="0"/>
                <a:ea typeface="Calibri" pitchFamily="34" charset="-122"/>
                <a:cs typeface="Calibri" pitchFamily="34" charset="-120"/>
              </a:rPr>
              <a:t>from transformers import pipeline</a:t>
            </a:r>
            <a:endParaRPr lang="en-US" sz="1400" dirty="0"/>
          </a:p>
          <a:p>
            <a:pPr marL="0" indent="0">
              <a:spcBef>
                <a:spcPts val="200"/>
              </a:spcBef>
              <a:buNone/>
            </a:pPr>
            <a:r>
              <a:rPr lang="en-US" sz="1200" dirty="0">
                <a:solidFill>
                  <a:srgbClr val="333333"/>
                </a:solidFill>
                <a:latin typeface="Calibri" pitchFamily="34" charset="0"/>
                <a:ea typeface="Calibri" pitchFamily="34" charset="-122"/>
                <a:cs typeface="Calibri" pitchFamily="34" charset="-120"/>
              </a:rPr>
              <a:t>classifier = pipeline('sentiment-analysis')</a:t>
            </a:r>
            <a:endParaRPr lang="en-US" sz="1400" dirty="0"/>
          </a:p>
          <a:p>
            <a:pPr marL="0" indent="0">
              <a:spcBef>
                <a:spcPts val="200"/>
              </a:spcBef>
              <a:buNone/>
            </a:pPr>
            <a:r>
              <a:rPr lang="en-US" sz="1200" dirty="0">
                <a:solidFill>
                  <a:srgbClr val="333333"/>
                </a:solidFill>
                <a:latin typeface="Calibri" pitchFamily="34" charset="0"/>
                <a:ea typeface="Calibri" pitchFamily="34" charset="-122"/>
                <a:cs typeface="Calibri" pitchFamily="34" charset="-120"/>
              </a:rPr>
              <a:t>result = classifier('I love this!')</a:t>
            </a:r>
            <a:endParaRPr lang="en-US" sz="1400" dirty="0"/>
          </a:p>
        </p:txBody>
      </p:sp>
      <p:sp>
        <p:nvSpPr>
          <p:cNvPr id="25" name="Slide Number Placeholder 0"/>
          <p:cNvSpPr>
            <a:spLocks noGrp="1"/>
          </p:cNvSpPr>
          <p:nvPr>
            <p:ph type="sldNum" sz="quarter" idx="4294967295"/>
          </p:nvPr>
        </p:nvSpPr>
        <p:spPr>
          <a:xfrm>
            <a:off x="109728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A1A2E"/>
          </a:solidFill>
          <a:ln/>
        </p:spPr>
      </p:sp>
      <p:sp>
        <p:nvSpPr>
          <p:cNvPr id="3" name="Shape 1"/>
          <p:cNvSpPr/>
          <p:nvPr/>
        </p:nvSpPr>
        <p:spPr>
          <a:xfrm>
            <a:off x="0" y="960120"/>
            <a:ext cx="12188952" cy="54864"/>
          </a:xfrm>
          <a:prstGeom prst="rect">
            <a:avLst/>
          </a:prstGeom>
          <a:solidFill>
            <a:srgbClr val="E94560"/>
          </a:solidFill>
          <a:ln/>
        </p:spPr>
      </p:sp>
      <p:pic>
        <p:nvPicPr>
          <p:cNvPr id="4" name="Image 0" descr="/sessions/happy-hopeful-thompson/pptx-work/icons/check-circle-white.png"/>
          <p:cNvPicPr>
            <a:picLocks noChangeAspect="1"/>
          </p:cNvPicPr>
          <p:nvPr/>
        </p:nvPicPr>
        <p:blipFill>
          <a:blip r:embed="rId3"/>
          <a:stretch>
            <a:fillRect/>
          </a:stretch>
        </p:blipFill>
        <p:spPr>
          <a:xfrm>
            <a:off x="365760" y="164592"/>
            <a:ext cx="594360" cy="594360"/>
          </a:xfrm>
          <a:prstGeom prst="rect">
            <a:avLst/>
          </a:prstGeom>
        </p:spPr>
      </p:pic>
      <p:sp>
        <p:nvSpPr>
          <p:cNvPr id="5" name="Text 2"/>
          <p:cNvSpPr/>
          <p:nvPr/>
        </p:nvSpPr>
        <p:spPr>
          <a:xfrm>
            <a:off x="1097280" y="91440"/>
            <a:ext cx="10515600" cy="8229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Quel Framework Choisir ? Guide Pratique</a:t>
            </a:r>
            <a:endParaRPr lang="en-US" sz="2800" dirty="0"/>
          </a:p>
        </p:txBody>
      </p:sp>
      <p:sp>
        <p:nvSpPr>
          <p:cNvPr id="6" name="Shape 3"/>
          <p:cNvSpPr/>
          <p:nvPr/>
        </p:nvSpPr>
        <p:spPr>
          <a:xfrm>
            <a:off x="457200" y="1280160"/>
            <a:ext cx="11274552" cy="5303520"/>
          </a:xfrm>
          <a:prstGeom prst="rect">
            <a:avLst/>
          </a:prstGeom>
          <a:solidFill>
            <a:srgbClr val="FFFFFF"/>
          </a:solidFill>
          <a:ln/>
          <a:effectLst>
            <a:outerShdw blurRad="50800" dist="25400" dir="2700000" algn="bl" rotWithShape="0">
              <a:srgbClr val="000000">
                <a:alpha val="15000"/>
              </a:srgbClr>
            </a:outerShdw>
          </a:effectLst>
        </p:spPr>
      </p:sp>
      <p:sp>
        <p:nvSpPr>
          <p:cNvPr id="7" name="Text 4"/>
          <p:cNvSpPr/>
          <p:nvPr/>
        </p:nvSpPr>
        <p:spPr>
          <a:xfrm>
            <a:off x="731520" y="1371600"/>
            <a:ext cx="10698480" cy="457200"/>
          </a:xfrm>
          <a:prstGeom prst="rect">
            <a:avLst/>
          </a:prstGeom>
          <a:noFill/>
          <a:ln/>
        </p:spPr>
        <p:txBody>
          <a:bodyPr wrap="square" rtlCol="0" anchor="ctr"/>
          <a:lstStyle/>
          <a:p>
            <a:pPr marL="0" indent="0">
              <a:buNone/>
            </a:pPr>
            <a:r>
              <a:rPr lang="en-US" sz="1800" b="1" dirty="0">
                <a:solidFill>
                  <a:srgbClr val="1A1A2E"/>
                </a:solidFill>
                <a:latin typeface="Trebuchet MS" pitchFamily="34" charset="0"/>
                <a:ea typeface="Trebuchet MS" pitchFamily="34" charset="-122"/>
                <a:cs typeface="Trebuchet MS" pitchFamily="34" charset="-120"/>
              </a:rPr>
              <a:t>Le choix dépend de votre contexte :</a:t>
            </a:r>
            <a:endParaRPr lang="en-US" sz="1800" dirty="0"/>
          </a:p>
        </p:txBody>
      </p:sp>
      <p:sp>
        <p:nvSpPr>
          <p:cNvPr id="8" name="Shape 5"/>
          <p:cNvSpPr/>
          <p:nvPr/>
        </p:nvSpPr>
        <p:spPr>
          <a:xfrm>
            <a:off x="731520" y="2011680"/>
            <a:ext cx="2560320" cy="685800"/>
          </a:xfrm>
          <a:prstGeom prst="rect">
            <a:avLst/>
          </a:prstGeom>
          <a:solidFill>
            <a:srgbClr val="2980B9"/>
          </a:solidFill>
          <a:ln/>
        </p:spPr>
      </p:sp>
      <p:sp>
        <p:nvSpPr>
          <p:cNvPr id="9" name="Text 6"/>
          <p:cNvSpPr/>
          <p:nvPr/>
        </p:nvSpPr>
        <p:spPr>
          <a:xfrm>
            <a:off x="731520" y="2011680"/>
            <a:ext cx="2560320" cy="6858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Prototypage rapide</a:t>
            </a:r>
            <a:endParaRPr lang="en-US" sz="1300" dirty="0"/>
          </a:p>
        </p:txBody>
      </p:sp>
      <p:sp>
        <p:nvSpPr>
          <p:cNvPr id="10" name="Text 7"/>
          <p:cNvSpPr/>
          <p:nvPr/>
        </p:nvSpPr>
        <p:spPr>
          <a:xfrm>
            <a:off x="3474720" y="2011680"/>
            <a:ext cx="3200400" cy="685800"/>
          </a:xfrm>
          <a:prstGeom prst="rect">
            <a:avLst/>
          </a:prstGeom>
          <a:noFill/>
          <a:ln/>
        </p:spPr>
        <p:txBody>
          <a:bodyPr wrap="square" rtlCol="0" anchor="ctr"/>
          <a:lstStyle/>
          <a:p>
            <a:pPr marL="0" indent="0">
              <a:buNone/>
            </a:pPr>
            <a:r>
              <a:rPr lang="en-US" sz="1400" b="1" dirty="0">
                <a:solidFill>
                  <a:srgbClr val="2980B9"/>
                </a:solidFill>
                <a:latin typeface="Calibri" pitchFamily="34" charset="0"/>
                <a:ea typeface="Calibri" pitchFamily="34" charset="-122"/>
                <a:cs typeface="Calibri" pitchFamily="34" charset="-120"/>
              </a:rPr>
              <a:t>Keras + TensorFlow</a:t>
            </a:r>
            <a:endParaRPr lang="en-US" sz="1400" dirty="0"/>
          </a:p>
        </p:txBody>
      </p:sp>
      <p:sp>
        <p:nvSpPr>
          <p:cNvPr id="11" name="Text 8"/>
          <p:cNvSpPr/>
          <p:nvPr/>
        </p:nvSpPr>
        <p:spPr>
          <a:xfrm>
            <a:off x="6675120" y="2011680"/>
            <a:ext cx="4846320" cy="68580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API simple, résultats rapides, bon pour apprendre</a:t>
            </a:r>
            <a:endParaRPr lang="en-US" sz="1300" dirty="0"/>
          </a:p>
        </p:txBody>
      </p:sp>
      <p:sp>
        <p:nvSpPr>
          <p:cNvPr id="12" name="Shape 9"/>
          <p:cNvSpPr/>
          <p:nvPr/>
        </p:nvSpPr>
        <p:spPr>
          <a:xfrm>
            <a:off x="731520" y="2880360"/>
            <a:ext cx="2560320" cy="685800"/>
          </a:xfrm>
          <a:prstGeom prst="rect">
            <a:avLst/>
          </a:prstGeom>
          <a:solidFill>
            <a:srgbClr val="E94560"/>
          </a:solidFill>
          <a:ln/>
        </p:spPr>
      </p:sp>
      <p:sp>
        <p:nvSpPr>
          <p:cNvPr id="13" name="Text 10"/>
          <p:cNvSpPr/>
          <p:nvPr/>
        </p:nvSpPr>
        <p:spPr>
          <a:xfrm>
            <a:off x="731520" y="2880360"/>
            <a:ext cx="2560320" cy="6858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Recherche / expérimentation</a:t>
            </a:r>
            <a:endParaRPr lang="en-US" sz="1300" dirty="0"/>
          </a:p>
        </p:txBody>
      </p:sp>
      <p:sp>
        <p:nvSpPr>
          <p:cNvPr id="14" name="Text 11"/>
          <p:cNvSpPr/>
          <p:nvPr/>
        </p:nvSpPr>
        <p:spPr>
          <a:xfrm>
            <a:off x="3474720" y="2880360"/>
            <a:ext cx="3200400" cy="685800"/>
          </a:xfrm>
          <a:prstGeom prst="rect">
            <a:avLst/>
          </a:prstGeom>
          <a:noFill/>
          <a:ln/>
        </p:spPr>
        <p:txBody>
          <a:bodyPr wrap="square" rtlCol="0" anchor="ctr"/>
          <a:lstStyle/>
          <a:p>
            <a:pPr marL="0" indent="0">
              <a:buNone/>
            </a:pPr>
            <a:r>
              <a:rPr lang="en-US" sz="1400" b="1" dirty="0">
                <a:solidFill>
                  <a:srgbClr val="E94560"/>
                </a:solidFill>
                <a:latin typeface="Calibri" pitchFamily="34" charset="0"/>
                <a:ea typeface="Calibri" pitchFamily="34" charset="-122"/>
                <a:cs typeface="Calibri" pitchFamily="34" charset="-120"/>
              </a:rPr>
              <a:t>PyTorch</a:t>
            </a:r>
            <a:endParaRPr lang="en-US" sz="1400" dirty="0"/>
          </a:p>
        </p:txBody>
      </p:sp>
      <p:sp>
        <p:nvSpPr>
          <p:cNvPr id="15" name="Text 12"/>
          <p:cNvSpPr/>
          <p:nvPr/>
        </p:nvSpPr>
        <p:spPr>
          <a:xfrm>
            <a:off x="6675120" y="2880360"/>
            <a:ext cx="4846320" cy="68580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Flexible, code pythonique, debug facile</a:t>
            </a:r>
            <a:endParaRPr lang="en-US" sz="1300" dirty="0"/>
          </a:p>
        </p:txBody>
      </p:sp>
      <p:sp>
        <p:nvSpPr>
          <p:cNvPr id="16" name="Shape 13"/>
          <p:cNvSpPr/>
          <p:nvPr/>
        </p:nvSpPr>
        <p:spPr>
          <a:xfrm>
            <a:off x="731520" y="3749040"/>
            <a:ext cx="2560320" cy="685800"/>
          </a:xfrm>
          <a:prstGeom prst="rect">
            <a:avLst/>
          </a:prstGeom>
          <a:solidFill>
            <a:srgbClr val="27AE60"/>
          </a:solidFill>
          <a:ln/>
        </p:spPr>
      </p:sp>
      <p:sp>
        <p:nvSpPr>
          <p:cNvPr id="17" name="Text 14"/>
          <p:cNvSpPr/>
          <p:nvPr/>
        </p:nvSpPr>
        <p:spPr>
          <a:xfrm>
            <a:off x="731520" y="3749040"/>
            <a:ext cx="2560320" cy="6858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NLP / utiliser des LLM</a:t>
            </a:r>
            <a:endParaRPr lang="en-US" sz="1300" dirty="0"/>
          </a:p>
        </p:txBody>
      </p:sp>
      <p:sp>
        <p:nvSpPr>
          <p:cNvPr id="18" name="Text 15"/>
          <p:cNvSpPr/>
          <p:nvPr/>
        </p:nvSpPr>
        <p:spPr>
          <a:xfrm>
            <a:off x="3474720" y="3749040"/>
            <a:ext cx="3200400" cy="685800"/>
          </a:xfrm>
          <a:prstGeom prst="rect">
            <a:avLst/>
          </a:prstGeom>
          <a:noFill/>
          <a:ln/>
        </p:spPr>
        <p:txBody>
          <a:bodyPr wrap="square" rtlCol="0" anchor="ctr"/>
          <a:lstStyle/>
          <a:p>
            <a:pPr marL="0" indent="0">
              <a:buNone/>
            </a:pPr>
            <a:r>
              <a:rPr lang="en-US" sz="1400" b="1" dirty="0">
                <a:solidFill>
                  <a:srgbClr val="27AE60"/>
                </a:solidFill>
                <a:latin typeface="Calibri" pitchFamily="34" charset="0"/>
                <a:ea typeface="Calibri" pitchFamily="34" charset="-122"/>
                <a:cs typeface="Calibri" pitchFamily="34" charset="-120"/>
              </a:rPr>
              <a:t>Hugging Face Transformers</a:t>
            </a:r>
            <a:endParaRPr lang="en-US" sz="1400" dirty="0"/>
          </a:p>
        </p:txBody>
      </p:sp>
      <p:sp>
        <p:nvSpPr>
          <p:cNvPr id="19" name="Text 16"/>
          <p:cNvSpPr/>
          <p:nvPr/>
        </p:nvSpPr>
        <p:spPr>
          <a:xfrm>
            <a:off x="6675120" y="3749040"/>
            <a:ext cx="4846320" cy="68580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Modèles pré-entraînés prêts à l'emploi</a:t>
            </a:r>
            <a:endParaRPr lang="en-US" sz="1300" dirty="0"/>
          </a:p>
        </p:txBody>
      </p:sp>
      <p:sp>
        <p:nvSpPr>
          <p:cNvPr id="20" name="Shape 17"/>
          <p:cNvSpPr/>
          <p:nvPr/>
        </p:nvSpPr>
        <p:spPr>
          <a:xfrm>
            <a:off x="731520" y="4617720"/>
            <a:ext cx="2560320" cy="685800"/>
          </a:xfrm>
          <a:prstGeom prst="rect">
            <a:avLst/>
          </a:prstGeom>
          <a:solidFill>
            <a:srgbClr val="E67E22"/>
          </a:solidFill>
          <a:ln/>
        </p:spPr>
      </p:sp>
      <p:sp>
        <p:nvSpPr>
          <p:cNvPr id="21" name="Text 18"/>
          <p:cNvSpPr/>
          <p:nvPr/>
        </p:nvSpPr>
        <p:spPr>
          <a:xfrm>
            <a:off x="731520" y="4617720"/>
            <a:ext cx="2560320" cy="6858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Déployer sur mobile</a:t>
            </a:r>
            <a:endParaRPr lang="en-US" sz="1300" dirty="0"/>
          </a:p>
        </p:txBody>
      </p:sp>
      <p:sp>
        <p:nvSpPr>
          <p:cNvPr id="22" name="Text 19"/>
          <p:cNvSpPr/>
          <p:nvPr/>
        </p:nvSpPr>
        <p:spPr>
          <a:xfrm>
            <a:off x="3474720" y="4617720"/>
            <a:ext cx="3200400" cy="685800"/>
          </a:xfrm>
          <a:prstGeom prst="rect">
            <a:avLst/>
          </a:prstGeom>
          <a:noFill/>
          <a:ln/>
        </p:spPr>
        <p:txBody>
          <a:bodyPr wrap="square" rtlCol="0" anchor="ctr"/>
          <a:lstStyle/>
          <a:p>
            <a:pPr marL="0" indent="0">
              <a:buNone/>
            </a:pPr>
            <a:r>
              <a:rPr lang="en-US" sz="1400" b="1" dirty="0">
                <a:solidFill>
                  <a:srgbClr val="E67E22"/>
                </a:solidFill>
                <a:latin typeface="Calibri" pitchFamily="34" charset="0"/>
                <a:ea typeface="Calibri" pitchFamily="34" charset="-122"/>
                <a:cs typeface="Calibri" pitchFamily="34" charset="-120"/>
              </a:rPr>
              <a:t>TensorFlow Lite</a:t>
            </a:r>
            <a:endParaRPr lang="en-US" sz="1400" dirty="0"/>
          </a:p>
        </p:txBody>
      </p:sp>
      <p:sp>
        <p:nvSpPr>
          <p:cNvPr id="23" name="Text 20"/>
          <p:cNvSpPr/>
          <p:nvPr/>
        </p:nvSpPr>
        <p:spPr>
          <a:xfrm>
            <a:off x="6675120" y="4617720"/>
            <a:ext cx="4846320" cy="68580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Optimisé pour les appareils à faible puissance</a:t>
            </a:r>
            <a:endParaRPr lang="en-US" sz="1300" dirty="0"/>
          </a:p>
        </p:txBody>
      </p:sp>
      <p:sp>
        <p:nvSpPr>
          <p:cNvPr id="24" name="Shape 21"/>
          <p:cNvSpPr/>
          <p:nvPr/>
        </p:nvSpPr>
        <p:spPr>
          <a:xfrm>
            <a:off x="731520" y="5486400"/>
            <a:ext cx="2560320" cy="685800"/>
          </a:xfrm>
          <a:prstGeom prst="rect">
            <a:avLst/>
          </a:prstGeom>
          <a:solidFill>
            <a:srgbClr val="8E44AD"/>
          </a:solidFill>
          <a:ln/>
        </p:spPr>
      </p:sp>
      <p:sp>
        <p:nvSpPr>
          <p:cNvPr id="25" name="Text 22"/>
          <p:cNvSpPr/>
          <p:nvPr/>
        </p:nvSpPr>
        <p:spPr>
          <a:xfrm>
            <a:off x="731520" y="5486400"/>
            <a:ext cx="2560320" cy="6858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Application web avec IA</a:t>
            </a:r>
            <a:endParaRPr lang="en-US" sz="1300" dirty="0"/>
          </a:p>
        </p:txBody>
      </p:sp>
      <p:sp>
        <p:nvSpPr>
          <p:cNvPr id="26" name="Text 23"/>
          <p:cNvSpPr/>
          <p:nvPr/>
        </p:nvSpPr>
        <p:spPr>
          <a:xfrm>
            <a:off x="3474720" y="5486400"/>
            <a:ext cx="3200400" cy="685800"/>
          </a:xfrm>
          <a:prstGeom prst="rect">
            <a:avLst/>
          </a:prstGeom>
          <a:noFill/>
          <a:ln/>
        </p:spPr>
        <p:txBody>
          <a:bodyPr wrap="square" rtlCol="0" anchor="ctr"/>
          <a:lstStyle/>
          <a:p>
            <a:pPr marL="0" indent="0">
              <a:buNone/>
            </a:pPr>
            <a:r>
              <a:rPr lang="en-US" sz="1400" b="1" dirty="0">
                <a:solidFill>
                  <a:srgbClr val="8E44AD"/>
                </a:solidFill>
                <a:latin typeface="Calibri" pitchFamily="34" charset="0"/>
                <a:ea typeface="Calibri" pitchFamily="34" charset="-122"/>
                <a:cs typeface="Calibri" pitchFamily="34" charset="-120"/>
              </a:rPr>
              <a:t>TensorFlow.js ou ONNX</a:t>
            </a:r>
            <a:endParaRPr lang="en-US" sz="1400" dirty="0"/>
          </a:p>
        </p:txBody>
      </p:sp>
      <p:sp>
        <p:nvSpPr>
          <p:cNvPr id="27" name="Text 24"/>
          <p:cNvSpPr/>
          <p:nvPr/>
        </p:nvSpPr>
        <p:spPr>
          <a:xfrm>
            <a:off x="6675120" y="5486400"/>
            <a:ext cx="4846320" cy="685800"/>
          </a:xfrm>
          <a:prstGeom prst="rect">
            <a:avLst/>
          </a:prstGeom>
          <a:noFill/>
          <a:ln/>
        </p:spPr>
        <p:txBody>
          <a:bodyPr wrap="square" rtlCol="0" anchor="ctr"/>
          <a:lstStyle/>
          <a:p>
            <a:pPr marL="0" indent="0">
              <a:buNone/>
            </a:pPr>
            <a:r>
              <a:rPr lang="en-US" sz="1300" dirty="0">
                <a:solidFill>
                  <a:srgbClr val="333333"/>
                </a:solidFill>
                <a:latin typeface="Calibri" pitchFamily="34" charset="0"/>
                <a:ea typeface="Calibri" pitchFamily="34" charset="-122"/>
                <a:cs typeface="Calibri" pitchFamily="34" charset="-120"/>
              </a:rPr>
              <a:t>Exécution dans le navigateur, pas de serveur nécessaire</a:t>
            </a:r>
            <a:endParaRPr lang="en-US" sz="1300" dirty="0"/>
          </a:p>
        </p:txBody>
      </p:sp>
      <p:sp>
        <p:nvSpPr>
          <p:cNvPr id="28" name="Slide Number Placeholder 0"/>
          <p:cNvSpPr>
            <a:spLocks noGrp="1"/>
          </p:cNvSpPr>
          <p:nvPr>
            <p:ph type="sldNum" sz="quarter" idx="4294967295"/>
          </p:nvPr>
        </p:nvSpPr>
        <p:spPr>
          <a:xfrm>
            <a:off x="109728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A1A2E"/>
          </a:solidFill>
          <a:ln/>
        </p:spPr>
      </p:sp>
      <p:sp>
        <p:nvSpPr>
          <p:cNvPr id="3" name="Shape 1"/>
          <p:cNvSpPr/>
          <p:nvPr/>
        </p:nvSpPr>
        <p:spPr>
          <a:xfrm>
            <a:off x="0" y="960120"/>
            <a:ext cx="12188952" cy="54864"/>
          </a:xfrm>
          <a:prstGeom prst="rect">
            <a:avLst/>
          </a:prstGeom>
          <a:solidFill>
            <a:srgbClr val="E94560"/>
          </a:solidFill>
          <a:ln/>
        </p:spPr>
      </p:sp>
      <p:pic>
        <p:nvPicPr>
          <p:cNvPr id="4" name="Image 0" descr="/sessions/happy-hopeful-thompson/pptx-work/icons/bolt-white.png"/>
          <p:cNvPicPr>
            <a:picLocks noChangeAspect="1"/>
          </p:cNvPicPr>
          <p:nvPr/>
        </p:nvPicPr>
        <p:blipFill>
          <a:blip r:embed="rId3"/>
          <a:stretch>
            <a:fillRect/>
          </a:stretch>
        </p:blipFill>
        <p:spPr>
          <a:xfrm>
            <a:off x="365760" y="164592"/>
            <a:ext cx="594360" cy="594360"/>
          </a:xfrm>
          <a:prstGeom prst="rect">
            <a:avLst/>
          </a:prstGeom>
        </p:spPr>
      </p:pic>
      <p:sp>
        <p:nvSpPr>
          <p:cNvPr id="5" name="Text 2"/>
          <p:cNvSpPr/>
          <p:nvPr/>
        </p:nvSpPr>
        <p:spPr>
          <a:xfrm>
            <a:off x="1097280" y="91440"/>
            <a:ext cx="10515600" cy="8229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Les Transformers : La Révolution de l'IA Moderne</a:t>
            </a:r>
            <a:endParaRPr lang="en-US" sz="2800" dirty="0"/>
          </a:p>
        </p:txBody>
      </p:sp>
      <p:sp>
        <p:nvSpPr>
          <p:cNvPr id="6" name="Shape 3"/>
          <p:cNvSpPr/>
          <p:nvPr/>
        </p:nvSpPr>
        <p:spPr>
          <a:xfrm>
            <a:off x="457200" y="1297305"/>
            <a:ext cx="11274552" cy="5303520"/>
          </a:xfrm>
          <a:prstGeom prst="rect">
            <a:avLst/>
          </a:prstGeom>
          <a:solidFill>
            <a:srgbClr val="FFFFFF"/>
          </a:solidFill>
          <a:ln w="19050">
            <a:solidFill>
              <a:srgbClr val="E94560"/>
            </a:solidFill>
            <a:prstDash val="solid"/>
          </a:ln>
          <a:effectLst>
            <a:outerShdw blurRad="50800" dist="25400" dir="2700000" algn="bl" rotWithShape="0">
              <a:srgbClr val="000000">
                <a:alpha val="15000"/>
              </a:srgbClr>
            </a:outerShdw>
          </a:effectLst>
        </p:spPr>
      </p:sp>
      <p:sp>
        <p:nvSpPr>
          <p:cNvPr id="7" name="Text 4"/>
          <p:cNvSpPr/>
          <p:nvPr/>
        </p:nvSpPr>
        <p:spPr>
          <a:xfrm>
            <a:off x="731520" y="1371600"/>
            <a:ext cx="10698480" cy="457200"/>
          </a:xfrm>
          <a:prstGeom prst="rect">
            <a:avLst/>
          </a:prstGeom>
          <a:noFill/>
          <a:ln/>
        </p:spPr>
        <p:txBody>
          <a:bodyPr wrap="square" rtlCol="0" anchor="ctr"/>
          <a:lstStyle/>
          <a:p>
            <a:pPr marL="0" indent="0">
              <a:buNone/>
            </a:pPr>
            <a:r>
              <a:rPr lang="en-US" sz="1700" b="1" dirty="0">
                <a:solidFill>
                  <a:srgbClr val="E94560"/>
                </a:solidFill>
                <a:latin typeface="Trebuchet MS" pitchFamily="34" charset="0"/>
                <a:ea typeface="Trebuchet MS" pitchFamily="34" charset="-122"/>
                <a:cs typeface="Trebuchet MS" pitchFamily="34" charset="-120"/>
              </a:rPr>
              <a:t>Tout ce que vous utilisez aujourd'hui est basé sur les Transformers</a:t>
            </a:r>
            <a:endParaRPr lang="en-US" sz="1700" dirty="0"/>
          </a:p>
        </p:txBody>
      </p:sp>
      <p:sp>
        <p:nvSpPr>
          <p:cNvPr id="8" name="Text 5"/>
          <p:cNvSpPr/>
          <p:nvPr/>
        </p:nvSpPr>
        <p:spPr>
          <a:xfrm>
            <a:off x="731520" y="1920240"/>
            <a:ext cx="10698480" cy="822960"/>
          </a:xfrm>
          <a:prstGeom prst="rect">
            <a:avLst/>
          </a:prstGeom>
          <a:noFill/>
          <a:ln/>
        </p:spPr>
        <p:txBody>
          <a:bodyPr wrap="square" rtlCol="0" anchor="t"/>
          <a:lstStyle/>
          <a:p>
            <a:pPr marL="0" indent="0">
              <a:lnSpc>
                <a:spcPct val="115000"/>
              </a:lnSpc>
              <a:buNone/>
            </a:pPr>
            <a:r>
              <a:rPr lang="en-US" sz="1500" dirty="0">
                <a:solidFill>
                  <a:srgbClr val="333333"/>
                </a:solidFill>
                <a:latin typeface="Calibri" pitchFamily="34" charset="0"/>
                <a:ea typeface="Calibri" pitchFamily="34" charset="-122"/>
                <a:cs typeface="Calibri" pitchFamily="34" charset="-120"/>
              </a:rPr>
              <a:t>L'article "Attention Is All You Need" (Google, 2017) a tout changé. Les Transformers n'utilisent ni CNN ni RNN : ils introduisent le mécanisme d'attention qui permet de regarder tous les mots d'une phrase en même temps et de comprendre les relations entre eux.</a:t>
            </a:r>
            <a:endParaRPr lang="en-US" sz="1500" dirty="0"/>
          </a:p>
        </p:txBody>
      </p:sp>
      <p:sp>
        <p:nvSpPr>
          <p:cNvPr id="9" name="Text 6"/>
          <p:cNvSpPr/>
          <p:nvPr/>
        </p:nvSpPr>
        <p:spPr>
          <a:xfrm>
            <a:off x="731520" y="2834640"/>
            <a:ext cx="10698480" cy="365760"/>
          </a:xfrm>
          <a:prstGeom prst="rect">
            <a:avLst/>
          </a:prstGeom>
          <a:noFill/>
          <a:ln/>
        </p:spPr>
        <p:txBody>
          <a:bodyPr wrap="square" rtlCol="0" anchor="ctr"/>
          <a:lstStyle/>
          <a:p>
            <a:pPr marL="0" indent="0">
              <a:buNone/>
            </a:pPr>
            <a:r>
              <a:rPr lang="en-US" sz="1600" b="1" dirty="0">
                <a:solidFill>
                  <a:srgbClr val="1A1A2E"/>
                </a:solidFill>
                <a:latin typeface="Trebuchet MS" pitchFamily="34" charset="0"/>
                <a:ea typeface="Trebuchet MS" pitchFamily="34" charset="-122"/>
                <a:cs typeface="Trebuchet MS" pitchFamily="34" charset="-120"/>
              </a:rPr>
              <a:t>Modèles basés sur les Transformers :</a:t>
            </a:r>
            <a:endParaRPr lang="en-US" sz="1600" dirty="0"/>
          </a:p>
        </p:txBody>
      </p:sp>
      <p:sp>
        <p:nvSpPr>
          <p:cNvPr id="10" name="Shape 7"/>
          <p:cNvSpPr/>
          <p:nvPr/>
        </p:nvSpPr>
        <p:spPr>
          <a:xfrm>
            <a:off x="914400" y="3291840"/>
            <a:ext cx="2194560" cy="594360"/>
          </a:xfrm>
          <a:prstGeom prst="roundRect">
            <a:avLst>
              <a:gd name="adj" fmla="val 15385"/>
            </a:avLst>
          </a:prstGeom>
          <a:solidFill>
            <a:srgbClr val="2980B9"/>
          </a:solidFill>
          <a:ln/>
        </p:spPr>
      </p:sp>
      <p:sp>
        <p:nvSpPr>
          <p:cNvPr id="11" name="Text 8"/>
          <p:cNvSpPr/>
          <p:nvPr/>
        </p:nvSpPr>
        <p:spPr>
          <a:xfrm>
            <a:off x="914400" y="3291840"/>
            <a:ext cx="2194560" cy="320040"/>
          </a:xfrm>
          <a:prstGeom prst="rect">
            <a:avLst/>
          </a:prstGeom>
          <a:noFill/>
          <a:ln/>
        </p:spPr>
        <p:txBody>
          <a:bodyPr wrap="square" rtlCol="0" anchor="b"/>
          <a:lstStyle/>
          <a:p>
            <a:pPr marL="0" indent="0" algn="ctr">
              <a:buNone/>
            </a:pPr>
            <a:r>
              <a:rPr lang="en-US" sz="1300" b="1" dirty="0">
                <a:solidFill>
                  <a:srgbClr val="FFFFFF"/>
                </a:solidFill>
                <a:latin typeface="Calibri" pitchFamily="34" charset="0"/>
                <a:ea typeface="Calibri" pitchFamily="34" charset="-122"/>
                <a:cs typeface="Calibri" pitchFamily="34" charset="-120"/>
              </a:rPr>
              <a:t>BERT (Google)</a:t>
            </a:r>
            <a:endParaRPr lang="en-US" sz="1300" dirty="0"/>
          </a:p>
        </p:txBody>
      </p:sp>
      <p:sp>
        <p:nvSpPr>
          <p:cNvPr id="12" name="Text 9"/>
          <p:cNvSpPr/>
          <p:nvPr/>
        </p:nvSpPr>
        <p:spPr>
          <a:xfrm>
            <a:off x="914400" y="3611880"/>
            <a:ext cx="2194560" cy="274320"/>
          </a:xfrm>
          <a:prstGeom prst="rect">
            <a:avLst/>
          </a:prstGeom>
          <a:noFill/>
          <a:ln/>
        </p:spPr>
        <p:txBody>
          <a:bodyPr wrap="square" rtlCol="0" anchor="t"/>
          <a:lstStyle/>
          <a:p>
            <a:pPr marL="0" indent="0" algn="ctr">
              <a:buNone/>
            </a:pPr>
            <a:r>
              <a:rPr lang="en-US" sz="1000" dirty="0">
                <a:solidFill>
                  <a:srgbClr val="F0F0F0"/>
                </a:solidFill>
                <a:latin typeface="Calibri" pitchFamily="34" charset="0"/>
                <a:ea typeface="Calibri" pitchFamily="34" charset="-122"/>
                <a:cs typeface="Calibri" pitchFamily="34" charset="-120"/>
              </a:rPr>
              <a:t>Encodeur</a:t>
            </a:r>
            <a:endParaRPr lang="en-US" sz="1000" dirty="0"/>
          </a:p>
        </p:txBody>
      </p:sp>
      <p:sp>
        <p:nvSpPr>
          <p:cNvPr id="13" name="Text 10"/>
          <p:cNvSpPr/>
          <p:nvPr/>
        </p:nvSpPr>
        <p:spPr>
          <a:xfrm>
            <a:off x="3291840" y="3291840"/>
            <a:ext cx="8046720" cy="594360"/>
          </a:xfrm>
          <a:prstGeom prst="rect">
            <a:avLst/>
          </a:prstGeom>
          <a:noFill/>
          <a:ln/>
        </p:spPr>
        <p:txBody>
          <a:bodyPr wrap="square" rtlCol="0" anchor="ctr"/>
          <a:lstStyle/>
          <a:p>
            <a:pPr marL="0" indent="0">
              <a:buNone/>
            </a:pPr>
            <a:r>
              <a:rPr lang="en-US" sz="1400" dirty="0">
                <a:solidFill>
                  <a:srgbClr val="333333"/>
                </a:solidFill>
                <a:latin typeface="Calibri" pitchFamily="34" charset="0"/>
                <a:ea typeface="Calibri" pitchFamily="34" charset="-122"/>
                <a:cs typeface="Calibri" pitchFamily="34" charset="-120"/>
              </a:rPr>
              <a:t>Comprend le contexte bidirectionnel. Utilisé pour la recherche Google.</a:t>
            </a:r>
            <a:endParaRPr lang="en-US" sz="1400" dirty="0"/>
          </a:p>
        </p:txBody>
      </p:sp>
      <p:sp>
        <p:nvSpPr>
          <p:cNvPr id="14" name="Shape 11"/>
          <p:cNvSpPr/>
          <p:nvPr/>
        </p:nvSpPr>
        <p:spPr>
          <a:xfrm>
            <a:off x="914400" y="4069080"/>
            <a:ext cx="2194560" cy="594360"/>
          </a:xfrm>
          <a:prstGeom prst="roundRect">
            <a:avLst>
              <a:gd name="adj" fmla="val 15385"/>
            </a:avLst>
          </a:prstGeom>
          <a:solidFill>
            <a:srgbClr val="27AE60"/>
          </a:solidFill>
          <a:ln/>
        </p:spPr>
      </p:sp>
      <p:sp>
        <p:nvSpPr>
          <p:cNvPr id="15" name="Text 12"/>
          <p:cNvSpPr/>
          <p:nvPr/>
        </p:nvSpPr>
        <p:spPr>
          <a:xfrm>
            <a:off x="914400" y="4069080"/>
            <a:ext cx="2194560" cy="320040"/>
          </a:xfrm>
          <a:prstGeom prst="rect">
            <a:avLst/>
          </a:prstGeom>
          <a:noFill/>
          <a:ln/>
        </p:spPr>
        <p:txBody>
          <a:bodyPr wrap="square" rtlCol="0" anchor="b"/>
          <a:lstStyle/>
          <a:p>
            <a:pPr marL="0" indent="0" algn="ctr">
              <a:buNone/>
            </a:pPr>
            <a:r>
              <a:rPr lang="en-US" sz="1300" b="1" dirty="0">
                <a:solidFill>
                  <a:srgbClr val="FFFFFF"/>
                </a:solidFill>
                <a:latin typeface="Calibri" pitchFamily="34" charset="0"/>
                <a:ea typeface="Calibri" pitchFamily="34" charset="-122"/>
                <a:cs typeface="Calibri" pitchFamily="34" charset="-120"/>
              </a:rPr>
              <a:t>GPT (OpenAI)</a:t>
            </a:r>
            <a:endParaRPr lang="en-US" sz="1300" dirty="0"/>
          </a:p>
        </p:txBody>
      </p:sp>
      <p:sp>
        <p:nvSpPr>
          <p:cNvPr id="16" name="Text 13"/>
          <p:cNvSpPr/>
          <p:nvPr/>
        </p:nvSpPr>
        <p:spPr>
          <a:xfrm>
            <a:off x="914400" y="4389120"/>
            <a:ext cx="2194560" cy="274320"/>
          </a:xfrm>
          <a:prstGeom prst="rect">
            <a:avLst/>
          </a:prstGeom>
          <a:noFill/>
          <a:ln/>
        </p:spPr>
        <p:txBody>
          <a:bodyPr wrap="square" rtlCol="0" anchor="t"/>
          <a:lstStyle/>
          <a:p>
            <a:pPr marL="0" indent="0" algn="ctr">
              <a:buNone/>
            </a:pPr>
            <a:r>
              <a:rPr lang="en-US" sz="1000" dirty="0">
                <a:solidFill>
                  <a:srgbClr val="F0F0F0"/>
                </a:solidFill>
                <a:latin typeface="Calibri" pitchFamily="34" charset="0"/>
                <a:ea typeface="Calibri" pitchFamily="34" charset="-122"/>
                <a:cs typeface="Calibri" pitchFamily="34" charset="-120"/>
              </a:rPr>
              <a:t>Décodeur</a:t>
            </a:r>
            <a:endParaRPr lang="en-US" sz="1000" dirty="0"/>
          </a:p>
        </p:txBody>
      </p:sp>
      <p:sp>
        <p:nvSpPr>
          <p:cNvPr id="17" name="Text 14"/>
          <p:cNvSpPr/>
          <p:nvPr/>
        </p:nvSpPr>
        <p:spPr>
          <a:xfrm>
            <a:off x="3291840" y="4069080"/>
            <a:ext cx="8046720" cy="594360"/>
          </a:xfrm>
          <a:prstGeom prst="rect">
            <a:avLst/>
          </a:prstGeom>
          <a:noFill/>
          <a:ln/>
        </p:spPr>
        <p:txBody>
          <a:bodyPr wrap="square" rtlCol="0" anchor="ctr"/>
          <a:lstStyle/>
          <a:p>
            <a:pPr marL="0" indent="0">
              <a:buNone/>
            </a:pPr>
            <a:r>
              <a:rPr lang="en-US" sz="1400" dirty="0">
                <a:solidFill>
                  <a:srgbClr val="333333"/>
                </a:solidFill>
                <a:latin typeface="Calibri" pitchFamily="34" charset="0"/>
                <a:ea typeface="Calibri" pitchFamily="34" charset="-122"/>
                <a:cs typeface="Calibri" pitchFamily="34" charset="-120"/>
              </a:rPr>
              <a:t>Génère du texte de qualité humaine. Base de ChatGPT.</a:t>
            </a:r>
            <a:endParaRPr lang="en-US" sz="1400" dirty="0"/>
          </a:p>
        </p:txBody>
      </p:sp>
      <p:sp>
        <p:nvSpPr>
          <p:cNvPr id="18" name="Shape 15"/>
          <p:cNvSpPr/>
          <p:nvPr/>
        </p:nvSpPr>
        <p:spPr>
          <a:xfrm>
            <a:off x="914400" y="4846320"/>
            <a:ext cx="2194560" cy="594360"/>
          </a:xfrm>
          <a:prstGeom prst="roundRect">
            <a:avLst>
              <a:gd name="adj" fmla="val 15385"/>
            </a:avLst>
          </a:prstGeom>
          <a:solidFill>
            <a:srgbClr val="E67E22"/>
          </a:solidFill>
          <a:ln/>
        </p:spPr>
      </p:sp>
      <p:sp>
        <p:nvSpPr>
          <p:cNvPr id="19" name="Text 16"/>
          <p:cNvSpPr/>
          <p:nvPr/>
        </p:nvSpPr>
        <p:spPr>
          <a:xfrm>
            <a:off x="914400" y="4846320"/>
            <a:ext cx="2194560" cy="320040"/>
          </a:xfrm>
          <a:prstGeom prst="rect">
            <a:avLst/>
          </a:prstGeom>
          <a:noFill/>
          <a:ln/>
        </p:spPr>
        <p:txBody>
          <a:bodyPr wrap="square" rtlCol="0" anchor="b"/>
          <a:lstStyle/>
          <a:p>
            <a:pPr marL="0" indent="0" algn="ctr">
              <a:buNone/>
            </a:pPr>
            <a:r>
              <a:rPr lang="en-US" sz="1300" b="1" dirty="0">
                <a:solidFill>
                  <a:srgbClr val="FFFFFF"/>
                </a:solidFill>
                <a:latin typeface="Calibri" pitchFamily="34" charset="0"/>
                <a:ea typeface="Calibri" pitchFamily="34" charset="-122"/>
                <a:cs typeface="Calibri" pitchFamily="34" charset="-120"/>
              </a:rPr>
              <a:t>T5 / BART</a:t>
            </a:r>
            <a:endParaRPr lang="en-US" sz="1300" dirty="0"/>
          </a:p>
        </p:txBody>
      </p:sp>
      <p:sp>
        <p:nvSpPr>
          <p:cNvPr id="20" name="Text 17"/>
          <p:cNvSpPr/>
          <p:nvPr/>
        </p:nvSpPr>
        <p:spPr>
          <a:xfrm>
            <a:off x="914400" y="5166360"/>
            <a:ext cx="2194560" cy="274320"/>
          </a:xfrm>
          <a:prstGeom prst="rect">
            <a:avLst/>
          </a:prstGeom>
          <a:noFill/>
          <a:ln/>
        </p:spPr>
        <p:txBody>
          <a:bodyPr wrap="square" rtlCol="0" anchor="t"/>
          <a:lstStyle/>
          <a:p>
            <a:pPr marL="0" indent="0" algn="ctr">
              <a:buNone/>
            </a:pPr>
            <a:r>
              <a:rPr lang="en-US" sz="1000" dirty="0">
                <a:solidFill>
                  <a:srgbClr val="F0F0F0"/>
                </a:solidFill>
                <a:latin typeface="Calibri" pitchFamily="34" charset="0"/>
                <a:ea typeface="Calibri" pitchFamily="34" charset="-122"/>
                <a:cs typeface="Calibri" pitchFamily="34" charset="-120"/>
              </a:rPr>
              <a:t>Encodeur-Décodeur</a:t>
            </a:r>
            <a:endParaRPr lang="en-US" sz="1000" dirty="0"/>
          </a:p>
        </p:txBody>
      </p:sp>
      <p:sp>
        <p:nvSpPr>
          <p:cNvPr id="21" name="Text 18"/>
          <p:cNvSpPr/>
          <p:nvPr/>
        </p:nvSpPr>
        <p:spPr>
          <a:xfrm>
            <a:off x="3291840" y="4846320"/>
            <a:ext cx="8046720" cy="594360"/>
          </a:xfrm>
          <a:prstGeom prst="rect">
            <a:avLst/>
          </a:prstGeom>
          <a:noFill/>
          <a:ln/>
        </p:spPr>
        <p:txBody>
          <a:bodyPr wrap="square" rtlCol="0" anchor="ctr"/>
          <a:lstStyle/>
          <a:p>
            <a:pPr marL="0" indent="0">
              <a:buNone/>
            </a:pPr>
            <a:r>
              <a:rPr lang="en-US" sz="1400" dirty="0">
                <a:solidFill>
                  <a:srgbClr val="333333"/>
                </a:solidFill>
                <a:latin typeface="Calibri" pitchFamily="34" charset="0"/>
                <a:ea typeface="Calibri" pitchFamily="34" charset="-122"/>
                <a:cs typeface="Calibri" pitchFamily="34" charset="-120"/>
              </a:rPr>
              <a:t>Traduisent, résument, répondent aux questions.</a:t>
            </a:r>
            <a:endParaRPr lang="en-US" sz="1400" dirty="0"/>
          </a:p>
        </p:txBody>
      </p:sp>
      <p:sp>
        <p:nvSpPr>
          <p:cNvPr id="22" name="Shape 19"/>
          <p:cNvSpPr/>
          <p:nvPr/>
        </p:nvSpPr>
        <p:spPr>
          <a:xfrm>
            <a:off x="914400" y="5623560"/>
            <a:ext cx="2194560" cy="594360"/>
          </a:xfrm>
          <a:prstGeom prst="roundRect">
            <a:avLst>
              <a:gd name="adj" fmla="val 15385"/>
            </a:avLst>
          </a:prstGeom>
          <a:solidFill>
            <a:srgbClr val="8E44AD"/>
          </a:solidFill>
          <a:ln/>
        </p:spPr>
      </p:sp>
      <p:sp>
        <p:nvSpPr>
          <p:cNvPr id="23" name="Text 20"/>
          <p:cNvSpPr/>
          <p:nvPr/>
        </p:nvSpPr>
        <p:spPr>
          <a:xfrm>
            <a:off x="914400" y="5623560"/>
            <a:ext cx="2194560" cy="320040"/>
          </a:xfrm>
          <a:prstGeom prst="rect">
            <a:avLst/>
          </a:prstGeom>
          <a:noFill/>
          <a:ln/>
        </p:spPr>
        <p:txBody>
          <a:bodyPr wrap="square" rtlCol="0" anchor="b"/>
          <a:lstStyle/>
          <a:p>
            <a:pPr marL="0" indent="0" algn="ctr">
              <a:buNone/>
            </a:pPr>
            <a:r>
              <a:rPr lang="en-US" sz="1300" b="1" dirty="0">
                <a:solidFill>
                  <a:srgbClr val="FFFFFF"/>
                </a:solidFill>
                <a:latin typeface="Calibri" pitchFamily="34" charset="0"/>
                <a:ea typeface="Calibri" pitchFamily="34" charset="-122"/>
                <a:cs typeface="Calibri" pitchFamily="34" charset="-120"/>
              </a:rPr>
              <a:t>Vision Transformer (ViT)</a:t>
            </a:r>
            <a:endParaRPr lang="en-US" sz="1300" dirty="0"/>
          </a:p>
        </p:txBody>
      </p:sp>
      <p:sp>
        <p:nvSpPr>
          <p:cNvPr id="24" name="Text 21"/>
          <p:cNvSpPr/>
          <p:nvPr/>
        </p:nvSpPr>
        <p:spPr>
          <a:xfrm>
            <a:off x="914400" y="5943600"/>
            <a:ext cx="2194560" cy="274320"/>
          </a:xfrm>
          <a:prstGeom prst="rect">
            <a:avLst/>
          </a:prstGeom>
          <a:noFill/>
          <a:ln/>
        </p:spPr>
        <p:txBody>
          <a:bodyPr wrap="square" rtlCol="0" anchor="t"/>
          <a:lstStyle/>
          <a:p>
            <a:pPr marL="0" indent="0" algn="ctr">
              <a:buNone/>
            </a:pPr>
            <a:r>
              <a:rPr lang="en-US" sz="1000" dirty="0">
                <a:solidFill>
                  <a:srgbClr val="F0F0F0"/>
                </a:solidFill>
                <a:latin typeface="Calibri" pitchFamily="34" charset="0"/>
                <a:ea typeface="Calibri" pitchFamily="34" charset="-122"/>
                <a:cs typeface="Calibri" pitchFamily="34" charset="-120"/>
              </a:rPr>
              <a:t>Vision</a:t>
            </a:r>
            <a:endParaRPr lang="en-US" sz="1000" dirty="0"/>
          </a:p>
        </p:txBody>
      </p:sp>
      <p:sp>
        <p:nvSpPr>
          <p:cNvPr id="25" name="Text 22"/>
          <p:cNvSpPr/>
          <p:nvPr/>
        </p:nvSpPr>
        <p:spPr>
          <a:xfrm>
            <a:off x="3291840" y="5623560"/>
            <a:ext cx="8046720" cy="594360"/>
          </a:xfrm>
          <a:prstGeom prst="rect">
            <a:avLst/>
          </a:prstGeom>
          <a:noFill/>
          <a:ln/>
        </p:spPr>
        <p:txBody>
          <a:bodyPr wrap="square" rtlCol="0" anchor="ctr"/>
          <a:lstStyle/>
          <a:p>
            <a:pPr marL="0" indent="0">
              <a:buNone/>
            </a:pPr>
            <a:r>
              <a:rPr lang="en-US" sz="1400" dirty="0">
                <a:solidFill>
                  <a:srgbClr val="333333"/>
                </a:solidFill>
                <a:latin typeface="Calibri" pitchFamily="34" charset="0"/>
                <a:ea typeface="Calibri" pitchFamily="34" charset="-122"/>
                <a:cs typeface="Calibri" pitchFamily="34" charset="-120"/>
              </a:rPr>
              <a:t>Applique les Transformers aux images — remplace les CNN pour certaines tâches.</a:t>
            </a:r>
            <a:endParaRPr lang="en-US" sz="1400" dirty="0"/>
          </a:p>
        </p:txBody>
      </p:sp>
      <p:sp>
        <p:nvSpPr>
          <p:cNvPr id="26" name="Text 23"/>
          <p:cNvSpPr/>
          <p:nvPr/>
        </p:nvSpPr>
        <p:spPr>
          <a:xfrm>
            <a:off x="731520" y="6276480"/>
            <a:ext cx="10698480" cy="548640"/>
          </a:xfrm>
          <a:prstGeom prst="rect">
            <a:avLst/>
          </a:prstGeom>
          <a:noFill/>
          <a:ln/>
        </p:spPr>
        <p:txBody>
          <a:bodyPr wrap="square" rtlCol="0" anchor="t"/>
          <a:lstStyle/>
          <a:p>
            <a:pPr marL="0" indent="0">
              <a:buNone/>
            </a:pPr>
            <a:r>
              <a:rPr lang="en-US" sz="1300" i="1" dirty="0">
                <a:solidFill>
                  <a:srgbClr val="666666"/>
                </a:solidFill>
                <a:latin typeface="Calibri" pitchFamily="34" charset="0"/>
                <a:ea typeface="Calibri" pitchFamily="34" charset="-122"/>
                <a:cs typeface="Calibri" pitchFamily="34" charset="-120"/>
              </a:rPr>
              <a:t>En tant que développeur, vous n'avez pas besoin de construire un Transformer from scratch. Utilisez Hugging Face pour accéder à des modèles pré-entraînés en quelques lignes de code.</a:t>
            </a:r>
            <a:endParaRPr lang="en-US" sz="1300" dirty="0"/>
          </a:p>
        </p:txBody>
      </p:sp>
      <p:sp>
        <p:nvSpPr>
          <p:cNvPr id="27" name="Slide Number Placeholder 0"/>
          <p:cNvSpPr>
            <a:spLocks noGrp="1"/>
          </p:cNvSpPr>
          <p:nvPr>
            <p:ph type="sldNum" sz="quarter" idx="4294967295"/>
          </p:nvPr>
        </p:nvSpPr>
        <p:spPr>
          <a:xfrm>
            <a:off x="109728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A1A2E"/>
          </a:solidFill>
          <a:ln/>
        </p:spPr>
      </p:sp>
      <p:sp>
        <p:nvSpPr>
          <p:cNvPr id="3" name="Shape 1"/>
          <p:cNvSpPr/>
          <p:nvPr/>
        </p:nvSpPr>
        <p:spPr>
          <a:xfrm>
            <a:off x="0" y="960120"/>
            <a:ext cx="12188952" cy="54864"/>
          </a:xfrm>
          <a:prstGeom prst="rect">
            <a:avLst/>
          </a:prstGeom>
          <a:solidFill>
            <a:srgbClr val="E94560"/>
          </a:solidFill>
          <a:ln/>
        </p:spPr>
      </p:sp>
      <p:pic>
        <p:nvPicPr>
          <p:cNvPr id="4" name="Image 0" descr="/sessions/happy-hopeful-thompson/pptx-work/icons/project-diagram-white.png"/>
          <p:cNvPicPr>
            <a:picLocks noChangeAspect="1"/>
          </p:cNvPicPr>
          <p:nvPr/>
        </p:nvPicPr>
        <p:blipFill>
          <a:blip r:embed="rId3"/>
          <a:stretch>
            <a:fillRect/>
          </a:stretch>
        </p:blipFill>
        <p:spPr>
          <a:xfrm>
            <a:off x="365760" y="164592"/>
            <a:ext cx="594360" cy="594360"/>
          </a:xfrm>
          <a:prstGeom prst="rect">
            <a:avLst/>
          </a:prstGeom>
        </p:spPr>
      </p:pic>
      <p:sp>
        <p:nvSpPr>
          <p:cNvPr id="5" name="Text 2"/>
          <p:cNvSpPr/>
          <p:nvPr/>
        </p:nvSpPr>
        <p:spPr>
          <a:xfrm>
            <a:off x="1097280" y="91440"/>
            <a:ext cx="10515600" cy="8229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Récapitulatif : La Famille du Deep Learning</a:t>
            </a:r>
            <a:endParaRPr lang="en-US" sz="2800" dirty="0"/>
          </a:p>
        </p:txBody>
      </p:sp>
      <p:sp>
        <p:nvSpPr>
          <p:cNvPr id="6" name="Shape 3"/>
          <p:cNvSpPr/>
          <p:nvPr/>
        </p:nvSpPr>
        <p:spPr>
          <a:xfrm>
            <a:off x="457200" y="1280160"/>
            <a:ext cx="11274552" cy="5303520"/>
          </a:xfrm>
          <a:prstGeom prst="rect">
            <a:avLst/>
          </a:prstGeom>
          <a:solidFill>
            <a:srgbClr val="FFFFFF"/>
          </a:solidFill>
          <a:ln/>
          <a:effectLst>
            <a:outerShdw blurRad="50800" dist="25400" dir="2700000" algn="bl" rotWithShape="0">
              <a:srgbClr val="000000">
                <a:alpha val="15000"/>
              </a:srgbClr>
            </a:outerShdw>
          </a:effectLst>
        </p:spPr>
      </p:sp>
      <p:sp>
        <p:nvSpPr>
          <p:cNvPr id="7" name="Shape 4"/>
          <p:cNvSpPr/>
          <p:nvPr/>
        </p:nvSpPr>
        <p:spPr>
          <a:xfrm>
            <a:off x="4114800" y="1554480"/>
            <a:ext cx="3959352" cy="640080"/>
          </a:xfrm>
          <a:prstGeom prst="roundRect">
            <a:avLst>
              <a:gd name="adj" fmla="val 21429"/>
            </a:avLst>
          </a:prstGeom>
          <a:solidFill>
            <a:srgbClr val="1A1A2E"/>
          </a:solidFill>
          <a:ln/>
          <a:effectLst>
            <a:outerShdw blurRad="50800" dist="25400" dir="2700000" algn="bl" rotWithShape="0">
              <a:srgbClr val="000000">
                <a:alpha val="15000"/>
              </a:srgbClr>
            </a:outerShdw>
          </a:effectLst>
        </p:spPr>
      </p:sp>
      <p:sp>
        <p:nvSpPr>
          <p:cNvPr id="8" name="Text 5"/>
          <p:cNvSpPr/>
          <p:nvPr/>
        </p:nvSpPr>
        <p:spPr>
          <a:xfrm>
            <a:off x="4114800" y="1554480"/>
            <a:ext cx="3959352" cy="640080"/>
          </a:xfrm>
          <a:prstGeom prst="rect">
            <a:avLst/>
          </a:prstGeom>
          <a:noFill/>
          <a:ln/>
        </p:spPr>
        <p:txBody>
          <a:bodyPr wrap="square"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Deep Learning</a:t>
            </a:r>
            <a:endParaRPr lang="en-US" sz="2000" dirty="0"/>
          </a:p>
        </p:txBody>
      </p:sp>
      <p:sp>
        <p:nvSpPr>
          <p:cNvPr id="9" name="Shape 6"/>
          <p:cNvSpPr/>
          <p:nvPr/>
        </p:nvSpPr>
        <p:spPr>
          <a:xfrm>
            <a:off x="2011680" y="2194560"/>
            <a:ext cx="54864" cy="548640"/>
          </a:xfrm>
          <a:prstGeom prst="rect">
            <a:avLst/>
          </a:prstGeom>
          <a:solidFill>
            <a:srgbClr val="666666"/>
          </a:solidFill>
          <a:ln/>
        </p:spPr>
      </p:sp>
      <p:sp>
        <p:nvSpPr>
          <p:cNvPr id="10" name="Shape 7"/>
          <p:cNvSpPr/>
          <p:nvPr/>
        </p:nvSpPr>
        <p:spPr>
          <a:xfrm>
            <a:off x="914400" y="2743200"/>
            <a:ext cx="2286000" cy="1371600"/>
          </a:xfrm>
          <a:prstGeom prst="roundRect">
            <a:avLst>
              <a:gd name="adj" fmla="val 10000"/>
            </a:avLst>
          </a:prstGeom>
          <a:solidFill>
            <a:srgbClr val="2980B9"/>
          </a:solidFill>
          <a:ln/>
          <a:effectLst>
            <a:outerShdw blurRad="50800" dist="25400" dir="2700000" algn="bl" rotWithShape="0">
              <a:srgbClr val="000000">
                <a:alpha val="15000"/>
              </a:srgbClr>
            </a:outerShdw>
          </a:effectLst>
        </p:spPr>
      </p:sp>
      <p:sp>
        <p:nvSpPr>
          <p:cNvPr id="11" name="Text 8"/>
          <p:cNvSpPr/>
          <p:nvPr/>
        </p:nvSpPr>
        <p:spPr>
          <a:xfrm>
            <a:off x="914400" y="2743200"/>
            <a:ext cx="2286000" cy="548640"/>
          </a:xfrm>
          <a:prstGeom prst="rect">
            <a:avLst/>
          </a:prstGeom>
          <a:noFill/>
          <a:ln/>
        </p:spPr>
        <p:txBody>
          <a:bodyPr wrap="square"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CNN</a:t>
            </a:r>
            <a:endParaRPr lang="en-US" sz="1800" dirty="0"/>
          </a:p>
        </p:txBody>
      </p:sp>
      <p:sp>
        <p:nvSpPr>
          <p:cNvPr id="12" name="Text 9"/>
          <p:cNvSpPr/>
          <p:nvPr/>
        </p:nvSpPr>
        <p:spPr>
          <a:xfrm>
            <a:off x="914400" y="3291840"/>
            <a:ext cx="2286000" cy="777240"/>
          </a:xfrm>
          <a:prstGeom prst="rect">
            <a:avLst/>
          </a:prstGeom>
          <a:noFill/>
          <a:ln/>
        </p:spPr>
        <p:txBody>
          <a:bodyPr wrap="square" rtlCol="0" anchor="t"/>
          <a:lstStyle/>
          <a:p>
            <a:pPr marL="0" indent="0" algn="ctr">
              <a:buNone/>
            </a:pPr>
            <a:r>
              <a:rPr lang="en-US" sz="1300" dirty="0">
                <a:solidFill>
                  <a:srgbClr val="F0F0F0"/>
                </a:solidFill>
                <a:latin typeface="Calibri" pitchFamily="34" charset="0"/>
                <a:ea typeface="Calibri" pitchFamily="34" charset="-122"/>
                <a:cs typeface="Calibri" pitchFamily="34" charset="-120"/>
              </a:rPr>
              <a:t>Images</a:t>
            </a:r>
            <a:endParaRPr lang="en-US" sz="1300" dirty="0"/>
          </a:p>
          <a:p>
            <a:pPr marL="0" indent="0" algn="ctr">
              <a:buNone/>
            </a:pPr>
            <a:r>
              <a:rPr lang="en-US" sz="1300" dirty="0">
                <a:solidFill>
                  <a:srgbClr val="F0F0F0"/>
                </a:solidFill>
                <a:latin typeface="Calibri" pitchFamily="34" charset="0"/>
                <a:ea typeface="Calibri" pitchFamily="34" charset="-122"/>
                <a:cs typeface="Calibri" pitchFamily="34" charset="-120"/>
              </a:rPr>
              <a:t>Vision</a:t>
            </a:r>
            <a:endParaRPr lang="en-US" sz="1300" dirty="0"/>
          </a:p>
        </p:txBody>
      </p:sp>
      <p:sp>
        <p:nvSpPr>
          <p:cNvPr id="13" name="Shape 10"/>
          <p:cNvSpPr/>
          <p:nvPr/>
        </p:nvSpPr>
        <p:spPr>
          <a:xfrm>
            <a:off x="4572000" y="2194560"/>
            <a:ext cx="54864" cy="548640"/>
          </a:xfrm>
          <a:prstGeom prst="rect">
            <a:avLst/>
          </a:prstGeom>
          <a:solidFill>
            <a:srgbClr val="666666"/>
          </a:solidFill>
          <a:ln/>
        </p:spPr>
      </p:sp>
      <p:sp>
        <p:nvSpPr>
          <p:cNvPr id="14" name="Shape 11"/>
          <p:cNvSpPr/>
          <p:nvPr/>
        </p:nvSpPr>
        <p:spPr>
          <a:xfrm>
            <a:off x="3474720" y="2743200"/>
            <a:ext cx="2286000" cy="1371600"/>
          </a:xfrm>
          <a:prstGeom prst="roundRect">
            <a:avLst>
              <a:gd name="adj" fmla="val 10000"/>
            </a:avLst>
          </a:prstGeom>
          <a:solidFill>
            <a:srgbClr val="E67E22"/>
          </a:solidFill>
          <a:ln/>
          <a:effectLst>
            <a:outerShdw blurRad="50800" dist="25400" dir="2700000" algn="bl" rotWithShape="0">
              <a:srgbClr val="000000">
                <a:alpha val="15000"/>
              </a:srgbClr>
            </a:outerShdw>
          </a:effectLst>
        </p:spPr>
      </p:sp>
      <p:sp>
        <p:nvSpPr>
          <p:cNvPr id="15" name="Text 12"/>
          <p:cNvSpPr/>
          <p:nvPr/>
        </p:nvSpPr>
        <p:spPr>
          <a:xfrm>
            <a:off x="3474720" y="2743200"/>
            <a:ext cx="2286000" cy="548640"/>
          </a:xfrm>
          <a:prstGeom prst="rect">
            <a:avLst/>
          </a:prstGeom>
          <a:noFill/>
          <a:ln/>
        </p:spPr>
        <p:txBody>
          <a:bodyPr wrap="square"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RNN/LSTM</a:t>
            </a:r>
            <a:endParaRPr lang="en-US" sz="1800" dirty="0"/>
          </a:p>
        </p:txBody>
      </p:sp>
      <p:sp>
        <p:nvSpPr>
          <p:cNvPr id="16" name="Text 13"/>
          <p:cNvSpPr/>
          <p:nvPr/>
        </p:nvSpPr>
        <p:spPr>
          <a:xfrm>
            <a:off x="3474720" y="3291840"/>
            <a:ext cx="2286000" cy="777240"/>
          </a:xfrm>
          <a:prstGeom prst="rect">
            <a:avLst/>
          </a:prstGeom>
          <a:noFill/>
          <a:ln/>
        </p:spPr>
        <p:txBody>
          <a:bodyPr wrap="square" rtlCol="0" anchor="t"/>
          <a:lstStyle/>
          <a:p>
            <a:pPr marL="0" indent="0" algn="ctr">
              <a:buNone/>
            </a:pPr>
            <a:r>
              <a:rPr lang="en-US" sz="1300" dirty="0">
                <a:solidFill>
                  <a:srgbClr val="F0F0F0"/>
                </a:solidFill>
                <a:latin typeface="Calibri" pitchFamily="34" charset="0"/>
                <a:ea typeface="Calibri" pitchFamily="34" charset="-122"/>
                <a:cs typeface="Calibri" pitchFamily="34" charset="-120"/>
              </a:rPr>
              <a:t>Séquences</a:t>
            </a:r>
            <a:endParaRPr lang="en-US" sz="1300" dirty="0"/>
          </a:p>
          <a:p>
            <a:pPr marL="0" indent="0" algn="ctr">
              <a:buNone/>
            </a:pPr>
            <a:r>
              <a:rPr lang="en-US" sz="1300" dirty="0">
                <a:solidFill>
                  <a:srgbClr val="F0F0F0"/>
                </a:solidFill>
                <a:latin typeface="Calibri" pitchFamily="34" charset="0"/>
                <a:ea typeface="Calibri" pitchFamily="34" charset="-122"/>
                <a:cs typeface="Calibri" pitchFamily="34" charset="-120"/>
              </a:rPr>
              <a:t>Temporel</a:t>
            </a:r>
            <a:endParaRPr lang="en-US" sz="1300" dirty="0"/>
          </a:p>
        </p:txBody>
      </p:sp>
      <p:sp>
        <p:nvSpPr>
          <p:cNvPr id="17" name="Shape 14"/>
          <p:cNvSpPr/>
          <p:nvPr/>
        </p:nvSpPr>
        <p:spPr>
          <a:xfrm>
            <a:off x="7132320" y="2194560"/>
            <a:ext cx="54864" cy="548640"/>
          </a:xfrm>
          <a:prstGeom prst="rect">
            <a:avLst/>
          </a:prstGeom>
          <a:solidFill>
            <a:srgbClr val="666666"/>
          </a:solidFill>
          <a:ln/>
        </p:spPr>
      </p:sp>
      <p:sp>
        <p:nvSpPr>
          <p:cNvPr id="18" name="Shape 15"/>
          <p:cNvSpPr/>
          <p:nvPr/>
        </p:nvSpPr>
        <p:spPr>
          <a:xfrm>
            <a:off x="6035040" y="2743200"/>
            <a:ext cx="2286000" cy="1371600"/>
          </a:xfrm>
          <a:prstGeom prst="roundRect">
            <a:avLst>
              <a:gd name="adj" fmla="val 10000"/>
            </a:avLst>
          </a:prstGeom>
          <a:solidFill>
            <a:srgbClr val="E94560"/>
          </a:solidFill>
          <a:ln/>
          <a:effectLst>
            <a:outerShdw blurRad="50800" dist="25400" dir="2700000" algn="bl" rotWithShape="0">
              <a:srgbClr val="000000">
                <a:alpha val="15000"/>
              </a:srgbClr>
            </a:outerShdw>
          </a:effectLst>
        </p:spPr>
      </p:sp>
      <p:sp>
        <p:nvSpPr>
          <p:cNvPr id="19" name="Text 16"/>
          <p:cNvSpPr/>
          <p:nvPr/>
        </p:nvSpPr>
        <p:spPr>
          <a:xfrm>
            <a:off x="6035040" y="2743200"/>
            <a:ext cx="2286000" cy="548640"/>
          </a:xfrm>
          <a:prstGeom prst="rect">
            <a:avLst/>
          </a:prstGeom>
          <a:noFill/>
          <a:ln/>
        </p:spPr>
        <p:txBody>
          <a:bodyPr wrap="square"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Transformers</a:t>
            </a:r>
            <a:endParaRPr lang="en-US" sz="1800" dirty="0"/>
          </a:p>
        </p:txBody>
      </p:sp>
      <p:sp>
        <p:nvSpPr>
          <p:cNvPr id="20" name="Text 17"/>
          <p:cNvSpPr/>
          <p:nvPr/>
        </p:nvSpPr>
        <p:spPr>
          <a:xfrm>
            <a:off x="6035040" y="3291840"/>
            <a:ext cx="2286000" cy="777240"/>
          </a:xfrm>
          <a:prstGeom prst="rect">
            <a:avLst/>
          </a:prstGeom>
          <a:noFill/>
          <a:ln/>
        </p:spPr>
        <p:txBody>
          <a:bodyPr wrap="square" rtlCol="0" anchor="t"/>
          <a:lstStyle/>
          <a:p>
            <a:pPr marL="0" indent="0" algn="ctr">
              <a:buNone/>
            </a:pPr>
            <a:r>
              <a:rPr lang="en-US" sz="1300" dirty="0">
                <a:solidFill>
                  <a:srgbClr val="F0F0F0"/>
                </a:solidFill>
                <a:latin typeface="Calibri" pitchFamily="34" charset="0"/>
                <a:ea typeface="Calibri" pitchFamily="34" charset="-122"/>
                <a:cs typeface="Calibri" pitchFamily="34" charset="-120"/>
              </a:rPr>
              <a:t>Tout !</a:t>
            </a:r>
            <a:endParaRPr lang="en-US" sz="1300" dirty="0"/>
          </a:p>
          <a:p>
            <a:pPr marL="0" indent="0" algn="ctr">
              <a:buNone/>
            </a:pPr>
            <a:r>
              <a:rPr lang="en-US" sz="1300" dirty="0">
                <a:solidFill>
                  <a:srgbClr val="F0F0F0"/>
                </a:solidFill>
                <a:latin typeface="Calibri" pitchFamily="34" charset="0"/>
                <a:ea typeface="Calibri" pitchFamily="34" charset="-122"/>
                <a:cs typeface="Calibri" pitchFamily="34" charset="-120"/>
              </a:rPr>
              <a:t>Texte, Image, Audio</a:t>
            </a:r>
            <a:endParaRPr lang="en-US" sz="1300" dirty="0"/>
          </a:p>
        </p:txBody>
      </p:sp>
      <p:sp>
        <p:nvSpPr>
          <p:cNvPr id="21" name="Shape 18"/>
          <p:cNvSpPr/>
          <p:nvPr/>
        </p:nvSpPr>
        <p:spPr>
          <a:xfrm>
            <a:off x="9692640" y="2194560"/>
            <a:ext cx="54864" cy="548640"/>
          </a:xfrm>
          <a:prstGeom prst="rect">
            <a:avLst/>
          </a:prstGeom>
          <a:solidFill>
            <a:srgbClr val="666666"/>
          </a:solidFill>
          <a:ln/>
        </p:spPr>
      </p:sp>
      <p:sp>
        <p:nvSpPr>
          <p:cNvPr id="22" name="Shape 19"/>
          <p:cNvSpPr/>
          <p:nvPr/>
        </p:nvSpPr>
        <p:spPr>
          <a:xfrm>
            <a:off x="8595360" y="2743200"/>
            <a:ext cx="2286000" cy="1371600"/>
          </a:xfrm>
          <a:prstGeom prst="roundRect">
            <a:avLst>
              <a:gd name="adj" fmla="val 10000"/>
            </a:avLst>
          </a:prstGeom>
          <a:solidFill>
            <a:srgbClr val="8E44AD"/>
          </a:solidFill>
          <a:ln/>
          <a:effectLst>
            <a:outerShdw blurRad="50800" dist="25400" dir="2700000" algn="bl" rotWithShape="0">
              <a:srgbClr val="000000">
                <a:alpha val="15000"/>
              </a:srgbClr>
            </a:outerShdw>
          </a:effectLst>
        </p:spPr>
      </p:sp>
      <p:sp>
        <p:nvSpPr>
          <p:cNvPr id="23" name="Text 20"/>
          <p:cNvSpPr/>
          <p:nvPr/>
        </p:nvSpPr>
        <p:spPr>
          <a:xfrm>
            <a:off x="8595360" y="2743200"/>
            <a:ext cx="2286000" cy="548640"/>
          </a:xfrm>
          <a:prstGeom prst="rect">
            <a:avLst/>
          </a:prstGeom>
          <a:noFill/>
          <a:ln/>
        </p:spPr>
        <p:txBody>
          <a:bodyPr wrap="square"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GAN</a:t>
            </a:r>
            <a:endParaRPr lang="en-US" sz="1800" dirty="0"/>
          </a:p>
        </p:txBody>
      </p:sp>
      <p:sp>
        <p:nvSpPr>
          <p:cNvPr id="24" name="Text 21"/>
          <p:cNvSpPr/>
          <p:nvPr/>
        </p:nvSpPr>
        <p:spPr>
          <a:xfrm>
            <a:off x="8595360" y="3291840"/>
            <a:ext cx="2286000" cy="777240"/>
          </a:xfrm>
          <a:prstGeom prst="rect">
            <a:avLst/>
          </a:prstGeom>
          <a:noFill/>
          <a:ln/>
        </p:spPr>
        <p:txBody>
          <a:bodyPr wrap="square" rtlCol="0" anchor="t"/>
          <a:lstStyle/>
          <a:p>
            <a:pPr marL="0" indent="0" algn="ctr">
              <a:buNone/>
            </a:pPr>
            <a:r>
              <a:rPr lang="en-US" sz="1300" dirty="0">
                <a:solidFill>
                  <a:srgbClr val="F0F0F0"/>
                </a:solidFill>
                <a:latin typeface="Calibri" pitchFamily="34" charset="0"/>
                <a:ea typeface="Calibri" pitchFamily="34" charset="-122"/>
                <a:cs typeface="Calibri" pitchFamily="34" charset="-120"/>
              </a:rPr>
              <a:t>Génération</a:t>
            </a:r>
            <a:endParaRPr lang="en-US" sz="1300" dirty="0"/>
          </a:p>
          <a:p>
            <a:pPr marL="0" indent="0" algn="ctr">
              <a:buNone/>
            </a:pPr>
            <a:r>
              <a:rPr lang="en-US" sz="1300" dirty="0">
                <a:solidFill>
                  <a:srgbClr val="F0F0F0"/>
                </a:solidFill>
                <a:latin typeface="Calibri" pitchFamily="34" charset="0"/>
                <a:ea typeface="Calibri" pitchFamily="34" charset="-122"/>
                <a:cs typeface="Calibri" pitchFamily="34" charset="-120"/>
              </a:rPr>
              <a:t>d'images</a:t>
            </a:r>
            <a:endParaRPr lang="en-US" sz="1300" dirty="0"/>
          </a:p>
        </p:txBody>
      </p:sp>
      <p:sp>
        <p:nvSpPr>
          <p:cNvPr id="25" name="Text 22"/>
          <p:cNvSpPr/>
          <p:nvPr/>
        </p:nvSpPr>
        <p:spPr>
          <a:xfrm>
            <a:off x="731520" y="4480560"/>
            <a:ext cx="1097280" cy="457200"/>
          </a:xfrm>
          <a:prstGeom prst="rect">
            <a:avLst/>
          </a:prstGeom>
          <a:noFill/>
          <a:ln/>
        </p:spPr>
        <p:txBody>
          <a:bodyPr wrap="square" rtlCol="0" anchor="ctr"/>
          <a:lstStyle/>
          <a:p>
            <a:pPr marL="0" indent="0">
              <a:buNone/>
            </a:pPr>
            <a:r>
              <a:rPr lang="en-US" sz="1500" b="1" dirty="0">
                <a:solidFill>
                  <a:srgbClr val="1A1A2E"/>
                </a:solidFill>
                <a:latin typeface="Trebuchet MS" pitchFamily="34" charset="0"/>
                <a:ea typeface="Trebuchet MS" pitchFamily="34" charset="-122"/>
                <a:cs typeface="Trebuchet MS" pitchFamily="34" charset="-120"/>
              </a:rPr>
              <a:t>Outils :</a:t>
            </a:r>
            <a:endParaRPr lang="en-US" sz="1500" dirty="0"/>
          </a:p>
        </p:txBody>
      </p:sp>
      <p:sp>
        <p:nvSpPr>
          <p:cNvPr id="26" name="Shape 23"/>
          <p:cNvSpPr/>
          <p:nvPr/>
        </p:nvSpPr>
        <p:spPr>
          <a:xfrm>
            <a:off x="2011680" y="4434840"/>
            <a:ext cx="1645920" cy="457200"/>
          </a:xfrm>
          <a:prstGeom prst="roundRect">
            <a:avLst>
              <a:gd name="adj" fmla="val 20000"/>
            </a:avLst>
          </a:prstGeom>
          <a:solidFill>
            <a:srgbClr val="E67E22"/>
          </a:solidFill>
          <a:ln/>
        </p:spPr>
      </p:sp>
      <p:sp>
        <p:nvSpPr>
          <p:cNvPr id="27" name="Text 24"/>
          <p:cNvSpPr/>
          <p:nvPr/>
        </p:nvSpPr>
        <p:spPr>
          <a:xfrm>
            <a:off x="2011680" y="4434840"/>
            <a:ext cx="164592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TensorFlow</a:t>
            </a:r>
            <a:endParaRPr lang="en-US" sz="1200" dirty="0"/>
          </a:p>
        </p:txBody>
      </p:sp>
      <p:sp>
        <p:nvSpPr>
          <p:cNvPr id="28" name="Shape 25"/>
          <p:cNvSpPr/>
          <p:nvPr/>
        </p:nvSpPr>
        <p:spPr>
          <a:xfrm>
            <a:off x="3840480" y="4434840"/>
            <a:ext cx="1645920" cy="457200"/>
          </a:xfrm>
          <a:prstGeom prst="roundRect">
            <a:avLst>
              <a:gd name="adj" fmla="val 20000"/>
            </a:avLst>
          </a:prstGeom>
          <a:solidFill>
            <a:srgbClr val="E94560"/>
          </a:solidFill>
          <a:ln/>
        </p:spPr>
      </p:sp>
      <p:sp>
        <p:nvSpPr>
          <p:cNvPr id="29" name="Text 26"/>
          <p:cNvSpPr/>
          <p:nvPr/>
        </p:nvSpPr>
        <p:spPr>
          <a:xfrm>
            <a:off x="3840480" y="4434840"/>
            <a:ext cx="164592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PyTorch</a:t>
            </a:r>
            <a:endParaRPr lang="en-US" sz="1200" dirty="0"/>
          </a:p>
        </p:txBody>
      </p:sp>
      <p:sp>
        <p:nvSpPr>
          <p:cNvPr id="30" name="Shape 27"/>
          <p:cNvSpPr/>
          <p:nvPr/>
        </p:nvSpPr>
        <p:spPr>
          <a:xfrm>
            <a:off x="5669280" y="4434840"/>
            <a:ext cx="1645920" cy="457200"/>
          </a:xfrm>
          <a:prstGeom prst="roundRect">
            <a:avLst>
              <a:gd name="adj" fmla="val 20000"/>
            </a:avLst>
          </a:prstGeom>
          <a:solidFill>
            <a:srgbClr val="2980B9"/>
          </a:solidFill>
          <a:ln/>
        </p:spPr>
      </p:sp>
      <p:sp>
        <p:nvSpPr>
          <p:cNvPr id="31" name="Text 28"/>
          <p:cNvSpPr/>
          <p:nvPr/>
        </p:nvSpPr>
        <p:spPr>
          <a:xfrm>
            <a:off x="5669280" y="4434840"/>
            <a:ext cx="164592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Keras</a:t>
            </a:r>
            <a:endParaRPr lang="en-US" sz="1200" dirty="0"/>
          </a:p>
        </p:txBody>
      </p:sp>
      <p:sp>
        <p:nvSpPr>
          <p:cNvPr id="32" name="Shape 29"/>
          <p:cNvSpPr/>
          <p:nvPr/>
        </p:nvSpPr>
        <p:spPr>
          <a:xfrm>
            <a:off x="7498080" y="4434840"/>
            <a:ext cx="1645920" cy="457200"/>
          </a:xfrm>
          <a:prstGeom prst="roundRect">
            <a:avLst>
              <a:gd name="adj" fmla="val 20000"/>
            </a:avLst>
          </a:prstGeom>
          <a:solidFill>
            <a:srgbClr val="27AE60"/>
          </a:solidFill>
          <a:ln/>
        </p:spPr>
      </p:sp>
      <p:sp>
        <p:nvSpPr>
          <p:cNvPr id="33" name="Text 30"/>
          <p:cNvSpPr/>
          <p:nvPr/>
        </p:nvSpPr>
        <p:spPr>
          <a:xfrm>
            <a:off x="7498080" y="4434840"/>
            <a:ext cx="164592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Hugging Face</a:t>
            </a:r>
            <a:endParaRPr lang="en-US" sz="1200" dirty="0"/>
          </a:p>
        </p:txBody>
      </p:sp>
      <p:sp>
        <p:nvSpPr>
          <p:cNvPr id="34" name="Shape 31"/>
          <p:cNvSpPr/>
          <p:nvPr/>
        </p:nvSpPr>
        <p:spPr>
          <a:xfrm>
            <a:off x="9326880" y="4434840"/>
            <a:ext cx="1645920" cy="457200"/>
          </a:xfrm>
          <a:prstGeom prst="roundRect">
            <a:avLst>
              <a:gd name="adj" fmla="val 20000"/>
            </a:avLst>
          </a:prstGeom>
          <a:solidFill>
            <a:srgbClr val="8E44AD"/>
          </a:solidFill>
          <a:ln/>
        </p:spPr>
      </p:sp>
      <p:sp>
        <p:nvSpPr>
          <p:cNvPr id="35" name="Text 32"/>
          <p:cNvSpPr/>
          <p:nvPr/>
        </p:nvSpPr>
        <p:spPr>
          <a:xfrm>
            <a:off x="9326880" y="4434840"/>
            <a:ext cx="1645920"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ONNX</a:t>
            </a:r>
            <a:endParaRPr lang="en-US" sz="1200" dirty="0"/>
          </a:p>
        </p:txBody>
      </p:sp>
      <p:sp>
        <p:nvSpPr>
          <p:cNvPr id="36" name="Shape 33"/>
          <p:cNvSpPr/>
          <p:nvPr/>
        </p:nvSpPr>
        <p:spPr>
          <a:xfrm>
            <a:off x="731520" y="5212080"/>
            <a:ext cx="10515600" cy="1188720"/>
          </a:xfrm>
          <a:prstGeom prst="rect">
            <a:avLst/>
          </a:prstGeom>
          <a:solidFill>
            <a:srgbClr val="1A1A2E"/>
          </a:solidFill>
          <a:ln/>
          <a:effectLst>
            <a:outerShdw blurRad="50800" dist="25400" dir="2700000" algn="bl" rotWithShape="0">
              <a:srgbClr val="000000">
                <a:alpha val="15000"/>
              </a:srgbClr>
            </a:outerShdw>
          </a:effectLst>
        </p:spPr>
      </p:sp>
      <p:sp>
        <p:nvSpPr>
          <p:cNvPr id="37" name="Text 34"/>
          <p:cNvSpPr/>
          <p:nvPr/>
        </p:nvSpPr>
        <p:spPr>
          <a:xfrm>
            <a:off x="914400" y="5303520"/>
            <a:ext cx="10149840" cy="1005840"/>
          </a:xfrm>
          <a:prstGeom prst="rect">
            <a:avLst/>
          </a:prstGeom>
          <a:noFill/>
          <a:ln/>
        </p:spPr>
        <p:txBody>
          <a:bodyPr wrap="square" rtlCol="0" anchor="ctr"/>
          <a:lstStyle/>
          <a:p>
            <a:pPr marL="0" indent="0">
              <a:lnSpc>
                <a:spcPct val="115000"/>
              </a:lnSpc>
              <a:buNone/>
            </a:pPr>
            <a:r>
              <a:rPr lang="en-US" sz="1400" dirty="0">
                <a:solidFill>
                  <a:srgbClr val="F0F0F0"/>
                </a:solidFill>
                <a:latin typeface="Calibri" pitchFamily="34" charset="0"/>
                <a:ea typeface="Calibri" pitchFamily="34" charset="-122"/>
                <a:cs typeface="Calibri" pitchFamily="34" charset="-120"/>
              </a:rPr>
              <a:t>Ce qu'il faut retenir : Le Deep Learning est une boîte à outils puissante. En tant que développeur, votre rôle est de choisir la bonne architecture (CNN pour les images, RNN/Transformer pour le texte) et d'utiliser les frameworks existants plutôt que de tout coder from scratch.</a:t>
            </a:r>
            <a:endParaRPr lang="en-US" sz="1400" dirty="0"/>
          </a:p>
        </p:txBody>
      </p:sp>
      <p:sp>
        <p:nvSpPr>
          <p:cNvPr id="38" name="Slide Number Placeholder 0"/>
          <p:cNvSpPr>
            <a:spLocks noGrp="1"/>
          </p:cNvSpPr>
          <p:nvPr>
            <p:ph type="sldNum" sz="quarter" idx="4294967295"/>
          </p:nvPr>
        </p:nvSpPr>
        <p:spPr>
          <a:xfrm>
            <a:off x="109728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A1A2E"/>
          </a:solidFill>
          <a:ln/>
        </p:spPr>
      </p:sp>
      <p:sp>
        <p:nvSpPr>
          <p:cNvPr id="3" name="Shape 1"/>
          <p:cNvSpPr/>
          <p:nvPr/>
        </p:nvSpPr>
        <p:spPr>
          <a:xfrm>
            <a:off x="0" y="960120"/>
            <a:ext cx="12188952" cy="54864"/>
          </a:xfrm>
          <a:prstGeom prst="rect">
            <a:avLst/>
          </a:prstGeom>
          <a:solidFill>
            <a:srgbClr val="E94560"/>
          </a:solidFill>
          <a:ln/>
        </p:spPr>
      </p:sp>
      <p:pic>
        <p:nvPicPr>
          <p:cNvPr id="4" name="Image 0" descr="/sessions/happy-hopeful-thompson/pptx-work/icons/graduation-cap-white.png"/>
          <p:cNvPicPr>
            <a:picLocks noChangeAspect="1"/>
          </p:cNvPicPr>
          <p:nvPr/>
        </p:nvPicPr>
        <p:blipFill>
          <a:blip r:embed="rId3"/>
          <a:stretch>
            <a:fillRect/>
          </a:stretch>
        </p:blipFill>
        <p:spPr>
          <a:xfrm>
            <a:off x="365760" y="164592"/>
            <a:ext cx="594360" cy="594360"/>
          </a:xfrm>
          <a:prstGeom prst="rect">
            <a:avLst/>
          </a:prstGeom>
        </p:spPr>
      </p:pic>
      <p:sp>
        <p:nvSpPr>
          <p:cNvPr id="5" name="Text 2"/>
          <p:cNvSpPr/>
          <p:nvPr/>
        </p:nvSpPr>
        <p:spPr>
          <a:xfrm>
            <a:off x="1097280" y="91440"/>
            <a:ext cx="10515600" cy="8229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Quiz : Testez Vos Connaissances !</a:t>
            </a:r>
            <a:endParaRPr lang="en-US" sz="2800" dirty="0"/>
          </a:p>
        </p:txBody>
      </p:sp>
      <p:sp>
        <p:nvSpPr>
          <p:cNvPr id="6" name="Shape 3"/>
          <p:cNvSpPr/>
          <p:nvPr/>
        </p:nvSpPr>
        <p:spPr>
          <a:xfrm>
            <a:off x="457200" y="1280160"/>
            <a:ext cx="11274552" cy="5303520"/>
          </a:xfrm>
          <a:prstGeom prst="rect">
            <a:avLst/>
          </a:prstGeom>
          <a:solidFill>
            <a:srgbClr val="FFFFFF"/>
          </a:solidFill>
          <a:ln/>
          <a:effectLst>
            <a:outerShdw blurRad="50800" dist="25400" dir="2700000" algn="bl" rotWithShape="0">
              <a:srgbClr val="000000">
                <a:alpha val="15000"/>
              </a:srgbClr>
            </a:outerShdw>
          </a:effectLst>
        </p:spPr>
      </p:sp>
      <p:sp>
        <p:nvSpPr>
          <p:cNvPr id="7" name="Text 4"/>
          <p:cNvSpPr/>
          <p:nvPr/>
        </p:nvSpPr>
        <p:spPr>
          <a:xfrm>
            <a:off x="731520" y="1463040"/>
            <a:ext cx="5943600" cy="41148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1. Quelle est la différence principale entre ML classique et Deep Learning ?</a:t>
            </a:r>
            <a:endParaRPr lang="en-US" sz="1300" dirty="0"/>
          </a:p>
        </p:txBody>
      </p:sp>
      <p:sp>
        <p:nvSpPr>
          <p:cNvPr id="9" name="Text 6"/>
          <p:cNvSpPr/>
          <p:nvPr/>
        </p:nvSpPr>
        <p:spPr>
          <a:xfrm>
            <a:off x="731520" y="2331720"/>
            <a:ext cx="5943600" cy="41148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2. À quoi sert une fonction d'activation dans un réseau de neurones ?</a:t>
            </a:r>
            <a:endParaRPr lang="en-US" sz="1300" dirty="0"/>
          </a:p>
        </p:txBody>
      </p:sp>
      <p:sp>
        <p:nvSpPr>
          <p:cNvPr id="11" name="Text 8"/>
          <p:cNvSpPr/>
          <p:nvPr/>
        </p:nvSpPr>
        <p:spPr>
          <a:xfrm>
            <a:off x="731520" y="3200400"/>
            <a:ext cx="5943600" cy="41148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3. Quel type de réseau est spécialisé pour l'analyse d'images ?</a:t>
            </a:r>
            <a:endParaRPr lang="en-US" sz="1300" dirty="0"/>
          </a:p>
        </p:txBody>
      </p:sp>
      <p:sp>
        <p:nvSpPr>
          <p:cNvPr id="13" name="Text 10"/>
          <p:cNvSpPr/>
          <p:nvPr/>
        </p:nvSpPr>
        <p:spPr>
          <a:xfrm>
            <a:off x="731520" y="4069080"/>
            <a:ext cx="5943600" cy="41148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4. Pourquoi a-t-on inventé le LSTM ?</a:t>
            </a:r>
            <a:endParaRPr lang="en-US" sz="1300" dirty="0"/>
          </a:p>
        </p:txBody>
      </p:sp>
      <p:sp>
        <p:nvSpPr>
          <p:cNvPr id="15" name="Text 12"/>
          <p:cNvSpPr/>
          <p:nvPr/>
        </p:nvSpPr>
        <p:spPr>
          <a:xfrm>
            <a:off x="731520" y="4937760"/>
            <a:ext cx="5943600" cy="41148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5. Qu'est-ce qu'un embedding en NLP ?</a:t>
            </a:r>
            <a:endParaRPr lang="en-US" sz="1300" dirty="0"/>
          </a:p>
        </p:txBody>
      </p:sp>
      <p:sp>
        <p:nvSpPr>
          <p:cNvPr id="17" name="Text 14"/>
          <p:cNvSpPr/>
          <p:nvPr/>
        </p:nvSpPr>
        <p:spPr>
          <a:xfrm>
            <a:off x="731520" y="5806440"/>
            <a:ext cx="5943600" cy="41148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6. Qu'est-ce que le Transfer Learning ?</a:t>
            </a:r>
            <a:endParaRPr lang="en-US" sz="1300" dirty="0"/>
          </a:p>
        </p:txBody>
      </p:sp>
      <p:sp>
        <p:nvSpPr>
          <p:cNvPr id="25" name="Slide Number Placeholder 0"/>
          <p:cNvSpPr>
            <a:spLocks noGrp="1"/>
          </p:cNvSpPr>
          <p:nvPr>
            <p:ph type="sldNum" sz="quarter" idx="4294967295"/>
          </p:nvPr>
        </p:nvSpPr>
        <p:spPr>
          <a:xfrm>
            <a:off x="10972800" y="6309360"/>
            <a:ext cx="800000" cy="3000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9FA"/>
        </a:solidFill>
        <a:effectLst/>
      </p:bgPr>
    </p:bg>
    <p:spTree>
      <p:nvGrpSpPr>
        <p:cNvPr id="1" name="">
          <a:extLst>
            <a:ext uri="{FF2B5EF4-FFF2-40B4-BE49-F238E27FC236}">
              <a16:creationId xmlns:a16="http://schemas.microsoft.com/office/drawing/2014/main" id="{74946B45-1128-AD79-F6BA-7799B5DDEE9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B32B95D-EE9F-94D0-CDEC-361BB48F1891}"/>
              </a:ext>
            </a:extLst>
          </p:cNvPr>
          <p:cNvSpPr/>
          <p:nvPr/>
        </p:nvSpPr>
        <p:spPr>
          <a:xfrm>
            <a:off x="0" y="0"/>
            <a:ext cx="12188952" cy="1005840"/>
          </a:xfrm>
          <a:prstGeom prst="rect">
            <a:avLst/>
          </a:prstGeom>
          <a:solidFill>
            <a:srgbClr val="1A1A2E"/>
          </a:solidFill>
          <a:ln/>
        </p:spPr>
      </p:sp>
      <p:sp>
        <p:nvSpPr>
          <p:cNvPr id="3" name="Shape 1">
            <a:extLst>
              <a:ext uri="{FF2B5EF4-FFF2-40B4-BE49-F238E27FC236}">
                <a16:creationId xmlns:a16="http://schemas.microsoft.com/office/drawing/2014/main" id="{08E198E4-4FEB-4C7C-3D1F-EDA77D6BD97D}"/>
              </a:ext>
            </a:extLst>
          </p:cNvPr>
          <p:cNvSpPr/>
          <p:nvPr/>
        </p:nvSpPr>
        <p:spPr>
          <a:xfrm>
            <a:off x="0" y="960120"/>
            <a:ext cx="12188952" cy="54864"/>
          </a:xfrm>
          <a:prstGeom prst="rect">
            <a:avLst/>
          </a:prstGeom>
          <a:solidFill>
            <a:srgbClr val="E94560"/>
          </a:solidFill>
          <a:ln/>
        </p:spPr>
      </p:sp>
      <p:pic>
        <p:nvPicPr>
          <p:cNvPr id="4" name="Image 0" descr="/sessions/happy-hopeful-thompson/pptx-work/icons/graduation-cap-white.png">
            <a:extLst>
              <a:ext uri="{FF2B5EF4-FFF2-40B4-BE49-F238E27FC236}">
                <a16:creationId xmlns:a16="http://schemas.microsoft.com/office/drawing/2014/main" id="{8F004E24-1474-CF92-FE46-93160AE47D83}"/>
              </a:ext>
            </a:extLst>
          </p:cNvPr>
          <p:cNvPicPr>
            <a:picLocks noChangeAspect="1"/>
          </p:cNvPicPr>
          <p:nvPr/>
        </p:nvPicPr>
        <p:blipFill>
          <a:blip r:embed="rId3"/>
          <a:stretch>
            <a:fillRect/>
          </a:stretch>
        </p:blipFill>
        <p:spPr>
          <a:xfrm>
            <a:off x="365760" y="164592"/>
            <a:ext cx="594360" cy="594360"/>
          </a:xfrm>
          <a:prstGeom prst="rect">
            <a:avLst/>
          </a:prstGeom>
        </p:spPr>
      </p:pic>
      <p:sp>
        <p:nvSpPr>
          <p:cNvPr id="5" name="Text 2">
            <a:extLst>
              <a:ext uri="{FF2B5EF4-FFF2-40B4-BE49-F238E27FC236}">
                <a16:creationId xmlns:a16="http://schemas.microsoft.com/office/drawing/2014/main" id="{E5A637FC-CD8D-8A98-D30D-72477D1D7308}"/>
              </a:ext>
            </a:extLst>
          </p:cNvPr>
          <p:cNvSpPr/>
          <p:nvPr/>
        </p:nvSpPr>
        <p:spPr>
          <a:xfrm>
            <a:off x="1097280" y="91440"/>
            <a:ext cx="10515600" cy="8229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Quiz : Testez Vos Connaissances !</a:t>
            </a:r>
            <a:endParaRPr lang="en-US" sz="2800" dirty="0"/>
          </a:p>
        </p:txBody>
      </p:sp>
      <p:sp>
        <p:nvSpPr>
          <p:cNvPr id="6" name="Shape 3">
            <a:extLst>
              <a:ext uri="{FF2B5EF4-FFF2-40B4-BE49-F238E27FC236}">
                <a16:creationId xmlns:a16="http://schemas.microsoft.com/office/drawing/2014/main" id="{8357E0C1-1F7E-7005-64F7-BB329CFA1CB3}"/>
              </a:ext>
            </a:extLst>
          </p:cNvPr>
          <p:cNvSpPr/>
          <p:nvPr/>
        </p:nvSpPr>
        <p:spPr>
          <a:xfrm>
            <a:off x="457200" y="1280160"/>
            <a:ext cx="11274552" cy="5303520"/>
          </a:xfrm>
          <a:prstGeom prst="rect">
            <a:avLst/>
          </a:prstGeom>
          <a:solidFill>
            <a:srgbClr val="FFFFFF"/>
          </a:solidFill>
          <a:ln/>
          <a:effectLst>
            <a:outerShdw blurRad="50800" dist="25400" dir="2700000" algn="bl" rotWithShape="0">
              <a:srgbClr val="000000">
                <a:alpha val="15000"/>
              </a:srgbClr>
            </a:outerShdw>
          </a:effectLst>
        </p:spPr>
      </p:sp>
      <p:sp>
        <p:nvSpPr>
          <p:cNvPr id="7" name="Text 4">
            <a:extLst>
              <a:ext uri="{FF2B5EF4-FFF2-40B4-BE49-F238E27FC236}">
                <a16:creationId xmlns:a16="http://schemas.microsoft.com/office/drawing/2014/main" id="{1D2CE3FD-2442-354C-9269-144FA74B7E01}"/>
              </a:ext>
            </a:extLst>
          </p:cNvPr>
          <p:cNvSpPr/>
          <p:nvPr/>
        </p:nvSpPr>
        <p:spPr>
          <a:xfrm>
            <a:off x="731520" y="1463040"/>
            <a:ext cx="5943600" cy="41148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1. Quelle est la différence principale entre ML classique et Deep Learning ?</a:t>
            </a:r>
            <a:endParaRPr lang="en-US" sz="1300" dirty="0"/>
          </a:p>
        </p:txBody>
      </p:sp>
      <p:sp>
        <p:nvSpPr>
          <p:cNvPr id="8" name="Text 5">
            <a:extLst>
              <a:ext uri="{FF2B5EF4-FFF2-40B4-BE49-F238E27FC236}">
                <a16:creationId xmlns:a16="http://schemas.microsoft.com/office/drawing/2014/main" id="{C8A49881-2E4A-2209-241D-D72FC88FE935}"/>
              </a:ext>
            </a:extLst>
          </p:cNvPr>
          <p:cNvSpPr/>
          <p:nvPr/>
        </p:nvSpPr>
        <p:spPr>
          <a:xfrm>
            <a:off x="6675120" y="1463040"/>
            <a:ext cx="4754880" cy="411480"/>
          </a:xfrm>
          <a:prstGeom prst="rect">
            <a:avLst/>
          </a:prstGeom>
          <a:noFill/>
          <a:ln/>
        </p:spPr>
        <p:txBody>
          <a:bodyPr wrap="square" rtlCol="0" anchor="ctr"/>
          <a:lstStyle/>
          <a:p>
            <a:pPr marL="0" indent="0">
              <a:buNone/>
            </a:pPr>
            <a:r>
              <a:rPr lang="en-US" sz="1200" i="1" dirty="0">
                <a:solidFill>
                  <a:srgbClr val="27AE60"/>
                </a:solidFill>
                <a:latin typeface="Calibri" pitchFamily="34" charset="0"/>
                <a:ea typeface="Calibri" pitchFamily="34" charset="-122"/>
                <a:cs typeface="Calibri" pitchFamily="34" charset="-120"/>
              </a:rPr>
              <a:t>→ Le DL apprend automatiquement les features, le ML classique nécessite une extraction manuelle</a:t>
            </a:r>
            <a:endParaRPr lang="en-US" sz="1200" dirty="0"/>
          </a:p>
        </p:txBody>
      </p:sp>
      <p:sp>
        <p:nvSpPr>
          <p:cNvPr id="9" name="Text 6">
            <a:extLst>
              <a:ext uri="{FF2B5EF4-FFF2-40B4-BE49-F238E27FC236}">
                <a16:creationId xmlns:a16="http://schemas.microsoft.com/office/drawing/2014/main" id="{8ADF0C36-1630-0763-ED14-C4CA038915EE}"/>
              </a:ext>
            </a:extLst>
          </p:cNvPr>
          <p:cNvSpPr/>
          <p:nvPr/>
        </p:nvSpPr>
        <p:spPr>
          <a:xfrm>
            <a:off x="731520" y="2331720"/>
            <a:ext cx="5943600" cy="41148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2. À quoi sert une fonction d'activation dans un réseau de neurones ?</a:t>
            </a:r>
            <a:endParaRPr lang="en-US" sz="1300" dirty="0"/>
          </a:p>
        </p:txBody>
      </p:sp>
      <p:sp>
        <p:nvSpPr>
          <p:cNvPr id="10" name="Text 7">
            <a:extLst>
              <a:ext uri="{FF2B5EF4-FFF2-40B4-BE49-F238E27FC236}">
                <a16:creationId xmlns:a16="http://schemas.microsoft.com/office/drawing/2014/main" id="{C73BC14C-E0FF-F39E-E2FA-AA1507DCECDE}"/>
              </a:ext>
            </a:extLst>
          </p:cNvPr>
          <p:cNvSpPr/>
          <p:nvPr/>
        </p:nvSpPr>
        <p:spPr>
          <a:xfrm>
            <a:off x="6675120" y="2331720"/>
            <a:ext cx="4754880" cy="411480"/>
          </a:xfrm>
          <a:prstGeom prst="rect">
            <a:avLst/>
          </a:prstGeom>
          <a:noFill/>
          <a:ln/>
        </p:spPr>
        <p:txBody>
          <a:bodyPr wrap="square" rtlCol="0" anchor="ctr"/>
          <a:lstStyle/>
          <a:p>
            <a:pPr marL="0" indent="0">
              <a:buNone/>
            </a:pPr>
            <a:r>
              <a:rPr lang="en-US" sz="1200" i="1" dirty="0">
                <a:solidFill>
                  <a:srgbClr val="27AE60"/>
                </a:solidFill>
                <a:latin typeface="Calibri" pitchFamily="34" charset="0"/>
                <a:ea typeface="Calibri" pitchFamily="34" charset="-122"/>
                <a:cs typeface="Calibri" pitchFamily="34" charset="-120"/>
              </a:rPr>
              <a:t>→ Elle introduit la non-linéarité, permettant au réseau d'apprendre des patterns complexes</a:t>
            </a:r>
            <a:endParaRPr lang="en-US" sz="1200" dirty="0"/>
          </a:p>
        </p:txBody>
      </p:sp>
      <p:sp>
        <p:nvSpPr>
          <p:cNvPr id="11" name="Text 8">
            <a:extLst>
              <a:ext uri="{FF2B5EF4-FFF2-40B4-BE49-F238E27FC236}">
                <a16:creationId xmlns:a16="http://schemas.microsoft.com/office/drawing/2014/main" id="{9DE0A340-7D7F-AFFD-63C2-446F541E93E7}"/>
              </a:ext>
            </a:extLst>
          </p:cNvPr>
          <p:cNvSpPr/>
          <p:nvPr/>
        </p:nvSpPr>
        <p:spPr>
          <a:xfrm>
            <a:off x="731520" y="3200400"/>
            <a:ext cx="5943600" cy="41148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3. Quel type de réseau est spécialisé pour l'analyse d'images ?</a:t>
            </a:r>
            <a:endParaRPr lang="en-US" sz="1300" dirty="0"/>
          </a:p>
        </p:txBody>
      </p:sp>
      <p:sp>
        <p:nvSpPr>
          <p:cNvPr id="12" name="Text 9">
            <a:extLst>
              <a:ext uri="{FF2B5EF4-FFF2-40B4-BE49-F238E27FC236}">
                <a16:creationId xmlns:a16="http://schemas.microsoft.com/office/drawing/2014/main" id="{D9480980-3A07-7DC0-4612-DDF1AE1C007B}"/>
              </a:ext>
            </a:extLst>
          </p:cNvPr>
          <p:cNvSpPr/>
          <p:nvPr/>
        </p:nvSpPr>
        <p:spPr>
          <a:xfrm>
            <a:off x="6675120" y="3200400"/>
            <a:ext cx="4754880" cy="411480"/>
          </a:xfrm>
          <a:prstGeom prst="rect">
            <a:avLst/>
          </a:prstGeom>
          <a:noFill/>
          <a:ln/>
        </p:spPr>
        <p:txBody>
          <a:bodyPr wrap="square" rtlCol="0" anchor="ctr"/>
          <a:lstStyle/>
          <a:p>
            <a:pPr marL="0" indent="0">
              <a:buNone/>
            </a:pPr>
            <a:r>
              <a:rPr lang="en-US" sz="1200" i="1" dirty="0">
                <a:solidFill>
                  <a:srgbClr val="27AE60"/>
                </a:solidFill>
                <a:latin typeface="Calibri" pitchFamily="34" charset="0"/>
                <a:ea typeface="Calibri" pitchFamily="34" charset="-122"/>
                <a:cs typeface="Calibri" pitchFamily="34" charset="-120"/>
              </a:rPr>
              <a:t>→ Les CNN (Convolutional Neural Networks)</a:t>
            </a:r>
            <a:endParaRPr lang="en-US" sz="1200" dirty="0"/>
          </a:p>
        </p:txBody>
      </p:sp>
      <p:sp>
        <p:nvSpPr>
          <p:cNvPr id="13" name="Text 10">
            <a:extLst>
              <a:ext uri="{FF2B5EF4-FFF2-40B4-BE49-F238E27FC236}">
                <a16:creationId xmlns:a16="http://schemas.microsoft.com/office/drawing/2014/main" id="{AE456B7C-D7B1-F62A-FCAE-E7BE568E403E}"/>
              </a:ext>
            </a:extLst>
          </p:cNvPr>
          <p:cNvSpPr/>
          <p:nvPr/>
        </p:nvSpPr>
        <p:spPr>
          <a:xfrm>
            <a:off x="731520" y="4069080"/>
            <a:ext cx="5943600" cy="41148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4. Pourquoi a-t-on inventé le LSTM ?</a:t>
            </a:r>
            <a:endParaRPr lang="en-US" sz="1300" dirty="0"/>
          </a:p>
        </p:txBody>
      </p:sp>
      <p:sp>
        <p:nvSpPr>
          <p:cNvPr id="14" name="Text 11">
            <a:extLst>
              <a:ext uri="{FF2B5EF4-FFF2-40B4-BE49-F238E27FC236}">
                <a16:creationId xmlns:a16="http://schemas.microsoft.com/office/drawing/2014/main" id="{88ABD7C3-9393-CEFD-484E-EA3CDAF94885}"/>
              </a:ext>
            </a:extLst>
          </p:cNvPr>
          <p:cNvSpPr/>
          <p:nvPr/>
        </p:nvSpPr>
        <p:spPr>
          <a:xfrm>
            <a:off x="6675120" y="4069080"/>
            <a:ext cx="4754880" cy="411480"/>
          </a:xfrm>
          <a:prstGeom prst="rect">
            <a:avLst/>
          </a:prstGeom>
          <a:noFill/>
          <a:ln/>
        </p:spPr>
        <p:txBody>
          <a:bodyPr wrap="square" rtlCol="0" anchor="ctr"/>
          <a:lstStyle/>
          <a:p>
            <a:pPr marL="0" indent="0">
              <a:buNone/>
            </a:pPr>
            <a:r>
              <a:rPr lang="en-US" sz="1200" i="1" dirty="0">
                <a:solidFill>
                  <a:srgbClr val="27AE60"/>
                </a:solidFill>
                <a:latin typeface="Calibri" pitchFamily="34" charset="0"/>
                <a:ea typeface="Calibri" pitchFamily="34" charset="-122"/>
                <a:cs typeface="Calibri" pitchFamily="34" charset="-120"/>
              </a:rPr>
              <a:t>→ Pour résoudre le problème de la mémoire à court terme du RNN (vanishing gradient)</a:t>
            </a:r>
            <a:endParaRPr lang="en-US" sz="1200" dirty="0"/>
          </a:p>
        </p:txBody>
      </p:sp>
      <p:sp>
        <p:nvSpPr>
          <p:cNvPr id="15" name="Text 12">
            <a:extLst>
              <a:ext uri="{FF2B5EF4-FFF2-40B4-BE49-F238E27FC236}">
                <a16:creationId xmlns:a16="http://schemas.microsoft.com/office/drawing/2014/main" id="{F91E7CDC-EF27-8FC2-7AF7-A4F6098F76F5}"/>
              </a:ext>
            </a:extLst>
          </p:cNvPr>
          <p:cNvSpPr/>
          <p:nvPr/>
        </p:nvSpPr>
        <p:spPr>
          <a:xfrm>
            <a:off x="731520" y="4937760"/>
            <a:ext cx="5943600" cy="41148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5. Qu'est-ce qu'un embedding en NLP ?</a:t>
            </a:r>
            <a:endParaRPr lang="en-US" sz="1300" dirty="0"/>
          </a:p>
        </p:txBody>
      </p:sp>
      <p:sp>
        <p:nvSpPr>
          <p:cNvPr id="16" name="Text 13">
            <a:extLst>
              <a:ext uri="{FF2B5EF4-FFF2-40B4-BE49-F238E27FC236}">
                <a16:creationId xmlns:a16="http://schemas.microsoft.com/office/drawing/2014/main" id="{BB2D96FE-2EE7-5BBC-82F4-A0F9BCDA3000}"/>
              </a:ext>
            </a:extLst>
          </p:cNvPr>
          <p:cNvSpPr/>
          <p:nvPr/>
        </p:nvSpPr>
        <p:spPr>
          <a:xfrm>
            <a:off x="6675120" y="4937760"/>
            <a:ext cx="4754880" cy="411480"/>
          </a:xfrm>
          <a:prstGeom prst="rect">
            <a:avLst/>
          </a:prstGeom>
          <a:noFill/>
          <a:ln/>
        </p:spPr>
        <p:txBody>
          <a:bodyPr wrap="square" rtlCol="0" anchor="ctr"/>
          <a:lstStyle/>
          <a:p>
            <a:pPr marL="0" indent="0">
              <a:buNone/>
            </a:pPr>
            <a:r>
              <a:rPr lang="en-US" sz="1200" i="1" dirty="0">
                <a:solidFill>
                  <a:srgbClr val="27AE60"/>
                </a:solidFill>
                <a:latin typeface="Calibri" pitchFamily="34" charset="0"/>
                <a:ea typeface="Calibri" pitchFamily="34" charset="-122"/>
                <a:cs typeface="Calibri" pitchFamily="34" charset="-120"/>
              </a:rPr>
              <a:t>→ Un vecteur de nombres qui capture le sens d'un mot</a:t>
            </a:r>
            <a:endParaRPr lang="en-US" sz="1200" dirty="0"/>
          </a:p>
        </p:txBody>
      </p:sp>
      <p:sp>
        <p:nvSpPr>
          <p:cNvPr id="17" name="Text 14">
            <a:extLst>
              <a:ext uri="{FF2B5EF4-FFF2-40B4-BE49-F238E27FC236}">
                <a16:creationId xmlns:a16="http://schemas.microsoft.com/office/drawing/2014/main" id="{8F65DF76-F40B-3B43-5CA8-E37E8FE3A993}"/>
              </a:ext>
            </a:extLst>
          </p:cNvPr>
          <p:cNvSpPr/>
          <p:nvPr/>
        </p:nvSpPr>
        <p:spPr>
          <a:xfrm>
            <a:off x="731520" y="5806440"/>
            <a:ext cx="5943600" cy="41148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6. Qu'est-ce que le Transfer Learning ?</a:t>
            </a:r>
            <a:endParaRPr lang="en-US" sz="1300" dirty="0"/>
          </a:p>
        </p:txBody>
      </p:sp>
      <p:sp>
        <p:nvSpPr>
          <p:cNvPr id="18" name="Text 15">
            <a:extLst>
              <a:ext uri="{FF2B5EF4-FFF2-40B4-BE49-F238E27FC236}">
                <a16:creationId xmlns:a16="http://schemas.microsoft.com/office/drawing/2014/main" id="{A3D6D972-C2EB-4D76-609E-50BB7CC285A9}"/>
              </a:ext>
            </a:extLst>
          </p:cNvPr>
          <p:cNvSpPr/>
          <p:nvPr/>
        </p:nvSpPr>
        <p:spPr>
          <a:xfrm>
            <a:off x="6675120" y="5806440"/>
            <a:ext cx="4754880" cy="411480"/>
          </a:xfrm>
          <a:prstGeom prst="rect">
            <a:avLst/>
          </a:prstGeom>
          <a:noFill/>
          <a:ln/>
        </p:spPr>
        <p:txBody>
          <a:bodyPr wrap="square" rtlCol="0" anchor="ctr"/>
          <a:lstStyle/>
          <a:p>
            <a:pPr marL="0" indent="0">
              <a:buNone/>
            </a:pPr>
            <a:r>
              <a:rPr lang="en-US" sz="1200" i="1" dirty="0">
                <a:solidFill>
                  <a:srgbClr val="27AE60"/>
                </a:solidFill>
                <a:latin typeface="Calibri" pitchFamily="34" charset="0"/>
                <a:ea typeface="Calibri" pitchFamily="34" charset="-122"/>
                <a:cs typeface="Calibri" pitchFamily="34" charset="-120"/>
              </a:rPr>
              <a:t>→ Réutiliser un modèle pré-entraîné et l'adapter à un nouveau problème</a:t>
            </a:r>
            <a:endParaRPr lang="en-US" sz="1200" dirty="0"/>
          </a:p>
        </p:txBody>
      </p:sp>
      <p:sp>
        <p:nvSpPr>
          <p:cNvPr id="25" name="Slide Number Placeholder 0">
            <a:extLst>
              <a:ext uri="{FF2B5EF4-FFF2-40B4-BE49-F238E27FC236}">
                <a16:creationId xmlns:a16="http://schemas.microsoft.com/office/drawing/2014/main" id="{3BE0BEAB-A152-BABE-B27A-6310047CF021}"/>
              </a:ext>
            </a:extLst>
          </p:cNvPr>
          <p:cNvSpPr>
            <a:spLocks noGrp="1"/>
          </p:cNvSpPr>
          <p:nvPr>
            <p:ph type="sldNum" sz="quarter" idx="4294967295"/>
          </p:nvPr>
        </p:nvSpPr>
        <p:spPr>
          <a:xfrm>
            <a:off x="10972800" y="630936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66666"/>
                </a:solidFill>
                <a:latin typeface="Calibri"/>
                <a:ea typeface="Calibri"/>
                <a:cs typeface="Calibri"/>
              </a:defRPr>
            </a:lvl1pPr>
          </a:lstStyle>
          <a:p>
            <a:pPr algn="l"/>
            <a:fld id="{F7021451-1387-4CA6-816F-3879F97B5CBC}" type="slidenum">
              <a:rPr lang="en-US" b="0"/>
              <a:t>28</a:t>
            </a:fld>
            <a:endParaRPr lang="en-US"/>
          </a:p>
        </p:txBody>
      </p:sp>
    </p:spTree>
    <p:extLst>
      <p:ext uri="{BB962C8B-B14F-4D97-AF65-F5344CB8AC3E}">
        <p14:creationId xmlns:p14="http://schemas.microsoft.com/office/powerpoint/2010/main" val="15066799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914400" y="731520"/>
            <a:ext cx="10360152" cy="731520"/>
          </a:xfrm>
          <a:prstGeom prst="rect">
            <a:avLst/>
          </a:prstGeom>
          <a:noFill/>
          <a:ln/>
        </p:spPr>
        <p:txBody>
          <a:bodyPr wrap="square" rtlCol="0" anchor="ctr"/>
          <a:lstStyle/>
          <a:p>
            <a:pPr marL="0" indent="0" algn="ctr">
              <a:buNone/>
            </a:pPr>
            <a:r>
              <a:rPr lang="en-US" sz="3600" b="1" dirty="0">
                <a:solidFill>
                  <a:srgbClr val="FFFFFF"/>
                </a:solidFill>
                <a:latin typeface="Trebuchet MS" pitchFamily="34" charset="0"/>
                <a:ea typeface="Trebuchet MS" pitchFamily="34" charset="-122"/>
                <a:cs typeface="Trebuchet MS" pitchFamily="34" charset="-120"/>
              </a:rPr>
              <a:t>Conclusion &amp; Prochaine Étape</a:t>
            </a:r>
            <a:endParaRPr lang="en-US" sz="3600" dirty="0"/>
          </a:p>
        </p:txBody>
      </p:sp>
      <p:sp>
        <p:nvSpPr>
          <p:cNvPr id="3" name="Shape 1"/>
          <p:cNvSpPr/>
          <p:nvPr/>
        </p:nvSpPr>
        <p:spPr>
          <a:xfrm>
            <a:off x="3657600" y="1554480"/>
            <a:ext cx="4873752" cy="36576"/>
          </a:xfrm>
          <a:prstGeom prst="rect">
            <a:avLst/>
          </a:prstGeom>
          <a:solidFill>
            <a:srgbClr val="E94560"/>
          </a:solidFill>
          <a:ln/>
        </p:spPr>
      </p:sp>
      <p:sp>
        <p:nvSpPr>
          <p:cNvPr id="4" name="Text 2"/>
          <p:cNvSpPr/>
          <p:nvPr/>
        </p:nvSpPr>
        <p:spPr>
          <a:xfrm>
            <a:off x="1371600" y="1828800"/>
            <a:ext cx="9445752" cy="457200"/>
          </a:xfrm>
          <a:prstGeom prst="rect">
            <a:avLst/>
          </a:prstGeom>
          <a:noFill/>
          <a:ln/>
        </p:spPr>
        <p:txBody>
          <a:bodyPr wrap="square" rtlCol="0" anchor="ctr"/>
          <a:lstStyle/>
          <a:p>
            <a:pPr marL="0" indent="0">
              <a:buNone/>
            </a:pPr>
            <a:r>
              <a:rPr lang="en-US" sz="2000" b="1" dirty="0">
                <a:solidFill>
                  <a:srgbClr val="E94560"/>
                </a:solidFill>
                <a:latin typeface="Trebuchet MS" pitchFamily="34" charset="0"/>
                <a:ea typeface="Trebuchet MS" pitchFamily="34" charset="-122"/>
                <a:cs typeface="Trebuchet MS" pitchFamily="34" charset="-120"/>
              </a:rPr>
              <a:t>Ce que nous </a:t>
            </a:r>
            <a:r>
              <a:rPr lang="en-US" sz="2000" b="1" dirty="0" err="1">
                <a:solidFill>
                  <a:srgbClr val="E94560"/>
                </a:solidFill>
                <a:latin typeface="Trebuchet MS" pitchFamily="34" charset="0"/>
                <a:ea typeface="Trebuchet MS" pitchFamily="34" charset="-122"/>
                <a:cs typeface="Trebuchet MS" pitchFamily="34" charset="-120"/>
              </a:rPr>
              <a:t>avons</a:t>
            </a:r>
            <a:r>
              <a:rPr lang="en-US" sz="2000" b="1" dirty="0">
                <a:solidFill>
                  <a:srgbClr val="E94560"/>
                </a:solidFill>
                <a:latin typeface="Trebuchet MS" pitchFamily="34" charset="0"/>
                <a:ea typeface="Trebuchet MS" pitchFamily="34" charset="-122"/>
                <a:cs typeface="Trebuchet MS" pitchFamily="34" charset="-120"/>
              </a:rPr>
              <a:t> </a:t>
            </a:r>
            <a:r>
              <a:rPr lang="en-US" sz="2000" b="1" dirty="0" err="1">
                <a:solidFill>
                  <a:srgbClr val="E94560"/>
                </a:solidFill>
                <a:latin typeface="Trebuchet MS" pitchFamily="34" charset="0"/>
                <a:ea typeface="Trebuchet MS" pitchFamily="34" charset="-122"/>
                <a:cs typeface="Trebuchet MS" pitchFamily="34" charset="-120"/>
              </a:rPr>
              <a:t>revu</a:t>
            </a:r>
            <a:r>
              <a:rPr lang="en-US" sz="2000" b="1" dirty="0">
                <a:solidFill>
                  <a:srgbClr val="E94560"/>
                </a:solidFill>
                <a:latin typeface="Trebuchet MS" pitchFamily="34" charset="0"/>
                <a:ea typeface="Trebuchet MS" pitchFamily="34" charset="-122"/>
                <a:cs typeface="Trebuchet MS" pitchFamily="34" charset="-120"/>
              </a:rPr>
              <a:t> aujourd'hui :</a:t>
            </a:r>
            <a:endParaRPr lang="en-US" sz="2000" dirty="0"/>
          </a:p>
        </p:txBody>
      </p:sp>
      <p:sp>
        <p:nvSpPr>
          <p:cNvPr id="5" name="Text 3"/>
          <p:cNvSpPr/>
          <p:nvPr/>
        </p:nvSpPr>
        <p:spPr>
          <a:xfrm>
            <a:off x="1371600" y="2286000"/>
            <a:ext cx="9445752" cy="2743200"/>
          </a:xfrm>
          <a:prstGeom prst="rect">
            <a:avLst/>
          </a:prstGeom>
          <a:noFill/>
          <a:ln/>
        </p:spPr>
        <p:txBody>
          <a:bodyPr wrap="square" rtlCol="0" anchor="t"/>
          <a:lstStyle/>
          <a:p>
            <a:pPr marL="342900" indent="-342900">
              <a:spcBef>
                <a:spcPts val="800"/>
              </a:spcBef>
              <a:buSzPct val="100000"/>
              <a:buChar char="•"/>
            </a:pPr>
            <a:r>
              <a:rPr lang="en-US" sz="1600" dirty="0">
                <a:solidFill>
                  <a:srgbClr val="F0F0F0"/>
                </a:solidFill>
                <a:latin typeface="Calibri" pitchFamily="34" charset="0"/>
                <a:ea typeface="Calibri" pitchFamily="34" charset="-122"/>
                <a:cs typeface="Calibri" pitchFamily="34" charset="-120"/>
              </a:rPr>
              <a:t>Le Deep Learning apprend des représentations automatiquement à partir de données brutes</a:t>
            </a:r>
            <a:endParaRPr lang="en-US" sz="1600" dirty="0"/>
          </a:p>
          <a:p>
            <a:pPr marL="342900" indent="-342900">
              <a:spcBef>
                <a:spcPts val="800"/>
              </a:spcBef>
              <a:buSzPct val="100000"/>
              <a:buChar char="•"/>
            </a:pPr>
            <a:r>
              <a:rPr lang="en-US" sz="1600" dirty="0">
                <a:solidFill>
                  <a:srgbClr val="F0F0F0"/>
                </a:solidFill>
                <a:latin typeface="Calibri" pitchFamily="34" charset="0"/>
                <a:ea typeface="Calibri" pitchFamily="34" charset="-122"/>
                <a:cs typeface="Calibri" pitchFamily="34" charset="-120"/>
              </a:rPr>
              <a:t>Les CNN excellent pour la vision (images, vidéo)</a:t>
            </a:r>
            <a:endParaRPr lang="en-US" sz="1600" dirty="0"/>
          </a:p>
          <a:p>
            <a:pPr marL="342900" indent="-342900">
              <a:spcBef>
                <a:spcPts val="800"/>
              </a:spcBef>
              <a:buSzPct val="100000"/>
              <a:buChar char="•"/>
            </a:pPr>
            <a:r>
              <a:rPr lang="en-US" sz="1600" dirty="0">
                <a:solidFill>
                  <a:srgbClr val="F0F0F0"/>
                </a:solidFill>
                <a:latin typeface="Calibri" pitchFamily="34" charset="0"/>
                <a:ea typeface="Calibri" pitchFamily="34" charset="-122"/>
                <a:cs typeface="Calibri" pitchFamily="34" charset="-120"/>
              </a:rPr>
              <a:t>Les RNN/LSTM traitent les données séquentielles (texte, séries temporelles)</a:t>
            </a:r>
            <a:endParaRPr lang="en-US" sz="1600" dirty="0"/>
          </a:p>
          <a:p>
            <a:pPr marL="342900" indent="-342900">
              <a:spcBef>
                <a:spcPts val="800"/>
              </a:spcBef>
              <a:buSzPct val="100000"/>
              <a:buChar char="•"/>
            </a:pPr>
            <a:r>
              <a:rPr lang="en-US" sz="1600" dirty="0">
                <a:solidFill>
                  <a:srgbClr val="F0F0F0"/>
                </a:solidFill>
                <a:latin typeface="Calibri" pitchFamily="34" charset="0"/>
                <a:ea typeface="Calibri" pitchFamily="34" charset="-122"/>
                <a:cs typeface="Calibri" pitchFamily="34" charset="-120"/>
              </a:rPr>
              <a:t>Les Transformers ont révolutionné l'IA et sont la base des LLM actuels</a:t>
            </a:r>
            <a:endParaRPr lang="en-US" sz="1600" dirty="0"/>
          </a:p>
          <a:p>
            <a:pPr marL="342900" indent="-342900">
              <a:spcBef>
                <a:spcPts val="800"/>
              </a:spcBef>
              <a:buSzPct val="100000"/>
              <a:buChar char="•"/>
            </a:pPr>
            <a:r>
              <a:rPr lang="en-US" sz="1600" dirty="0">
                <a:solidFill>
                  <a:srgbClr val="F0F0F0"/>
                </a:solidFill>
                <a:latin typeface="Calibri" pitchFamily="34" charset="0"/>
                <a:ea typeface="Calibri" pitchFamily="34" charset="-122"/>
                <a:cs typeface="Calibri" pitchFamily="34" charset="-120"/>
              </a:rPr>
              <a:t>TensorFlow, PyTorch et Hugging Face sont vos outils principaux</a:t>
            </a:r>
            <a:endParaRPr lang="en-US" sz="1600" dirty="0"/>
          </a:p>
        </p:txBody>
      </p:sp>
      <p:sp>
        <p:nvSpPr>
          <p:cNvPr id="6" name="Shape 4"/>
          <p:cNvSpPr/>
          <p:nvPr/>
        </p:nvSpPr>
        <p:spPr>
          <a:xfrm>
            <a:off x="1371600" y="5029200"/>
            <a:ext cx="9445752" cy="1097280"/>
          </a:xfrm>
          <a:prstGeom prst="rect">
            <a:avLst/>
          </a:prstGeom>
          <a:solidFill>
            <a:srgbClr val="0F3460"/>
          </a:solidFill>
          <a:ln/>
          <a:effectLst>
            <a:outerShdw blurRad="50800" dist="25400" dir="2700000" algn="bl" rotWithShape="0">
              <a:srgbClr val="000000">
                <a:alpha val="15000"/>
              </a:srgbClr>
            </a:outerShdw>
          </a:effectLst>
        </p:spPr>
      </p:sp>
      <p:sp>
        <p:nvSpPr>
          <p:cNvPr id="7" name="Text 5"/>
          <p:cNvSpPr/>
          <p:nvPr/>
        </p:nvSpPr>
        <p:spPr>
          <a:xfrm>
            <a:off x="1554480" y="5120640"/>
            <a:ext cx="9079992" cy="457200"/>
          </a:xfrm>
          <a:prstGeom prst="rect">
            <a:avLst/>
          </a:prstGeom>
          <a:noFill/>
          <a:ln/>
        </p:spPr>
        <p:txBody>
          <a:bodyPr wrap="square" rtlCol="0" anchor="ctr"/>
          <a:lstStyle/>
          <a:p>
            <a:pPr marL="0" indent="0">
              <a:buNone/>
            </a:pPr>
            <a:r>
              <a:rPr lang="en-US" sz="1800" b="1" dirty="0" err="1">
                <a:solidFill>
                  <a:srgbClr val="E94560"/>
                </a:solidFill>
                <a:latin typeface="Trebuchet MS" pitchFamily="34" charset="0"/>
                <a:ea typeface="Trebuchet MS" pitchFamily="34" charset="-122"/>
                <a:cs typeface="Trebuchet MS" pitchFamily="34" charset="-120"/>
              </a:rPr>
              <a:t>Prochaine</a:t>
            </a:r>
            <a:r>
              <a:rPr lang="en-US" b="1" dirty="0" err="1">
                <a:solidFill>
                  <a:srgbClr val="E94560"/>
                </a:solidFill>
                <a:latin typeface="Trebuchet MS" pitchFamily="34" charset="0"/>
                <a:ea typeface="Trebuchet MS" pitchFamily="34" charset="-122"/>
                <a:cs typeface="Trebuchet MS" pitchFamily="34" charset="-120"/>
              </a:rPr>
              <a:t>ment</a:t>
            </a:r>
            <a:r>
              <a:rPr lang="en-US" b="1" dirty="0">
                <a:solidFill>
                  <a:srgbClr val="E94560"/>
                </a:solidFill>
                <a:latin typeface="Trebuchet MS" pitchFamily="34" charset="0"/>
                <a:ea typeface="Trebuchet MS" pitchFamily="34" charset="-122"/>
                <a:cs typeface="Trebuchet MS" pitchFamily="34" charset="-120"/>
              </a:rPr>
              <a:t> </a:t>
            </a:r>
            <a:r>
              <a:rPr lang="en-US" sz="1800" b="1" dirty="0">
                <a:solidFill>
                  <a:srgbClr val="E94560"/>
                </a:solidFill>
                <a:latin typeface="Trebuchet MS" pitchFamily="34" charset="0"/>
                <a:ea typeface="Trebuchet MS" pitchFamily="34" charset="-122"/>
                <a:cs typeface="Trebuchet MS" pitchFamily="34" charset="-120"/>
              </a:rPr>
              <a:t>: Déployer et Monitorer ses Modèles IA</a:t>
            </a:r>
            <a:endParaRPr lang="en-US" sz="1800" dirty="0"/>
          </a:p>
        </p:txBody>
      </p:sp>
      <p:sp>
        <p:nvSpPr>
          <p:cNvPr id="8" name="Text 6"/>
          <p:cNvSpPr/>
          <p:nvPr/>
        </p:nvSpPr>
        <p:spPr>
          <a:xfrm>
            <a:off x="1554480" y="5577840"/>
            <a:ext cx="9079992" cy="457200"/>
          </a:xfrm>
          <a:prstGeom prst="rect">
            <a:avLst/>
          </a:prstGeom>
          <a:noFill/>
          <a:ln/>
        </p:spPr>
        <p:txBody>
          <a:bodyPr wrap="square" rtlCol="0" anchor="t"/>
          <a:lstStyle/>
          <a:p>
            <a:pPr marL="0" indent="0">
              <a:buNone/>
            </a:pPr>
            <a:r>
              <a:rPr lang="en-US" sz="1500" dirty="0">
                <a:solidFill>
                  <a:srgbClr val="F0F0F0"/>
                </a:solidFill>
                <a:latin typeface="Calibri" pitchFamily="34" charset="0"/>
                <a:ea typeface="Calibri" pitchFamily="34" charset="-122"/>
                <a:cs typeface="Calibri" pitchFamily="34" charset="-120"/>
              </a:rPr>
              <a:t>Comment servir vos modèles avec FastAPI, Flask et Django, et comment surveiller leur performance en production.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TotalTime>
  <Words>3364</Words>
  <Application>Microsoft Office PowerPoint</Application>
  <PresentationFormat>Grand écran</PresentationFormat>
  <Paragraphs>433</Paragraphs>
  <Slides>29</Slides>
  <Notes>29</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29</vt:i4>
      </vt:variant>
    </vt:vector>
  </HeadingPairs>
  <TitlesOfParts>
    <vt:vector size="33" baseType="lpstr">
      <vt:lpstr>Arial</vt:lpstr>
      <vt:lpstr>Calibri</vt:lpstr>
      <vt:lpstr>Trebuchet MS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Babacar Gueye</cp:lastModifiedBy>
  <cp:revision>8</cp:revision>
  <dcterms:created xsi:type="dcterms:W3CDTF">2026-05-23T07:42:54Z</dcterms:created>
  <dcterms:modified xsi:type="dcterms:W3CDTF">2026-05-26T09:28:19Z</dcterms:modified>
</cp:coreProperties>
</file>