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484705"/>
            <a:ext cx="10058400" cy="19800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</a:rPr>
              <a:t>Deep Learning</a:t>
            </a:r>
          </a:p>
          <a:p>
            <a:pPr algn="l">
              <a:spcAft>
                <a:spcPts val="1000"/>
              </a:spcAft>
            </a:pPr>
            <a:r>
              <a:rPr sz="2400" b="0" i="0" dirty="0">
                <a:solidFill>
                  <a:srgbClr val="BFD4F2"/>
                </a:solidFill>
              </a:rPr>
              <a:t>Session 1 — Introduction &amp; bases</a:t>
            </a:r>
          </a:p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DDE6F5"/>
                </a:solidFill>
              </a:rPr>
              <a:t>M2 DMIA — Data Management &amp; Intelligence </a:t>
            </a:r>
            <a:r>
              <a:rPr sz="1800" b="0" i="0" dirty="0" err="1">
                <a:solidFill>
                  <a:srgbClr val="DDE6F5"/>
                </a:solidFill>
              </a:rPr>
              <a:t>Artificielle</a:t>
            </a:r>
            <a:endParaRPr sz="1800" b="0" i="0" dirty="0">
              <a:solidFill>
                <a:srgbClr val="DDE6F5"/>
              </a:solidFill>
            </a:endParaRPr>
          </a:p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DDE6F5"/>
                </a:solidFill>
              </a:rPr>
              <a:t> · Durée 3h30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Au programme aujourd'hui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27048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527048"/>
            <a:ext cx="3383279" cy="1097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91640"/>
            <a:ext cx="316382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A5C"/>
                </a:solidFill>
              </a:rPr>
              <a:t>Deep Learning</a:t>
            </a:r>
          </a:p>
          <a:p>
            <a:pPr algn="l"/>
            <a:r>
              <a:rPr sz="1250">
                <a:solidFill>
                  <a:srgbClr val="5B636E"/>
                </a:solidFill>
              </a:rPr>
              <a:t>Définition, intuition et place dans l'IA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27048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527048"/>
            <a:ext cx="3383279" cy="109728"/>
          </a:xfrm>
          <a:prstGeom prst="roundRect">
            <a:avLst/>
          </a:prstGeom>
          <a:solidFill>
            <a:srgbClr val="2E9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8848" y="1691640"/>
            <a:ext cx="316382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A5C"/>
                </a:solidFill>
              </a:rPr>
              <a:t>ML vs DL</a:t>
            </a:r>
          </a:p>
          <a:p>
            <a:pPr algn="l"/>
            <a:r>
              <a:rPr sz="1250">
                <a:solidFill>
                  <a:srgbClr val="5B636E"/>
                </a:solidFill>
              </a:rPr>
              <a:t>Quand l'un bat l'autre, et pourquoi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27048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19" y="1527048"/>
            <a:ext cx="3383279" cy="109728"/>
          </a:xfrm>
          <a:prstGeom prst="round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7" y="1691640"/>
            <a:ext cx="316382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A5C"/>
                </a:solidFill>
              </a:rPr>
              <a:t>Le neurone</a:t>
            </a:r>
          </a:p>
          <a:p>
            <a:pPr algn="l"/>
            <a:r>
              <a:rPr sz="1250">
                <a:solidFill>
                  <a:srgbClr val="5B636E"/>
                </a:solidFill>
              </a:rPr>
              <a:t>De wᵀx+b au réseau profond (MLP)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90088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2990088"/>
            <a:ext cx="3383279" cy="109728"/>
          </a:xfrm>
          <a:prstGeom prst="roundRect">
            <a:avLst/>
          </a:prstGeom>
          <a:solidFill>
            <a:srgbClr val="7A5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154680"/>
            <a:ext cx="316382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A5C"/>
                </a:solidFill>
              </a:rPr>
              <a:t>Rétropropagation</a:t>
            </a:r>
          </a:p>
          <a:p>
            <a:pPr algn="l"/>
            <a:r>
              <a:rPr sz="1250">
                <a:solidFill>
                  <a:srgbClr val="5B636E"/>
                </a:solidFill>
              </a:rPr>
              <a:t>Comment un réseau apprend réellement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990088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0" y="2990088"/>
            <a:ext cx="3383279" cy="109728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98848" y="3154680"/>
            <a:ext cx="316382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A5C"/>
                </a:solidFill>
              </a:rPr>
              <a:t>Écosystème</a:t>
            </a:r>
          </a:p>
          <a:p>
            <a:pPr algn="l"/>
            <a:r>
              <a:rPr sz="1250">
                <a:solidFill>
                  <a:srgbClr val="5B636E"/>
                </a:solidFill>
              </a:rPr>
              <a:t>PyTorch, Keras, Colab, scikit-learn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990088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19" y="2990088"/>
            <a:ext cx="3383279" cy="109728"/>
          </a:xfrm>
          <a:prstGeom prst="round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56447" y="3154680"/>
            <a:ext cx="316382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A5C"/>
                </a:solidFill>
              </a:rPr>
              <a:t>TP MNIST</a:t>
            </a:r>
          </a:p>
          <a:p>
            <a:pPr algn="l"/>
            <a:r>
              <a:rPr sz="1250">
                <a:solidFill>
                  <a:srgbClr val="5B636E"/>
                </a:solidFill>
              </a:rPr>
              <a:t>Entraîner votre 1er réseau aujourd'hui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881360" cy="822960"/>
          </a:xfrm>
          <a:prstGeom prst="round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09160"/>
            <a:ext cx="82296" cy="822960"/>
          </a:xfrm>
          <a:prstGeom prst="rect">
            <a:avLst/>
          </a:prstGeom>
          <a:solidFill>
            <a:srgbClr val="2E9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7" y="4951363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Objectif de la séance : </a:t>
            </a:r>
            <a:r>
              <a:rPr sz="1600" dirty="0" err="1">
                <a:solidFill>
                  <a:srgbClr val="22262B"/>
                </a:solidFill>
              </a:rPr>
              <a:t>comprendre</a:t>
            </a:r>
            <a:r>
              <a:rPr sz="1600" dirty="0">
                <a:solidFill>
                  <a:srgbClr val="22262B"/>
                </a:solidFill>
              </a:rPr>
              <a:t> le pipeline </a:t>
            </a:r>
            <a:r>
              <a:rPr sz="1600" dirty="0" err="1">
                <a:solidFill>
                  <a:srgbClr val="22262B"/>
                </a:solidFill>
              </a:rPr>
              <a:t>complet</a:t>
            </a:r>
            <a:r>
              <a:rPr sz="1600" dirty="0">
                <a:solidFill>
                  <a:srgbClr val="22262B"/>
                </a:solidFill>
              </a:rPr>
              <a:t> et </a:t>
            </a:r>
            <a:r>
              <a:rPr sz="1600" dirty="0" err="1">
                <a:solidFill>
                  <a:srgbClr val="22262B"/>
                </a:solidFill>
              </a:rPr>
              <a:t>entraîner</a:t>
            </a:r>
            <a:r>
              <a:rPr sz="1600" dirty="0">
                <a:solidFill>
                  <a:srgbClr val="22262B"/>
                </a:solidFill>
              </a:rPr>
              <a:t> un réseau de A à 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Le module en un coup d'œil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28 h réparties sur 8 sessions : théorie + démonstrations + TP guidés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Progression : DL fondamental → CNN → RNN/LSTM → auto-encodeurs → GAN → transfer learning → déploiement &amp; éthique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Deux frameworks en parallèle : PyTorch (recherche) et Keras/TensorFlow (production)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895344"/>
          <a:ext cx="1069848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Évaluation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Poids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Quand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Projet fil rouge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50 %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choisi en S2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Examen écrit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30 %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dernière séance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TP &amp; participation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20 %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continu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833871"/>
            <a:ext cx="10881360" cy="822960"/>
          </a:xfrm>
          <a:prstGeom prst="roundRect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5833871"/>
            <a:ext cx="82296" cy="822960"/>
          </a:xfrm>
          <a:prstGeom prst="rect">
            <a:avLst/>
          </a:prstGeom>
          <a:solidFill>
            <a:srgbClr val="7A5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6076074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Le </a:t>
            </a:r>
            <a:r>
              <a:rPr sz="1600" dirty="0" err="1">
                <a:solidFill>
                  <a:srgbClr val="22262B"/>
                </a:solidFill>
              </a:rPr>
              <a:t>sujet</a:t>
            </a:r>
            <a:r>
              <a:rPr sz="1600" dirty="0">
                <a:solidFill>
                  <a:srgbClr val="22262B"/>
                </a:solidFill>
              </a:rPr>
              <a:t> de </a:t>
            </a:r>
            <a:r>
              <a:rPr sz="1600" dirty="0" err="1">
                <a:solidFill>
                  <a:srgbClr val="22262B"/>
                </a:solidFill>
              </a:rPr>
              <a:t>projet</a:t>
            </a:r>
            <a:r>
              <a:rPr sz="1600" dirty="0">
                <a:solidFill>
                  <a:srgbClr val="22262B"/>
                </a:solidFill>
              </a:rPr>
              <a:t> est </a:t>
            </a:r>
            <a:r>
              <a:rPr sz="1600" dirty="0" err="1">
                <a:solidFill>
                  <a:srgbClr val="22262B"/>
                </a:solidFill>
              </a:rPr>
              <a:t>choisi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dès</a:t>
            </a:r>
            <a:r>
              <a:rPr sz="1600" dirty="0">
                <a:solidFill>
                  <a:srgbClr val="22262B"/>
                </a:solidFill>
              </a:rPr>
              <a:t> la Session 2 : </a:t>
            </a:r>
            <a:r>
              <a:rPr sz="1600" dirty="0" err="1">
                <a:solidFill>
                  <a:srgbClr val="22262B"/>
                </a:solidFill>
              </a:rPr>
              <a:t>commencez</a:t>
            </a:r>
            <a:r>
              <a:rPr sz="1600" dirty="0">
                <a:solidFill>
                  <a:srgbClr val="22262B"/>
                </a:solidFill>
              </a:rPr>
              <a:t> à y </a:t>
            </a:r>
            <a:r>
              <a:rPr sz="1600" dirty="0" err="1">
                <a:solidFill>
                  <a:srgbClr val="22262B"/>
                </a:solidFill>
              </a:rPr>
              <a:t>réfléchir</a:t>
            </a:r>
            <a:r>
              <a:rPr sz="1600" dirty="0">
                <a:solidFill>
                  <a:srgbClr val="22262B"/>
                </a:solidFill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Situer le Deep Learning dans l'IA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Le DL est un sous-ensemble du Machine Learning, lui-même un sous-ensemble de l'IA.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40864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Intelligence Artificielle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tout système « intelligent »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78224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25696" y="2340864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Machine Learning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apprend à partir de données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72399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19871" y="2340864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Deep Learning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réseaux de neurones profonds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39896"/>
            <a:ext cx="10881360" cy="822960"/>
          </a:xfrm>
          <a:prstGeom prst="roundRect">
            <a:avLst/>
          </a:prstGeom>
          <a:solidFill>
            <a:srgbClr val="E7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3739896"/>
            <a:ext cx="82296" cy="82296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982099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Chaque</a:t>
            </a:r>
            <a:r>
              <a:rPr sz="1600" dirty="0">
                <a:solidFill>
                  <a:srgbClr val="22262B"/>
                </a:solidFill>
              </a:rPr>
              <a:t> cercle est </a:t>
            </a:r>
            <a:r>
              <a:rPr sz="1600" dirty="0" err="1">
                <a:solidFill>
                  <a:srgbClr val="22262B"/>
                </a:solidFill>
              </a:rPr>
              <a:t>inclus</a:t>
            </a:r>
            <a:r>
              <a:rPr sz="1600" dirty="0">
                <a:solidFill>
                  <a:srgbClr val="22262B"/>
                </a:solidFill>
              </a:rPr>
              <a:t> dans le </a:t>
            </a:r>
            <a:r>
              <a:rPr sz="1600" dirty="0" err="1">
                <a:solidFill>
                  <a:srgbClr val="22262B"/>
                </a:solidFill>
              </a:rPr>
              <a:t>précédent</a:t>
            </a:r>
            <a:r>
              <a:rPr sz="1600" dirty="0">
                <a:solidFill>
                  <a:srgbClr val="22262B"/>
                </a:solidFill>
              </a:rPr>
              <a:t> : tout DL est du ML, </a:t>
            </a:r>
            <a:r>
              <a:rPr sz="1600" dirty="0" err="1">
                <a:solidFill>
                  <a:srgbClr val="22262B"/>
                </a:solidFill>
              </a:rPr>
              <a:t>mais</a:t>
            </a:r>
            <a:r>
              <a:rPr sz="1600" dirty="0">
                <a:solidFill>
                  <a:srgbClr val="22262B"/>
                </a:solidFill>
              </a:rPr>
              <a:t> tout ML </a:t>
            </a:r>
            <a:r>
              <a:rPr sz="1600" dirty="0" err="1">
                <a:solidFill>
                  <a:srgbClr val="22262B"/>
                </a:solidFill>
              </a:rPr>
              <a:t>n'est</a:t>
            </a:r>
            <a:r>
              <a:rPr sz="1600" dirty="0">
                <a:solidFill>
                  <a:srgbClr val="22262B"/>
                </a:solidFill>
              </a:rPr>
              <a:t> pas du DL.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</a:rPr>
              <a:t>1. Qu'est-ce que le Deep Learning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Définition &amp; idée clé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Le Deep Learning est un Machine Learning fondé sur des réseaux de neurones profonds : plusieurs couches empilées qui transforment progressivement la donnée.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401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L'idée centrale est l'apprentissage de représentations : le modèle découvre lui-même les caractéristiques (features) pertinentes, sans qu'on les programme.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86783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pixels bruts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image 28×28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78224" y="4302251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25696" y="3986783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contours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1ʳᵉ couche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772399" y="4302251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19871" y="3986783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formes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couches moyennes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61888" y="4910327"/>
            <a:ext cx="237744" cy="393192"/>
          </a:xfrm>
          <a:prstGeom prst="down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5358383"/>
            <a:ext cx="5157216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objets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couches profondes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5673851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72783" y="5358383"/>
            <a:ext cx="5157216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"chat"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décision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Pourquoi le DL explose maintenant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Trois moteurs ont convergé pour rendre les réseaux profonds enfin entraînables.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95144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295144"/>
            <a:ext cx="3383279" cy="1097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3163824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42A5C"/>
                </a:solidFill>
              </a:rPr>
              <a:t>Données</a:t>
            </a:r>
          </a:p>
          <a:p>
            <a:pPr algn="l"/>
            <a:r>
              <a:rPr sz="1250" dirty="0">
                <a:solidFill>
                  <a:srgbClr val="5B636E"/>
                </a:solidFill>
              </a:rPr>
              <a:t>Web, </a:t>
            </a:r>
            <a:r>
              <a:rPr sz="1250" dirty="0" err="1">
                <a:solidFill>
                  <a:srgbClr val="5B636E"/>
                </a:solidFill>
              </a:rPr>
              <a:t>capteurs</a:t>
            </a:r>
            <a:r>
              <a:rPr sz="1250" dirty="0">
                <a:solidFill>
                  <a:srgbClr val="5B636E"/>
                </a:solidFill>
              </a:rPr>
              <a:t>, ImageNet</a:t>
            </a:r>
            <a:r>
              <a:rPr lang="fr-FR" sz="1250" dirty="0">
                <a:solidFill>
                  <a:srgbClr val="5B636E"/>
                </a:solidFill>
              </a:rPr>
              <a:t>,</a:t>
            </a:r>
            <a:r>
              <a:rPr sz="1250" dirty="0">
                <a:solidFill>
                  <a:srgbClr val="5B636E"/>
                </a:solidFill>
              </a:rPr>
              <a:t> des volumes massifs et </a:t>
            </a:r>
            <a:r>
              <a:rPr sz="1250" dirty="0" err="1">
                <a:solidFill>
                  <a:srgbClr val="5B636E"/>
                </a:solidFill>
              </a:rPr>
              <a:t>étiquetés</a:t>
            </a:r>
            <a:endParaRPr sz="1250" dirty="0">
              <a:solidFill>
                <a:srgbClr val="5B636E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2295144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2295144"/>
            <a:ext cx="3383279" cy="109728"/>
          </a:xfrm>
          <a:prstGeom prst="roundRect">
            <a:avLst/>
          </a:prstGeom>
          <a:solidFill>
            <a:srgbClr val="2E9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2459736"/>
            <a:ext cx="3163824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A5C"/>
                </a:solidFill>
              </a:rPr>
              <a:t>Calcul</a:t>
            </a:r>
          </a:p>
          <a:p>
            <a:pPr algn="l"/>
            <a:r>
              <a:rPr sz="1250">
                <a:solidFill>
                  <a:srgbClr val="5B636E"/>
                </a:solidFill>
              </a:rPr>
              <a:t>GPU/TPU, parallélisme massif des produits matriciels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295144"/>
            <a:ext cx="3383279" cy="123444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D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19" y="2295144"/>
            <a:ext cx="3383279" cy="109728"/>
          </a:xfrm>
          <a:prstGeom prst="round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7" y="2459736"/>
            <a:ext cx="3163824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rgbClr val="142A5C"/>
                </a:solidFill>
              </a:rPr>
              <a:t>Algorithmes</a:t>
            </a:r>
            <a:endParaRPr sz="1600" b="1" dirty="0">
              <a:solidFill>
                <a:srgbClr val="142A5C"/>
              </a:solidFill>
            </a:endParaRPr>
          </a:p>
          <a:p>
            <a:pPr algn="l"/>
            <a:r>
              <a:rPr sz="1250" dirty="0" err="1">
                <a:solidFill>
                  <a:srgbClr val="5B636E"/>
                </a:solidFill>
              </a:rPr>
              <a:t>ReLU</a:t>
            </a:r>
            <a:r>
              <a:rPr sz="1250" dirty="0">
                <a:solidFill>
                  <a:srgbClr val="5B636E"/>
                </a:solidFill>
              </a:rPr>
              <a:t>, Dropout, </a:t>
            </a:r>
            <a:r>
              <a:rPr sz="1250" dirty="0" err="1">
                <a:solidFill>
                  <a:srgbClr val="5B636E"/>
                </a:solidFill>
              </a:rPr>
              <a:t>BatchNorm</a:t>
            </a:r>
            <a:r>
              <a:rPr sz="1250" dirty="0">
                <a:solidFill>
                  <a:srgbClr val="5B636E"/>
                </a:solidFill>
              </a:rPr>
              <a:t>, Adam  </a:t>
            </a:r>
            <a:r>
              <a:rPr sz="1250" dirty="0" err="1">
                <a:solidFill>
                  <a:srgbClr val="5B636E"/>
                </a:solidFill>
              </a:rPr>
              <a:t>l'entraînement</a:t>
            </a:r>
            <a:r>
              <a:rPr sz="1250" dirty="0">
                <a:solidFill>
                  <a:srgbClr val="5B636E"/>
                </a:solidFill>
              </a:rPr>
              <a:t> </a:t>
            </a:r>
            <a:r>
              <a:rPr sz="1250" dirty="0" err="1">
                <a:solidFill>
                  <a:srgbClr val="5B636E"/>
                </a:solidFill>
              </a:rPr>
              <a:t>stabilisé</a:t>
            </a:r>
            <a:endParaRPr sz="1250" dirty="0">
              <a:solidFill>
                <a:srgbClr val="5B636E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3922775"/>
          <a:ext cx="10698480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Année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Jalon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1958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Perceptron (Rosenblatt)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2012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AlexNet gagne ImageNet → révolution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2017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Transformers (« Attention is all you need »)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2020+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LLM, modèles de diffusion, IA générative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</a:rPr>
              <a:t>2. ML classique vs Deep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La différence fondamentale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Tout se joue sur qui fabrique les features : l'ingénieur, ou le modèle.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40864"/>
            <a:ext cx="5157216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ML classique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features à la main → modèle → prédiction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25312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72783" y="2340864"/>
            <a:ext cx="5157216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Deep Learning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représentation apprise + modèle → prédiction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648456"/>
          <a:ext cx="10698480" cy="25237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ML classique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Deep Learning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Features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conçues manuellement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apprises automatiquement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Volume de données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peu peut suffire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beaucoup nécessaire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Matériel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CPU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GPU / TPU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Interprétabilité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bonne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souvent faible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Type de données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tabulaire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image, son, texte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Quand utiliser quoi 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30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Données tabulaires, volume modéré → XGBoost / Random Forest gagnent souvent, plus simples et interprétables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Données non structurées (image, son, texte) + gros volume → le Deep Learning domine largement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En pratique : commencer simple, puis monter en complexité si le besoin et les données le justifient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65576"/>
            <a:ext cx="10881360" cy="822960"/>
          </a:xfrm>
          <a:prstGeom prst="round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3465576"/>
            <a:ext cx="82296" cy="822960"/>
          </a:xfrm>
          <a:prstGeom prst="rect">
            <a:avLst/>
          </a:prstGeom>
          <a:solidFill>
            <a:srgbClr val="D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3707779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Le DL </a:t>
            </a:r>
            <a:r>
              <a:rPr sz="1600" dirty="0" err="1">
                <a:solidFill>
                  <a:srgbClr val="22262B"/>
                </a:solidFill>
              </a:rPr>
              <a:t>n'est</a:t>
            </a:r>
            <a:r>
              <a:rPr sz="1600" dirty="0">
                <a:solidFill>
                  <a:srgbClr val="22262B"/>
                </a:solidFill>
              </a:rPr>
              <a:t> pas </a:t>
            </a:r>
            <a:r>
              <a:rPr sz="1600" dirty="0" err="1">
                <a:solidFill>
                  <a:srgbClr val="22262B"/>
                </a:solidFill>
              </a:rPr>
              <a:t>toujours</a:t>
            </a:r>
            <a:r>
              <a:rPr sz="1600" dirty="0">
                <a:solidFill>
                  <a:srgbClr val="22262B"/>
                </a:solidFill>
              </a:rPr>
              <a:t> la bonne </a:t>
            </a:r>
            <a:r>
              <a:rPr sz="1600" dirty="0" err="1">
                <a:solidFill>
                  <a:srgbClr val="22262B"/>
                </a:solidFill>
              </a:rPr>
              <a:t>réponse</a:t>
            </a:r>
            <a:r>
              <a:rPr sz="1600" dirty="0">
                <a:solidFill>
                  <a:srgbClr val="22262B"/>
                </a:solidFill>
              </a:rPr>
              <a:t>. On </a:t>
            </a:r>
            <a:r>
              <a:rPr sz="1600" dirty="0" err="1">
                <a:solidFill>
                  <a:srgbClr val="22262B"/>
                </a:solidFill>
              </a:rPr>
              <a:t>choisit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l'outil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adapté</a:t>
            </a:r>
            <a:r>
              <a:rPr sz="1600" dirty="0">
                <a:solidFill>
                  <a:srgbClr val="22262B"/>
                </a:solidFill>
              </a:rPr>
              <a:t> au </a:t>
            </a:r>
            <a:r>
              <a:rPr sz="1600" dirty="0" err="1">
                <a:solidFill>
                  <a:srgbClr val="22262B"/>
                </a:solidFill>
              </a:rPr>
              <a:t>problème</a:t>
            </a:r>
            <a:r>
              <a:rPr sz="1600" dirty="0">
                <a:solidFill>
                  <a:srgbClr val="22262B"/>
                </a:solidFill>
              </a:rPr>
              <a:t>, pas </a:t>
            </a:r>
            <a:r>
              <a:rPr sz="1600" dirty="0" err="1">
                <a:solidFill>
                  <a:srgbClr val="22262B"/>
                </a:solidFill>
              </a:rPr>
              <a:t>l'inverse</a:t>
            </a:r>
            <a:r>
              <a:rPr sz="1600" dirty="0">
                <a:solidFill>
                  <a:srgbClr val="22262B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</a:rPr>
              <a:t>3. Le neurone &amp; le réseau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Le neurone artificiel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Un neurone calcule une somme pondérée de ses entrées, ajoute un biais, puis applique une non-linéarité.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4086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entrées x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x₁ … xₙ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02152" y="234086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z = wᵀx + b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combinaison linéaire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72783" y="234086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φ(z)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activation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95943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43415" y="234086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sortie a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vers la couche suivante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48456"/>
            <a:ext cx="10881360" cy="1777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w : poids appris · b : biais · φ : fonction d'activation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78224"/>
            <a:ext cx="10881360" cy="1133856"/>
          </a:xfrm>
          <a:prstGeom prst="roundRect">
            <a:avLst/>
          </a:prstGeom>
          <a:solidFill>
            <a:srgbClr val="E7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078224"/>
            <a:ext cx="82296" cy="1133856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4352764"/>
            <a:ext cx="10561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Sans non-</a:t>
            </a:r>
            <a:r>
              <a:rPr sz="1600" dirty="0" err="1">
                <a:solidFill>
                  <a:srgbClr val="22262B"/>
                </a:solidFill>
              </a:rPr>
              <a:t>linéarité</a:t>
            </a:r>
            <a:r>
              <a:rPr sz="1600" dirty="0">
                <a:solidFill>
                  <a:srgbClr val="22262B"/>
                </a:solidFill>
              </a:rPr>
              <a:t>, </a:t>
            </a:r>
            <a:r>
              <a:rPr sz="1600" dirty="0" err="1">
                <a:solidFill>
                  <a:srgbClr val="22262B"/>
                </a:solidFill>
              </a:rPr>
              <a:t>empiler</a:t>
            </a:r>
            <a:r>
              <a:rPr sz="1600" dirty="0">
                <a:solidFill>
                  <a:srgbClr val="22262B"/>
                </a:solidFill>
              </a:rPr>
              <a:t> des couches </a:t>
            </a:r>
            <a:r>
              <a:rPr sz="1600" dirty="0" err="1">
                <a:solidFill>
                  <a:srgbClr val="22262B"/>
                </a:solidFill>
              </a:rPr>
              <a:t>linéaires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revient</a:t>
            </a:r>
            <a:r>
              <a:rPr sz="1600" dirty="0">
                <a:solidFill>
                  <a:srgbClr val="22262B"/>
                </a:solidFill>
              </a:rPr>
              <a:t> à </a:t>
            </a:r>
            <a:r>
              <a:rPr sz="1600" dirty="0" err="1">
                <a:solidFill>
                  <a:srgbClr val="22262B"/>
                </a:solidFill>
              </a:rPr>
              <a:t>une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seule</a:t>
            </a:r>
            <a:r>
              <a:rPr sz="1600" dirty="0">
                <a:solidFill>
                  <a:srgbClr val="22262B"/>
                </a:solidFill>
              </a:rPr>
              <a:t> couche. </a:t>
            </a:r>
            <a:r>
              <a:rPr sz="1600" dirty="0" err="1">
                <a:solidFill>
                  <a:srgbClr val="22262B"/>
                </a:solidFill>
              </a:rPr>
              <a:t>C'est</a:t>
            </a:r>
            <a:r>
              <a:rPr sz="1600" dirty="0">
                <a:solidFill>
                  <a:srgbClr val="22262B"/>
                </a:solidFill>
              </a:rPr>
              <a:t> φ (</a:t>
            </a:r>
            <a:r>
              <a:rPr sz="1600" dirty="0" err="1">
                <a:solidFill>
                  <a:srgbClr val="22262B"/>
                </a:solidFill>
              </a:rPr>
              <a:t>ReLU</a:t>
            </a:r>
            <a:r>
              <a:rPr sz="1600" dirty="0">
                <a:solidFill>
                  <a:srgbClr val="22262B"/>
                </a:solidFill>
              </a:rPr>
              <a:t>, </a:t>
            </a:r>
            <a:r>
              <a:rPr sz="1600" dirty="0" err="1">
                <a:solidFill>
                  <a:srgbClr val="22262B"/>
                </a:solidFill>
              </a:rPr>
              <a:t>sigmoïde</a:t>
            </a:r>
            <a:r>
              <a:rPr sz="1600" dirty="0">
                <a:solidFill>
                  <a:srgbClr val="22262B"/>
                </a:solidFill>
              </a:rPr>
              <a:t>…) qui </a:t>
            </a:r>
            <a:r>
              <a:rPr sz="1600" dirty="0" err="1">
                <a:solidFill>
                  <a:srgbClr val="22262B"/>
                </a:solidFill>
              </a:rPr>
              <a:t>donne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sa</a:t>
            </a:r>
            <a:r>
              <a:rPr sz="1600" dirty="0">
                <a:solidFill>
                  <a:srgbClr val="22262B"/>
                </a:solidFill>
              </a:rPr>
              <a:t> puissance au réseau.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Du neurone au réseau (MLP)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Un Perceptron multicouche enchaîne des couches : chaque neurone d'une couche est connecté à tous ceux de la suivante (couches *denses*).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70048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Entrée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784 (pixels)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985516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02152" y="2670048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Cachée 1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128 · ReLU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2985516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72783" y="2670048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Cachée 2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64 · ReLU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95943" y="2985516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43415" y="2670048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Sortie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10 · softmax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108813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Couches cachées : activation ReLU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Sortie multi-classes : softmax + perte cross-entropy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Sortie de régression : activation linéaire + perte 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</a:rPr>
              <a:t>4. La rétropropagation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Entraîner = une boucle répétée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L'entraînement répète quatre étapes sur des mini-batches, pendant plusieurs époques.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8658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Forward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calculer ŷ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70205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02152" y="238658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Perte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L = perte(ŷ, y)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270205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72783" y="238658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Backward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∂L/∂w (chaîne)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95943" y="270205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43415" y="238658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Update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w ← w − η·∂L/∂w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731520" y="3419856"/>
            <a:ext cx="10698480" cy="274320"/>
          </a:xfrm>
          <a:prstGeom prst="leftArrow">
            <a:avLst/>
          </a:prstGeom>
          <a:solidFill>
            <a:srgbClr val="C8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438144"/>
            <a:ext cx="10698480" cy="25603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/>
            <a:r>
              <a:rPr sz="1100" b="1" i="0">
                <a:solidFill>
                  <a:srgbClr val="142A5C"/>
                </a:solidFill>
              </a:rPr>
              <a:t>répéter à chaque mini-batch / époque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14215"/>
            <a:ext cx="10881360" cy="822960"/>
          </a:xfrm>
          <a:prstGeom prst="roundRect">
            <a:avLst/>
          </a:prstGeom>
          <a:solidFill>
            <a:srgbClr val="E7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014215"/>
            <a:ext cx="82296" cy="82296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7" y="4256418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Une époque = un passage </a:t>
            </a:r>
            <a:r>
              <a:rPr sz="1600" dirty="0" err="1">
                <a:solidFill>
                  <a:srgbClr val="22262B"/>
                </a:solidFill>
              </a:rPr>
              <a:t>complet</a:t>
            </a:r>
            <a:r>
              <a:rPr sz="1600" dirty="0">
                <a:solidFill>
                  <a:srgbClr val="22262B"/>
                </a:solidFill>
              </a:rPr>
              <a:t> sur le jeu </a:t>
            </a:r>
            <a:r>
              <a:rPr sz="1600" dirty="0" err="1">
                <a:solidFill>
                  <a:srgbClr val="22262B"/>
                </a:solidFill>
              </a:rPr>
              <a:t>d'entraînement</a:t>
            </a:r>
            <a:r>
              <a:rPr sz="1600" dirty="0">
                <a:solidFill>
                  <a:srgbClr val="22262B"/>
                </a:solidFill>
              </a:rPr>
              <a:t>. On </a:t>
            </a:r>
            <a:r>
              <a:rPr sz="1600" dirty="0" err="1">
                <a:solidFill>
                  <a:srgbClr val="22262B"/>
                </a:solidFill>
              </a:rPr>
              <a:t>en</a:t>
            </a:r>
            <a:r>
              <a:rPr sz="1600" dirty="0">
                <a:solidFill>
                  <a:srgbClr val="22262B"/>
                </a:solidFill>
              </a:rPr>
              <a:t> fait </a:t>
            </a:r>
            <a:r>
              <a:rPr sz="1600" dirty="0" err="1">
                <a:solidFill>
                  <a:srgbClr val="22262B"/>
                </a:solidFill>
              </a:rPr>
              <a:t>plusieurs</a:t>
            </a:r>
            <a:r>
              <a:rPr sz="1600" dirty="0">
                <a:solidFill>
                  <a:srgbClr val="22262B"/>
                </a:solidFill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La règle de chaîne en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La rétropropagation applique la règle de dérivation en chaîne pour propager l'erreur de la sortie vers l'entrée.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624328"/>
            <a:ext cx="5669280" cy="488289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Perte L à la sortie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61888" y="3130905"/>
            <a:ext cx="237744" cy="274320"/>
          </a:xfrm>
          <a:prstGeom prst="down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6120" y="3386937"/>
            <a:ext cx="5669280" cy="488289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∂L/∂a (gradient de sortie)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61888" y="3893515"/>
            <a:ext cx="237744" cy="274320"/>
          </a:xfrm>
          <a:prstGeom prst="down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46120" y="4149547"/>
            <a:ext cx="5669280" cy="488289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∂a/∂z (dérivée de l'activation)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61888" y="4656124"/>
            <a:ext cx="237744" cy="274320"/>
          </a:xfrm>
          <a:prstGeom prst="down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4912156"/>
            <a:ext cx="5669280" cy="488289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∂z/∂w (gradient sur les poids)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61888" y="5418734"/>
            <a:ext cx="237744" cy="274320"/>
          </a:xfrm>
          <a:prstGeom prst="down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46120" y="5674766"/>
            <a:ext cx="5669280" cy="488289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mise à jour des poids 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Descente de gradient : les variantes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Le choix de la taille de batch arbitre entre stabilité et vitesse.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49424"/>
          <a:ext cx="1069848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Méthode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Données / pas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Caractéristique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Batch GD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tout le jeu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précis mais lent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SGD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1 exemple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rapide mais bruité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Mini-batch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32 – 128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le standard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96512"/>
            <a:ext cx="10881360" cy="210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Le bruit du SGD aide parfois à sortir des minima locaux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Optimiseurs avancés : Momentum, RMSprop, Adam *(détaillés en S2)*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157216"/>
            <a:ext cx="10881360" cy="822960"/>
          </a:xfrm>
          <a:prstGeom prst="roundRect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5157216"/>
            <a:ext cx="82296" cy="822960"/>
          </a:xfrm>
          <a:prstGeom prst="rect">
            <a:avLst/>
          </a:prstGeom>
          <a:solidFill>
            <a:srgbClr val="7A5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5399419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Hyperparamètre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clé</a:t>
            </a:r>
            <a:r>
              <a:rPr sz="1600" dirty="0">
                <a:solidFill>
                  <a:srgbClr val="22262B"/>
                </a:solidFill>
              </a:rPr>
              <a:t> : le </a:t>
            </a:r>
            <a:r>
              <a:rPr sz="1600" dirty="0" err="1">
                <a:solidFill>
                  <a:srgbClr val="22262B"/>
                </a:solidFill>
              </a:rPr>
              <a:t>taux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d'apprentissage</a:t>
            </a:r>
            <a:r>
              <a:rPr sz="1600" dirty="0">
                <a:solidFill>
                  <a:srgbClr val="22262B"/>
                </a:solidFill>
              </a:rPr>
              <a:t> η. Trop grand → divergence ; trop petit → </a:t>
            </a:r>
            <a:r>
              <a:rPr sz="1600" dirty="0" err="1">
                <a:solidFill>
                  <a:srgbClr val="22262B"/>
                </a:solidFill>
              </a:rPr>
              <a:t>lenteur</a:t>
            </a:r>
            <a:r>
              <a:rPr sz="1600" dirty="0">
                <a:solidFill>
                  <a:srgbClr val="22262B"/>
                </a:solidFill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</a:rPr>
              <a:t>5. L'écosystème &amp; les outils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Le paysage des outils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55080" y="1572768"/>
            <a:ext cx="5166360" cy="822960"/>
          </a:xfrm>
          <a:prstGeom prst="roundRect">
            <a:avLst/>
          </a:prstGeom>
          <a:solidFill>
            <a:srgbClr val="E7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55080" y="1572768"/>
            <a:ext cx="82296" cy="82296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6248" y="1691860"/>
            <a:ext cx="48463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Mêmes</a:t>
            </a:r>
            <a:r>
              <a:rPr sz="1600" dirty="0">
                <a:solidFill>
                  <a:srgbClr val="22262B"/>
                </a:solidFill>
              </a:rPr>
              <a:t> concepts, deux syntaxes. On </a:t>
            </a:r>
            <a:r>
              <a:rPr sz="1600" dirty="0" err="1">
                <a:solidFill>
                  <a:srgbClr val="22262B"/>
                </a:solidFill>
              </a:rPr>
              <a:t>apprend</a:t>
            </a:r>
            <a:r>
              <a:rPr sz="1600" dirty="0">
                <a:solidFill>
                  <a:srgbClr val="22262B"/>
                </a:solidFill>
              </a:rPr>
              <a:t> les deux pour </a:t>
            </a:r>
            <a:r>
              <a:rPr sz="1600" dirty="0" err="1">
                <a:solidFill>
                  <a:srgbClr val="22262B"/>
                </a:solidFill>
              </a:rPr>
              <a:t>être</a:t>
            </a:r>
            <a:r>
              <a:rPr sz="1600" dirty="0">
                <a:solidFill>
                  <a:srgbClr val="22262B"/>
                </a:solidFill>
              </a:rPr>
              <a:t> polyvalent.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81328"/>
          <a:ext cx="5166360" cy="2694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3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Outil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</a:rPr>
                        <a:t>Rôle principal</a:t>
                      </a:r>
                    </a:p>
                  </a:txBody>
                  <a:tcPr marL="101600" marR="76200" marT="25400" marB="25400" anchor="ctr">
                    <a:solidFill>
                      <a:srgbClr val="14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Python / NumPy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langage et calcul matriciel de base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PyTorch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DL « pythonique », roi de la recherche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TensorFlow / Keras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DL pour la production et la pédagogie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Google Colab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notebooks avec GPU gratuit</a:t>
                      </a:r>
                    </a:p>
                  </a:txBody>
                  <a:tcPr marL="101600" marR="762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scikit-learn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2262B"/>
                          </a:solidFill>
                        </a:rPr>
                        <a:t>métriques, split, ML classique</a:t>
                      </a:r>
                    </a:p>
                  </a:txBody>
                  <a:tcPr marL="101600" marR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PyTorch vs Keras (même réseau)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Keras privilégie la concision, PyTorch l'explicite (on écrit la boucle).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9424"/>
            <a:ext cx="10698480" cy="1298448"/>
          </a:xfrm>
          <a:prstGeom prst="round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39572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97280" y="2395728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98448" y="2395728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1033271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8696B0"/>
                </a:solidFill>
                <a:latin typeface="Consolas"/>
              </a:rPr>
              <a:t># Keras — déclaratif et concis</a:t>
            </a:r>
          </a:p>
          <a:p>
            <a:r>
              <a:rPr sz="1350">
                <a:solidFill>
                  <a:srgbClr val="E6ECF5"/>
                </a:solidFill>
                <a:latin typeface="Consolas"/>
              </a:rPr>
              <a:t>model = keras.Sequential([...])</a:t>
            </a:r>
          </a:p>
          <a:p>
            <a:r>
              <a:rPr sz="1350">
                <a:solidFill>
                  <a:srgbClr val="E6ECF5"/>
                </a:solidFill>
                <a:latin typeface="Consolas"/>
              </a:rPr>
              <a:t>model.compile(optimizer="adam", loss="...")</a:t>
            </a:r>
          </a:p>
          <a:p>
            <a:r>
              <a:rPr sz="1350">
                <a:solidFill>
                  <a:srgbClr val="E6ECF5"/>
                </a:solidFill>
                <a:latin typeface="Consolas"/>
              </a:rPr>
              <a:t>model.fit(x, y, epochs=5)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12464"/>
            <a:ext cx="10698480" cy="1810512"/>
          </a:xfrm>
          <a:prstGeom prst="roundRect">
            <a:avLst/>
          </a:prstGeom>
          <a:solidFill>
            <a:srgbClr val="1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" y="3858768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7280" y="3858768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98448" y="3858768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78224"/>
            <a:ext cx="10332719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8696B0"/>
                </a:solidFill>
                <a:latin typeface="Consolas"/>
              </a:rPr>
              <a:t># PyTorch — boucle d'entraînement explicite</a:t>
            </a:r>
          </a:p>
          <a:p>
            <a:r>
              <a:rPr sz="1350">
                <a:solidFill>
                  <a:srgbClr val="E6ECF5"/>
                </a:solidFill>
                <a:latin typeface="Consolas"/>
              </a:rPr>
              <a:t>for x, y in loader:</a:t>
            </a:r>
          </a:p>
          <a:p>
            <a:r>
              <a:rPr sz="1350">
                <a:solidFill>
                  <a:srgbClr val="E6ECF5"/>
                </a:solidFill>
                <a:latin typeface="Consolas"/>
              </a:rPr>
              <a:t>    pred = model(x)</a:t>
            </a:r>
          </a:p>
          <a:p>
            <a:r>
              <a:rPr sz="1350">
                <a:solidFill>
                  <a:srgbClr val="E6ECF5"/>
                </a:solidFill>
                <a:latin typeface="Consolas"/>
              </a:rPr>
              <a:t>    loss = criterion(pred, y)</a:t>
            </a:r>
          </a:p>
          <a:p>
            <a:r>
              <a:rPr sz="1350">
                <a:solidFill>
                  <a:srgbClr val="E6ECF5"/>
                </a:solidFill>
                <a:latin typeface="Consolas"/>
              </a:rPr>
              <a:t>    loss.backward()</a:t>
            </a:r>
          </a:p>
          <a:p>
            <a:r>
              <a:rPr sz="1350">
                <a:solidFill>
                  <a:srgbClr val="E6ECF5"/>
                </a:solidFill>
                <a:latin typeface="Consolas"/>
              </a:rPr>
              <a:t>    optimizer.step(); optimizer.zero_grad()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</a:rPr>
              <a:t>6. TP — Reconnaissance de chiffres (MNIST)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MNIST en bref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70 000 images 28×28 en niveaux de gris, chiffres 0 à 9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60 000 pour l'entraînement, 10 000 pour le test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Le « Hello World » du Deep Learning : petit, propre, idéal pour démarrer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28416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Image 28×28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784 pixels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3643884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02152" y="3328416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Aplatissement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vecteur 784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3643884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72783" y="3328416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MLP 128→64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ReLU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95943" y="3643884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43415" y="3328416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Softmax 10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probabilités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27448"/>
            <a:ext cx="10881360" cy="512064"/>
          </a:xfrm>
          <a:prstGeom prst="roundRect">
            <a:avLst/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4727448"/>
            <a:ext cx="82296" cy="512064"/>
          </a:xfrm>
          <a:prstGeom prst="rect">
            <a:avLst/>
          </a:prstGeom>
          <a:solidFill>
            <a:srgbClr val="2E9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4814203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Objectif : </a:t>
            </a:r>
            <a:r>
              <a:rPr sz="1600" dirty="0" err="1">
                <a:solidFill>
                  <a:srgbClr val="22262B"/>
                </a:solidFill>
              </a:rPr>
              <a:t>atteindre</a:t>
            </a:r>
            <a:r>
              <a:rPr sz="1600" dirty="0">
                <a:solidFill>
                  <a:srgbClr val="22262B"/>
                </a:solidFill>
              </a:rPr>
              <a:t> ~97–98 % </a:t>
            </a:r>
            <a:r>
              <a:rPr sz="1600" dirty="0" err="1">
                <a:solidFill>
                  <a:srgbClr val="22262B"/>
                </a:solidFill>
              </a:rPr>
              <a:t>d'accuracy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en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quelques</a:t>
            </a:r>
            <a:r>
              <a:rPr sz="1600" dirty="0">
                <a:solidFill>
                  <a:srgbClr val="22262B"/>
                </a:solidFill>
              </a:rPr>
              <a:t>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42A5C"/>
                </a:solidFill>
              </a:rPr>
              <a:t>Le pipeline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22262B"/>
                </a:solidFill>
              </a:rPr>
              <a:t>Ce pipeline en 7 étapes revient à chaque session du module.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4086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Charger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dataset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4680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02152" y="234086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Prétraiter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normaliser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25312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72783" y="234086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Modèle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définir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95943" y="26563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43415" y="2340864"/>
            <a:ext cx="2386584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Compiler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perte + opt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61888" y="3264408"/>
            <a:ext cx="237744" cy="393192"/>
          </a:xfrm>
          <a:prstGeom prst="down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3712464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Entraîner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fit / loop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78224" y="40279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25696" y="3712464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Évaluer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test set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72399" y="4027932"/>
            <a:ext cx="310896" cy="237744"/>
          </a:xfrm>
          <a:prstGeom prst="rightArrow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19871" y="3712464"/>
            <a:ext cx="3310127" cy="868680"/>
          </a:xfrm>
          <a:prstGeom prst="roundRect">
            <a:avLst/>
          </a:prstGeom>
          <a:solidFill>
            <a:srgbClr val="E7EFFA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/>
            <a:r>
              <a:rPr sz="1500" b="1">
                <a:solidFill>
                  <a:srgbClr val="142A5C"/>
                </a:solidFill>
              </a:rPr>
              <a:t>Analyser</a:t>
            </a:r>
          </a:p>
          <a:p>
            <a:pPr algn="ctr"/>
            <a:r>
              <a:rPr sz="1100">
                <a:solidFill>
                  <a:srgbClr val="5B636E"/>
                </a:solidFill>
              </a:rPr>
              <a:t>erreurs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0096"/>
            <a:ext cx="10881360" cy="822960"/>
          </a:xfrm>
          <a:prstGeom prst="roundRect">
            <a:avLst/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5340096"/>
            <a:ext cx="82296" cy="822960"/>
          </a:xfrm>
          <a:prstGeom prst="rect">
            <a:avLst/>
          </a:prstGeom>
          <a:solidFill>
            <a:srgbClr val="7A5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5582299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>
                <a:solidFill>
                  <a:srgbClr val="22262B"/>
                </a:solidFill>
              </a:rPr>
              <a:t> </a:t>
            </a:r>
            <a:r>
              <a:rPr lang="fr-FR" sz="1600" dirty="0">
                <a:solidFill>
                  <a:srgbClr val="22262B"/>
                </a:solidFill>
              </a:rPr>
              <a:t>Next &gt;</a:t>
            </a:r>
            <a:r>
              <a:rPr sz="1600" dirty="0">
                <a:solidFill>
                  <a:srgbClr val="22262B"/>
                </a:solidFill>
              </a:rPr>
              <a:t> notebooks : TP01_mnist_pytorch.ipynb et TP01_mnist_keras.ipynb.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42A5C"/>
                </a:solidFill>
              </a:rPr>
              <a:t>À </a:t>
            </a:r>
            <a:r>
              <a:rPr sz="2800" b="1" dirty="0" err="1">
                <a:solidFill>
                  <a:srgbClr val="142A5C"/>
                </a:solidFill>
              </a:rPr>
              <a:t>toi</a:t>
            </a:r>
            <a:r>
              <a:rPr sz="2800" b="1" dirty="0">
                <a:solidFill>
                  <a:srgbClr val="142A5C"/>
                </a:solidFill>
              </a:rPr>
              <a:t> </a:t>
            </a:r>
            <a:r>
              <a:rPr lang="fr-FR" sz="2800" b="1" dirty="0">
                <a:solidFill>
                  <a:srgbClr val="142A5C"/>
                </a:solidFill>
              </a:rPr>
              <a:t>:</a:t>
            </a:r>
            <a:endParaRPr sz="2800" b="1" dirty="0">
              <a:solidFill>
                <a:srgbClr val="142A5C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276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 dirty="0">
                <a:solidFill>
                  <a:srgbClr val="2E6FB5"/>
                </a:solidFill>
              </a:rPr>
              <a:t>▸ </a:t>
            </a:r>
            <a:r>
              <a:rPr sz="1900" dirty="0" err="1">
                <a:solidFill>
                  <a:srgbClr val="22262B"/>
                </a:solidFill>
              </a:rPr>
              <a:t>Exécuter</a:t>
            </a:r>
            <a:r>
              <a:rPr sz="1900" dirty="0">
                <a:solidFill>
                  <a:srgbClr val="22262B"/>
                </a:solidFill>
              </a:rPr>
              <a:t> le notebook </a:t>
            </a:r>
            <a:r>
              <a:rPr sz="1900" dirty="0" err="1">
                <a:solidFill>
                  <a:srgbClr val="22262B"/>
                </a:solidFill>
              </a:rPr>
              <a:t>en</a:t>
            </a:r>
            <a:r>
              <a:rPr sz="1900" dirty="0">
                <a:solidFill>
                  <a:srgbClr val="22262B"/>
                </a:solidFill>
              </a:rPr>
              <a:t> </a:t>
            </a:r>
            <a:r>
              <a:rPr sz="1900" dirty="0" err="1">
                <a:solidFill>
                  <a:srgbClr val="22262B"/>
                </a:solidFill>
              </a:rPr>
              <a:t>Keras</a:t>
            </a:r>
            <a:r>
              <a:rPr sz="1900" dirty="0">
                <a:solidFill>
                  <a:srgbClr val="22262B"/>
                </a:solidFill>
              </a:rPr>
              <a:t>, </a:t>
            </a:r>
            <a:r>
              <a:rPr sz="1900" dirty="0" err="1">
                <a:solidFill>
                  <a:srgbClr val="22262B"/>
                </a:solidFill>
              </a:rPr>
              <a:t>puis</a:t>
            </a:r>
            <a:r>
              <a:rPr sz="1900" dirty="0">
                <a:solidFill>
                  <a:srgbClr val="22262B"/>
                </a:solidFill>
              </a:rPr>
              <a:t> </a:t>
            </a:r>
            <a:r>
              <a:rPr sz="1900" dirty="0" err="1">
                <a:solidFill>
                  <a:srgbClr val="22262B"/>
                </a:solidFill>
              </a:rPr>
              <a:t>en</a:t>
            </a:r>
            <a:r>
              <a:rPr sz="1900" dirty="0">
                <a:solidFill>
                  <a:srgbClr val="22262B"/>
                </a:solidFill>
              </a:rPr>
              <a:t> </a:t>
            </a:r>
            <a:r>
              <a:rPr sz="1900" dirty="0" err="1">
                <a:solidFill>
                  <a:srgbClr val="22262B"/>
                </a:solidFill>
              </a:rPr>
              <a:t>PyTorch</a:t>
            </a:r>
            <a:endParaRPr sz="1900" dirty="0">
              <a:solidFill>
                <a:srgbClr val="22262B"/>
              </a:solidFill>
            </a:endParaRP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2E6FB5"/>
                </a:solidFill>
              </a:rPr>
              <a:t>▸ </a:t>
            </a:r>
            <a:r>
              <a:rPr sz="1900" dirty="0" err="1">
                <a:solidFill>
                  <a:srgbClr val="22262B"/>
                </a:solidFill>
              </a:rPr>
              <a:t>Atteindre</a:t>
            </a:r>
            <a:r>
              <a:rPr sz="1900" dirty="0">
                <a:solidFill>
                  <a:srgbClr val="22262B"/>
                </a:solidFill>
              </a:rPr>
              <a:t> ≥ 97 % </a:t>
            </a:r>
            <a:r>
              <a:rPr sz="1900" dirty="0" err="1">
                <a:solidFill>
                  <a:srgbClr val="22262B"/>
                </a:solidFill>
              </a:rPr>
              <a:t>d'accuracy</a:t>
            </a:r>
            <a:r>
              <a:rPr sz="1900" dirty="0">
                <a:solidFill>
                  <a:srgbClr val="22262B"/>
                </a:solidFill>
              </a:rPr>
              <a:t> sur le jeu de test</a:t>
            </a: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2E6FB5"/>
                </a:solidFill>
              </a:rPr>
              <a:t>▸ </a:t>
            </a:r>
            <a:r>
              <a:rPr sz="1900" dirty="0" err="1">
                <a:solidFill>
                  <a:srgbClr val="22262B"/>
                </a:solidFill>
              </a:rPr>
              <a:t>Afficher</a:t>
            </a:r>
            <a:r>
              <a:rPr sz="1900" dirty="0">
                <a:solidFill>
                  <a:srgbClr val="22262B"/>
                </a:solidFill>
              </a:rPr>
              <a:t> et lire la </a:t>
            </a:r>
            <a:r>
              <a:rPr sz="1900" dirty="0" err="1">
                <a:solidFill>
                  <a:srgbClr val="22262B"/>
                </a:solidFill>
              </a:rPr>
              <a:t>matrice</a:t>
            </a:r>
            <a:r>
              <a:rPr sz="1900" dirty="0">
                <a:solidFill>
                  <a:srgbClr val="22262B"/>
                </a:solidFill>
              </a:rPr>
              <a:t> de confusion (</a:t>
            </a:r>
            <a:r>
              <a:rPr sz="1900" dirty="0" err="1">
                <a:solidFill>
                  <a:srgbClr val="22262B"/>
                </a:solidFill>
              </a:rPr>
              <a:t>quels</a:t>
            </a:r>
            <a:r>
              <a:rPr sz="1900" dirty="0">
                <a:solidFill>
                  <a:srgbClr val="22262B"/>
                </a:solidFill>
              </a:rPr>
              <a:t> chiffres se </a:t>
            </a:r>
            <a:r>
              <a:rPr sz="1900" dirty="0" err="1">
                <a:solidFill>
                  <a:srgbClr val="22262B"/>
                </a:solidFill>
              </a:rPr>
              <a:t>confondent</a:t>
            </a:r>
            <a:r>
              <a:rPr sz="1900" dirty="0">
                <a:solidFill>
                  <a:srgbClr val="22262B"/>
                </a:solidFill>
              </a:rPr>
              <a:t> ?)</a:t>
            </a:r>
          </a:p>
          <a:p>
            <a:pPr>
              <a:spcAft>
                <a:spcPts val="500"/>
              </a:spcAft>
            </a:pPr>
            <a:r>
              <a:rPr sz="1900" b="1" dirty="0">
                <a:solidFill>
                  <a:srgbClr val="2E6FB5"/>
                </a:solidFill>
              </a:rPr>
              <a:t>▸ </a:t>
            </a:r>
            <a:r>
              <a:rPr sz="1900" dirty="0">
                <a:solidFill>
                  <a:srgbClr val="22262B"/>
                </a:solidFill>
              </a:rPr>
              <a:t>Bonus : faire varier le </a:t>
            </a:r>
            <a:r>
              <a:rPr sz="1900" dirty="0" err="1">
                <a:solidFill>
                  <a:srgbClr val="22262B"/>
                </a:solidFill>
              </a:rPr>
              <a:t>nombre</a:t>
            </a:r>
            <a:r>
              <a:rPr sz="1900" dirty="0">
                <a:solidFill>
                  <a:srgbClr val="22262B"/>
                </a:solidFill>
              </a:rPr>
              <a:t> de </a:t>
            </a:r>
            <a:r>
              <a:rPr sz="1900" dirty="0" err="1">
                <a:solidFill>
                  <a:srgbClr val="22262B"/>
                </a:solidFill>
              </a:rPr>
              <a:t>neurones</a:t>
            </a:r>
            <a:r>
              <a:rPr sz="1900" dirty="0">
                <a:solidFill>
                  <a:srgbClr val="22262B"/>
                </a:solidFill>
              </a:rPr>
              <a:t> / </a:t>
            </a:r>
            <a:r>
              <a:rPr sz="1900" dirty="0" err="1">
                <a:solidFill>
                  <a:srgbClr val="22262B"/>
                </a:solidFill>
              </a:rPr>
              <a:t>d'époques</a:t>
            </a:r>
            <a:r>
              <a:rPr sz="1900" dirty="0">
                <a:solidFill>
                  <a:srgbClr val="22262B"/>
                </a:solidFill>
              </a:rPr>
              <a:t> et observer </a:t>
            </a:r>
            <a:r>
              <a:rPr sz="1900" dirty="0" err="1">
                <a:solidFill>
                  <a:srgbClr val="22262B"/>
                </a:solidFill>
              </a:rPr>
              <a:t>l'effet</a:t>
            </a:r>
            <a:endParaRPr sz="1900" dirty="0">
              <a:solidFill>
                <a:srgbClr val="22262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3511296"/>
            <a:ext cx="10881360" cy="822960"/>
          </a:xfrm>
          <a:prstGeom prst="roundRect">
            <a:avLst/>
          </a:prstGeom>
          <a:solidFill>
            <a:srgbClr val="E7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3511296"/>
            <a:ext cx="82296" cy="82296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3753499"/>
            <a:ext cx="10561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dirty="0" err="1">
                <a:solidFill>
                  <a:srgbClr val="22262B"/>
                </a:solidFill>
              </a:rPr>
              <a:t>Notez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vos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résultats</a:t>
            </a:r>
            <a:r>
              <a:rPr sz="1600" dirty="0">
                <a:solidFill>
                  <a:srgbClr val="22262B"/>
                </a:solidFill>
              </a:rPr>
              <a:t> : </a:t>
            </a:r>
            <a:r>
              <a:rPr sz="1600" dirty="0" err="1">
                <a:solidFill>
                  <a:srgbClr val="22262B"/>
                </a:solidFill>
              </a:rPr>
              <a:t>ils</a:t>
            </a:r>
            <a:r>
              <a:rPr sz="1600" dirty="0">
                <a:solidFill>
                  <a:srgbClr val="22262B"/>
                </a:solidFill>
              </a:rPr>
              <a:t> </a:t>
            </a:r>
            <a:r>
              <a:rPr sz="1600" dirty="0" err="1">
                <a:solidFill>
                  <a:srgbClr val="22262B"/>
                </a:solidFill>
              </a:rPr>
              <a:t>serviront</a:t>
            </a:r>
            <a:r>
              <a:rPr sz="1600" dirty="0">
                <a:solidFill>
                  <a:srgbClr val="22262B"/>
                </a:solidFill>
              </a:rPr>
              <a:t> de </a:t>
            </a:r>
            <a:r>
              <a:rPr sz="1600" dirty="0" err="1">
                <a:solidFill>
                  <a:srgbClr val="22262B"/>
                </a:solidFill>
              </a:rPr>
              <a:t>référence</a:t>
            </a:r>
            <a:r>
              <a:rPr sz="1600" dirty="0">
                <a:solidFill>
                  <a:srgbClr val="22262B"/>
                </a:solidFill>
              </a:rPr>
              <a:t> pour comparer les sessions </a:t>
            </a:r>
            <a:r>
              <a:rPr sz="1600" dirty="0" err="1">
                <a:solidFill>
                  <a:srgbClr val="22262B"/>
                </a:solidFill>
              </a:rPr>
              <a:t>suivantes</a:t>
            </a:r>
            <a:r>
              <a:rPr sz="1600" dirty="0">
                <a:solidFill>
                  <a:srgbClr val="22262B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</a:rPr>
              <a:t>Débrief &amp; ouverture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457200"/>
            <a:ext cx="146304" cy="566928"/>
          </a:xfrm>
          <a:prstGeom prst="round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42A5C"/>
                </a:solidFill>
              </a:rPr>
              <a:t>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98448"/>
            <a:ext cx="1828800" cy="32004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4081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Le DL = réseaux profonds qui apprennent les représentations depuis les données brutes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Un neurone = φ(wᵀx + b) ; la non-linéarité fait toute la puissance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Entraîner = forward → perte → backward → update, répété sur mini-batches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Frameworks : mêmes concepts, PyTorch &amp; Keras</a:t>
            </a:r>
          </a:p>
          <a:p>
            <a:pPr>
              <a:spcAft>
                <a:spcPts val="500"/>
              </a:spcAft>
            </a:pPr>
            <a:r>
              <a:rPr sz="1900" b="1">
                <a:solidFill>
                  <a:srgbClr val="2E6FB5"/>
                </a:solidFill>
              </a:rPr>
              <a:t>▸ </a:t>
            </a:r>
            <a:r>
              <a:rPr sz="1900">
                <a:solidFill>
                  <a:srgbClr val="22262B"/>
                </a:solidFill>
              </a:rPr>
              <a:t>MNIST établit le pipeline DL réutilisé tout le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42231"/>
            <a:ext cx="10881360" cy="822960"/>
          </a:xfrm>
          <a:prstGeom prst="roundRect">
            <a:avLst/>
          </a:prstGeom>
          <a:solidFill>
            <a:srgbClr val="E7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4142231"/>
            <a:ext cx="82296" cy="82296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4142231"/>
            <a:ext cx="10561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22262B"/>
                </a:solidFill>
              </a:rPr>
              <a:t>➡️ Prochaine session : réseaux avancés — activations modernes, dropout, batch norm, optimiseurs et réglage des hyperparamètres.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444512"/>
            <a:ext cx="9601200" cy="20518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/>
            <a:r>
              <a:rPr sz="1000" b="0" i="0" dirty="0">
                <a:solidFill>
                  <a:srgbClr val="9AA1AB"/>
                </a:solidFill>
              </a:rPr>
              <a:t> · Session 1 —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29260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r"/>
            <a:r>
              <a:rPr sz="1000" b="0" i="0">
                <a:solidFill>
                  <a:srgbClr val="9AA1A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gradFill>
            <a:gsLst>
              <a:gs pos="0">
                <a:srgbClr val="122452"/>
              </a:gs>
              <a:gs pos="100000">
                <a:srgbClr val="24498F"/>
              </a:gs>
            </a:gsLst>
            <a:lin ang="18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910463"/>
            <a:ext cx="10058400" cy="11285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</a:rPr>
              <a:t>Questions ?</a:t>
            </a:r>
          </a:p>
          <a:p>
            <a:pPr algn="l">
              <a:spcAft>
                <a:spcPts val="600"/>
              </a:spcAft>
            </a:pPr>
            <a:r>
              <a:rPr sz="1800" b="0" i="0" dirty="0">
                <a:solidFill>
                  <a:srgbClr val="DDE6F5"/>
                </a:solidFill>
              </a:rPr>
              <a:t>Merci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2179</TotalTime>
  <Words>1561</Words>
  <Application>Microsoft Office PowerPoint</Application>
  <PresentationFormat>Grand écran</PresentationFormat>
  <Paragraphs>278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Babacar Gueye</cp:lastModifiedBy>
  <cp:revision>7</cp:revision>
  <dcterms:created xsi:type="dcterms:W3CDTF">2013-01-27T09:14:16Z</dcterms:created>
  <dcterms:modified xsi:type="dcterms:W3CDTF">2026-06-29T09:19:50Z</dcterms:modified>
  <cp:category/>
</cp:coreProperties>
</file>